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1.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6" r:id="rId20"/>
    <p:sldId id="277" r:id="rId21"/>
    <p:sldId id="278" r:id="rId22"/>
    <p:sldId id="279" r:id="rId23"/>
    <p:sldId id="282" r:id="rId24"/>
    <p:sldId id="281" r:id="rId25"/>
    <p:sldId id="280" r:id="rId26"/>
    <p:sldId id="283" r:id="rId27"/>
    <p:sldId id="285" r:id="rId28"/>
    <p:sldId id="284" r:id="rId29"/>
    <p:sldId id="286" r:id="rId30"/>
    <p:sldId id="287" r:id="rId31"/>
    <p:sldId id="288" r:id="rId32"/>
    <p:sldId id="289" r:id="rId33"/>
    <p:sldId id="290" r:id="rId34"/>
    <p:sldId id="291" r:id="rId35"/>
    <p:sldId id="292" r:id="rId36"/>
    <p:sldId id="293" r:id="rId37"/>
    <p:sldId id="295" r:id="rId38"/>
    <p:sldId id="296" r:id="rId39"/>
    <p:sldId id="298" r:id="rId40"/>
    <p:sldId id="299" r:id="rId41"/>
    <p:sldId id="297" r:id="rId42"/>
    <p:sldId id="300" r:id="rId43"/>
    <p:sldId id="302" r:id="rId44"/>
    <p:sldId id="303" r:id="rId45"/>
    <p:sldId id="304" r:id="rId46"/>
    <p:sldId id="305" r:id="rId47"/>
    <p:sldId id="306" r:id="rId48"/>
    <p:sldId id="259" r:id="rId49"/>
    <p:sldId id="275" r:id="rId50"/>
    <p:sldId id="301" r:id="rId51"/>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CBBBDD-84FD-3F8D-452F-EFAB3059DC3A}" v="212" dt="2025-03-30T20:47:24.859"/>
    <p1510:client id="{5FA85D71-C028-375E-8697-F3D6F1966B2F}" v="837" dt="2025-03-29T18:22:43.668"/>
    <p1510:client id="{72D447F8-BF5C-485B-79EA-D4C893388E6A}" v="673" dt="2025-03-29T22:06:48.017"/>
    <p1510:client id="{DFF5E19C-B825-4E17-F90D-DA7D301FBC6B}" v="360" dt="2025-03-30T17:52:38.4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61" d="100"/>
          <a:sy n="61" d="100"/>
        </p:scale>
        <p:origin x="84"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8" Type="http://schemas.openxmlformats.org/officeDocument/2006/relationships/customXml" Target="../customXml/item2.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customXml" Target="../customXml/item3.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ustomXml" Target="../customXml/item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p:cNvSpPr>
            <a:spLocks noGrp="1"/>
          </p:cNvSpPr>
          <p:nvPr>
            <p:ph type="ctrTitle"/>
          </p:nvPr>
        </p:nvSpPr>
        <p:spPr>
          <a:xfrm>
            <a:off x="1524000" y="1122363"/>
            <a:ext cx="9144000" cy="2387600"/>
          </a:xfrm>
        </p:spPr>
        <p:txBody>
          <a:bodyPr anchor="b"/>
          <a:lstStyle>
            <a:lvl1pPr algn="ctr">
              <a:defRPr sz="6000"/>
            </a:lvl1pPr>
          </a:lstStyle>
          <a:p>
            <a:r>
              <a:rPr lang="pl-PL"/>
              <a:t>Kliknij, aby edytować styl</a:t>
            </a:r>
          </a:p>
        </p:txBody>
      </p:sp>
      <p:sp>
        <p:nvSpPr>
          <p:cNvPr id="3" name="Podtytuł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a:t>Kliknij, aby edytować styl wzorca podtytułu</a:t>
            </a:r>
          </a:p>
        </p:txBody>
      </p:sp>
      <p:sp>
        <p:nvSpPr>
          <p:cNvPr id="4" name="Symbol zastępczy daty 3"/>
          <p:cNvSpPr>
            <a:spLocks noGrp="1"/>
          </p:cNvSpPr>
          <p:nvPr>
            <p:ph type="dt" sz="half" idx="10"/>
          </p:nvPr>
        </p:nvSpPr>
        <p:spPr/>
        <p:txBody>
          <a:bodyPr/>
          <a:lstStyle/>
          <a:p>
            <a:fld id="{F98AA868-8872-43E4-8C98-D34DABD1FD38}" type="datetimeFigureOut">
              <a:rPr lang="pl-PL" smtClean="0"/>
              <a:t>30.03.2025</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C77C6C3F-668B-4AF5-BFA9-0F657EB068D6}" type="slidenum">
              <a:rPr lang="pl-PL" smtClean="0"/>
              <a:t>‹#›</a:t>
            </a:fld>
            <a:endParaRPr lang="pl-PL"/>
          </a:p>
        </p:txBody>
      </p:sp>
    </p:spTree>
    <p:extLst>
      <p:ext uri="{BB962C8B-B14F-4D97-AF65-F5344CB8AC3E}">
        <p14:creationId xmlns:p14="http://schemas.microsoft.com/office/powerpoint/2010/main" val="33917574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F98AA868-8872-43E4-8C98-D34DABD1FD38}" type="datetimeFigureOut">
              <a:rPr lang="pl-PL" smtClean="0"/>
              <a:t>30.03.2025</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C77C6C3F-668B-4AF5-BFA9-0F657EB068D6}" type="slidenum">
              <a:rPr lang="pl-PL" smtClean="0"/>
              <a:t>‹#›</a:t>
            </a:fld>
            <a:endParaRPr lang="pl-PL"/>
          </a:p>
        </p:txBody>
      </p:sp>
    </p:spTree>
    <p:extLst>
      <p:ext uri="{BB962C8B-B14F-4D97-AF65-F5344CB8AC3E}">
        <p14:creationId xmlns:p14="http://schemas.microsoft.com/office/powerpoint/2010/main" val="967380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p:cNvSpPr>
            <a:spLocks noGrp="1"/>
          </p:cNvSpPr>
          <p:nvPr>
            <p:ph type="title"/>
          </p:nvPr>
        </p:nvSpPr>
        <p:spPr>
          <a:xfrm>
            <a:off x="831850" y="1709738"/>
            <a:ext cx="10515600" cy="2852737"/>
          </a:xfrm>
        </p:spPr>
        <p:txBody>
          <a:bodyPr anchor="b"/>
          <a:lstStyle>
            <a:lvl1pPr>
              <a:defRPr sz="6000"/>
            </a:lvl1pPr>
          </a:lstStyle>
          <a:p>
            <a:r>
              <a:rPr lang="pl-PL"/>
              <a:t>Kliknij, aby edytować styl</a:t>
            </a:r>
          </a:p>
        </p:txBody>
      </p:sp>
      <p:sp>
        <p:nvSpPr>
          <p:cNvPr id="3" name="Symbol zastępczy tekstu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l-PL"/>
              <a:t>Kliknij, aby edytować style wzorca tekstu</a:t>
            </a:r>
          </a:p>
        </p:txBody>
      </p:sp>
      <p:sp>
        <p:nvSpPr>
          <p:cNvPr id="4" name="Symbol zastępczy daty 3"/>
          <p:cNvSpPr>
            <a:spLocks noGrp="1"/>
          </p:cNvSpPr>
          <p:nvPr>
            <p:ph type="dt" sz="half" idx="10"/>
          </p:nvPr>
        </p:nvSpPr>
        <p:spPr/>
        <p:txBody>
          <a:bodyPr/>
          <a:lstStyle/>
          <a:p>
            <a:fld id="{F98AA868-8872-43E4-8C98-D34DABD1FD38}" type="datetimeFigureOut">
              <a:rPr lang="pl-PL" smtClean="0"/>
              <a:t>30.03.2025</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C77C6C3F-668B-4AF5-BFA9-0F657EB068D6}" type="slidenum">
              <a:rPr lang="pl-PL" smtClean="0"/>
              <a:t>‹#›</a:t>
            </a:fld>
            <a:endParaRPr lang="pl-PL"/>
          </a:p>
        </p:txBody>
      </p:sp>
    </p:spTree>
    <p:extLst>
      <p:ext uri="{BB962C8B-B14F-4D97-AF65-F5344CB8AC3E}">
        <p14:creationId xmlns:p14="http://schemas.microsoft.com/office/powerpoint/2010/main" val="13234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sz="half" idx="1"/>
          </p:nvPr>
        </p:nvSpPr>
        <p:spPr>
          <a:xfrm>
            <a:off x="838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p:cNvSpPr>
            <a:spLocks noGrp="1"/>
          </p:cNvSpPr>
          <p:nvPr>
            <p:ph sz="half" idx="2"/>
          </p:nvPr>
        </p:nvSpPr>
        <p:spPr>
          <a:xfrm>
            <a:off x="6172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p:cNvSpPr>
            <a:spLocks noGrp="1"/>
          </p:cNvSpPr>
          <p:nvPr>
            <p:ph type="dt" sz="half" idx="10"/>
          </p:nvPr>
        </p:nvSpPr>
        <p:spPr/>
        <p:txBody>
          <a:bodyPr/>
          <a:lstStyle/>
          <a:p>
            <a:fld id="{F98AA868-8872-43E4-8C98-D34DABD1FD38}" type="datetimeFigureOut">
              <a:rPr lang="pl-PL" smtClean="0"/>
              <a:t>30.03.2025</a:t>
            </a:fld>
            <a:endParaRPr lang="pl-PL"/>
          </a:p>
        </p:txBody>
      </p:sp>
      <p:sp>
        <p:nvSpPr>
          <p:cNvPr id="6" name="Symbol zastępczy stopki 5"/>
          <p:cNvSpPr>
            <a:spLocks noGrp="1"/>
          </p:cNvSpPr>
          <p:nvPr>
            <p:ph type="ftr" sz="quarter" idx="11"/>
          </p:nvPr>
        </p:nvSpPr>
        <p:spPr/>
        <p:txBody>
          <a:bodyPr/>
          <a:lstStyle/>
          <a:p>
            <a:endParaRPr lang="pl-PL"/>
          </a:p>
        </p:txBody>
      </p:sp>
      <p:sp>
        <p:nvSpPr>
          <p:cNvPr id="7" name="Symbol zastępczy numeru slajdu 6"/>
          <p:cNvSpPr>
            <a:spLocks noGrp="1"/>
          </p:cNvSpPr>
          <p:nvPr>
            <p:ph type="sldNum" sz="quarter" idx="12"/>
          </p:nvPr>
        </p:nvSpPr>
        <p:spPr/>
        <p:txBody>
          <a:bodyPr/>
          <a:lstStyle/>
          <a:p>
            <a:fld id="{C77C6C3F-668B-4AF5-BFA9-0F657EB068D6}" type="slidenum">
              <a:rPr lang="pl-PL" smtClean="0"/>
              <a:t>‹#›</a:t>
            </a:fld>
            <a:endParaRPr lang="pl-PL"/>
          </a:p>
        </p:txBody>
      </p:sp>
    </p:spTree>
    <p:extLst>
      <p:ext uri="{BB962C8B-B14F-4D97-AF65-F5344CB8AC3E}">
        <p14:creationId xmlns:p14="http://schemas.microsoft.com/office/powerpoint/2010/main" val="3883036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p:cNvSpPr>
            <a:spLocks noGrp="1"/>
          </p:cNvSpPr>
          <p:nvPr>
            <p:ph type="title"/>
          </p:nvPr>
        </p:nvSpPr>
        <p:spPr>
          <a:xfrm>
            <a:off x="839788" y="365125"/>
            <a:ext cx="10515600" cy="1325563"/>
          </a:xfrm>
        </p:spPr>
        <p:txBody>
          <a:bodyPr/>
          <a:lstStyle/>
          <a:p>
            <a:r>
              <a:rPr lang="pl-PL"/>
              <a:t>Kliknij, aby edytować styl</a:t>
            </a:r>
          </a:p>
        </p:txBody>
      </p:sp>
      <p:sp>
        <p:nvSpPr>
          <p:cNvPr id="3" name="Symbol zastępczy tekstu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p:cNvSpPr>
            <a:spLocks noGrp="1"/>
          </p:cNvSpPr>
          <p:nvPr>
            <p:ph sz="half" idx="2"/>
          </p:nvPr>
        </p:nvSpPr>
        <p:spPr>
          <a:xfrm>
            <a:off x="839788" y="2505075"/>
            <a:ext cx="5157787"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p:cNvSpPr>
            <a:spLocks noGrp="1"/>
          </p:cNvSpPr>
          <p:nvPr>
            <p:ph sz="quarter" idx="4"/>
          </p:nvPr>
        </p:nvSpPr>
        <p:spPr>
          <a:xfrm>
            <a:off x="6172200" y="2505075"/>
            <a:ext cx="5183188"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p:cNvSpPr>
            <a:spLocks noGrp="1"/>
          </p:cNvSpPr>
          <p:nvPr>
            <p:ph type="dt" sz="half" idx="10"/>
          </p:nvPr>
        </p:nvSpPr>
        <p:spPr/>
        <p:txBody>
          <a:bodyPr/>
          <a:lstStyle/>
          <a:p>
            <a:fld id="{F98AA868-8872-43E4-8C98-D34DABD1FD38}" type="datetimeFigureOut">
              <a:rPr lang="pl-PL" smtClean="0"/>
              <a:t>30.03.2025</a:t>
            </a:fld>
            <a:endParaRPr lang="pl-PL"/>
          </a:p>
        </p:txBody>
      </p:sp>
      <p:sp>
        <p:nvSpPr>
          <p:cNvPr id="8" name="Symbol zastępczy stopki 7"/>
          <p:cNvSpPr>
            <a:spLocks noGrp="1"/>
          </p:cNvSpPr>
          <p:nvPr>
            <p:ph type="ftr" sz="quarter" idx="11"/>
          </p:nvPr>
        </p:nvSpPr>
        <p:spPr/>
        <p:txBody>
          <a:bodyPr/>
          <a:lstStyle/>
          <a:p>
            <a:endParaRPr lang="pl-PL"/>
          </a:p>
        </p:txBody>
      </p:sp>
      <p:sp>
        <p:nvSpPr>
          <p:cNvPr id="9" name="Symbol zastępczy numeru slajdu 8"/>
          <p:cNvSpPr>
            <a:spLocks noGrp="1"/>
          </p:cNvSpPr>
          <p:nvPr>
            <p:ph type="sldNum" sz="quarter" idx="12"/>
          </p:nvPr>
        </p:nvSpPr>
        <p:spPr/>
        <p:txBody>
          <a:bodyPr/>
          <a:lstStyle/>
          <a:p>
            <a:fld id="{C77C6C3F-668B-4AF5-BFA9-0F657EB068D6}" type="slidenum">
              <a:rPr lang="pl-PL" smtClean="0"/>
              <a:t>‹#›</a:t>
            </a:fld>
            <a:endParaRPr lang="pl-PL"/>
          </a:p>
        </p:txBody>
      </p:sp>
    </p:spTree>
    <p:extLst>
      <p:ext uri="{BB962C8B-B14F-4D97-AF65-F5344CB8AC3E}">
        <p14:creationId xmlns:p14="http://schemas.microsoft.com/office/powerpoint/2010/main" val="9618082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daty 2"/>
          <p:cNvSpPr>
            <a:spLocks noGrp="1"/>
          </p:cNvSpPr>
          <p:nvPr>
            <p:ph type="dt" sz="half" idx="10"/>
          </p:nvPr>
        </p:nvSpPr>
        <p:spPr/>
        <p:txBody>
          <a:bodyPr/>
          <a:lstStyle/>
          <a:p>
            <a:fld id="{F98AA868-8872-43E4-8C98-D34DABD1FD38}" type="datetimeFigureOut">
              <a:rPr lang="pl-PL" smtClean="0"/>
              <a:t>30.03.2025</a:t>
            </a:fld>
            <a:endParaRPr lang="pl-PL"/>
          </a:p>
        </p:txBody>
      </p:sp>
      <p:sp>
        <p:nvSpPr>
          <p:cNvPr id="4" name="Symbol zastępczy stopki 3"/>
          <p:cNvSpPr>
            <a:spLocks noGrp="1"/>
          </p:cNvSpPr>
          <p:nvPr>
            <p:ph type="ftr" sz="quarter" idx="11"/>
          </p:nvPr>
        </p:nvSpPr>
        <p:spPr/>
        <p:txBody>
          <a:bodyPr/>
          <a:lstStyle/>
          <a:p>
            <a:endParaRPr lang="pl-PL"/>
          </a:p>
        </p:txBody>
      </p:sp>
      <p:sp>
        <p:nvSpPr>
          <p:cNvPr id="5" name="Symbol zastępczy numeru slajdu 4"/>
          <p:cNvSpPr>
            <a:spLocks noGrp="1"/>
          </p:cNvSpPr>
          <p:nvPr>
            <p:ph type="sldNum" sz="quarter" idx="12"/>
          </p:nvPr>
        </p:nvSpPr>
        <p:spPr/>
        <p:txBody>
          <a:bodyPr/>
          <a:lstStyle/>
          <a:p>
            <a:fld id="{C77C6C3F-668B-4AF5-BFA9-0F657EB068D6}" type="slidenum">
              <a:rPr lang="pl-PL" smtClean="0"/>
              <a:t>‹#›</a:t>
            </a:fld>
            <a:endParaRPr lang="pl-PL"/>
          </a:p>
        </p:txBody>
      </p:sp>
    </p:spTree>
    <p:extLst>
      <p:ext uri="{BB962C8B-B14F-4D97-AF65-F5344CB8AC3E}">
        <p14:creationId xmlns:p14="http://schemas.microsoft.com/office/powerpoint/2010/main" val="15447972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p:cNvSpPr>
            <a:spLocks noGrp="1"/>
          </p:cNvSpPr>
          <p:nvPr>
            <p:ph type="dt" sz="half" idx="10"/>
          </p:nvPr>
        </p:nvSpPr>
        <p:spPr/>
        <p:txBody>
          <a:bodyPr/>
          <a:lstStyle/>
          <a:p>
            <a:fld id="{F98AA868-8872-43E4-8C98-D34DABD1FD38}" type="datetimeFigureOut">
              <a:rPr lang="pl-PL" smtClean="0"/>
              <a:t>30.03.2025</a:t>
            </a:fld>
            <a:endParaRPr lang="pl-PL"/>
          </a:p>
        </p:txBody>
      </p:sp>
      <p:sp>
        <p:nvSpPr>
          <p:cNvPr id="3" name="Symbol zastępczy stopki 2"/>
          <p:cNvSpPr>
            <a:spLocks noGrp="1"/>
          </p:cNvSpPr>
          <p:nvPr>
            <p:ph type="ftr" sz="quarter" idx="11"/>
          </p:nvPr>
        </p:nvSpPr>
        <p:spPr/>
        <p:txBody>
          <a:bodyPr/>
          <a:lstStyle/>
          <a:p>
            <a:endParaRPr lang="pl-PL"/>
          </a:p>
        </p:txBody>
      </p:sp>
      <p:sp>
        <p:nvSpPr>
          <p:cNvPr id="4" name="Symbol zastępczy numeru slajdu 3"/>
          <p:cNvSpPr>
            <a:spLocks noGrp="1"/>
          </p:cNvSpPr>
          <p:nvPr>
            <p:ph type="sldNum" sz="quarter" idx="12"/>
          </p:nvPr>
        </p:nvSpPr>
        <p:spPr/>
        <p:txBody>
          <a:bodyPr/>
          <a:lstStyle/>
          <a:p>
            <a:fld id="{C77C6C3F-668B-4AF5-BFA9-0F657EB068D6}" type="slidenum">
              <a:rPr lang="pl-PL" smtClean="0"/>
              <a:t>‹#›</a:t>
            </a:fld>
            <a:endParaRPr lang="pl-PL"/>
          </a:p>
        </p:txBody>
      </p:sp>
    </p:spTree>
    <p:extLst>
      <p:ext uri="{BB962C8B-B14F-4D97-AF65-F5344CB8AC3E}">
        <p14:creationId xmlns:p14="http://schemas.microsoft.com/office/powerpoint/2010/main" val="1850839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zawartości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p:cNvSpPr>
            <a:spLocks noGrp="1"/>
          </p:cNvSpPr>
          <p:nvPr>
            <p:ph type="dt" sz="half" idx="10"/>
          </p:nvPr>
        </p:nvSpPr>
        <p:spPr/>
        <p:txBody>
          <a:bodyPr/>
          <a:lstStyle/>
          <a:p>
            <a:fld id="{F98AA868-8872-43E4-8C98-D34DABD1FD38}" type="datetimeFigureOut">
              <a:rPr lang="pl-PL" smtClean="0"/>
              <a:t>30.03.2025</a:t>
            </a:fld>
            <a:endParaRPr lang="pl-PL"/>
          </a:p>
        </p:txBody>
      </p:sp>
      <p:sp>
        <p:nvSpPr>
          <p:cNvPr id="6" name="Symbol zastępczy stopki 5"/>
          <p:cNvSpPr>
            <a:spLocks noGrp="1"/>
          </p:cNvSpPr>
          <p:nvPr>
            <p:ph type="ftr" sz="quarter" idx="11"/>
          </p:nvPr>
        </p:nvSpPr>
        <p:spPr/>
        <p:txBody>
          <a:bodyPr/>
          <a:lstStyle/>
          <a:p>
            <a:endParaRPr lang="pl-PL"/>
          </a:p>
        </p:txBody>
      </p:sp>
      <p:sp>
        <p:nvSpPr>
          <p:cNvPr id="7" name="Symbol zastępczy numeru slajdu 6"/>
          <p:cNvSpPr>
            <a:spLocks noGrp="1"/>
          </p:cNvSpPr>
          <p:nvPr>
            <p:ph type="sldNum" sz="quarter" idx="12"/>
          </p:nvPr>
        </p:nvSpPr>
        <p:spPr/>
        <p:txBody>
          <a:bodyPr/>
          <a:lstStyle/>
          <a:p>
            <a:fld id="{C77C6C3F-668B-4AF5-BFA9-0F657EB068D6}" type="slidenum">
              <a:rPr lang="pl-PL" smtClean="0"/>
              <a:t>‹#›</a:t>
            </a:fld>
            <a:endParaRPr lang="pl-PL"/>
          </a:p>
        </p:txBody>
      </p:sp>
    </p:spTree>
    <p:extLst>
      <p:ext uri="{BB962C8B-B14F-4D97-AF65-F5344CB8AC3E}">
        <p14:creationId xmlns:p14="http://schemas.microsoft.com/office/powerpoint/2010/main" val="27155304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obrazu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a:p>
        </p:txBody>
      </p:sp>
      <p:sp>
        <p:nvSpPr>
          <p:cNvPr id="4" name="Symbol zastępczy tekst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p:cNvSpPr>
            <a:spLocks noGrp="1"/>
          </p:cNvSpPr>
          <p:nvPr>
            <p:ph type="dt" sz="half" idx="10"/>
          </p:nvPr>
        </p:nvSpPr>
        <p:spPr/>
        <p:txBody>
          <a:bodyPr/>
          <a:lstStyle/>
          <a:p>
            <a:fld id="{F98AA868-8872-43E4-8C98-D34DABD1FD38}" type="datetimeFigureOut">
              <a:rPr lang="pl-PL" smtClean="0"/>
              <a:t>30.03.2025</a:t>
            </a:fld>
            <a:endParaRPr lang="pl-PL"/>
          </a:p>
        </p:txBody>
      </p:sp>
      <p:sp>
        <p:nvSpPr>
          <p:cNvPr id="6" name="Symbol zastępczy stopki 5"/>
          <p:cNvSpPr>
            <a:spLocks noGrp="1"/>
          </p:cNvSpPr>
          <p:nvPr>
            <p:ph type="ftr" sz="quarter" idx="11"/>
          </p:nvPr>
        </p:nvSpPr>
        <p:spPr/>
        <p:txBody>
          <a:bodyPr/>
          <a:lstStyle/>
          <a:p>
            <a:endParaRPr lang="pl-PL"/>
          </a:p>
        </p:txBody>
      </p:sp>
      <p:sp>
        <p:nvSpPr>
          <p:cNvPr id="7" name="Symbol zastępczy numeru slajdu 6"/>
          <p:cNvSpPr>
            <a:spLocks noGrp="1"/>
          </p:cNvSpPr>
          <p:nvPr>
            <p:ph type="sldNum" sz="quarter" idx="12"/>
          </p:nvPr>
        </p:nvSpPr>
        <p:spPr/>
        <p:txBody>
          <a:bodyPr/>
          <a:lstStyle/>
          <a:p>
            <a:fld id="{C77C6C3F-668B-4AF5-BFA9-0F657EB068D6}" type="slidenum">
              <a:rPr lang="pl-PL" smtClean="0"/>
              <a:t>‹#›</a:t>
            </a:fld>
            <a:endParaRPr lang="pl-PL"/>
          </a:p>
        </p:txBody>
      </p:sp>
    </p:spTree>
    <p:extLst>
      <p:ext uri="{BB962C8B-B14F-4D97-AF65-F5344CB8AC3E}">
        <p14:creationId xmlns:p14="http://schemas.microsoft.com/office/powerpoint/2010/main" val="3024906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tytułu pionowego 2"/>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F98AA868-8872-43E4-8C98-D34DABD1FD38}" type="datetimeFigureOut">
              <a:rPr lang="pl-PL" smtClean="0"/>
              <a:t>30.03.2025</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C77C6C3F-668B-4AF5-BFA9-0F657EB068D6}" type="slidenum">
              <a:rPr lang="pl-PL" smtClean="0"/>
              <a:t>‹#›</a:t>
            </a:fld>
            <a:endParaRPr lang="pl-PL"/>
          </a:p>
        </p:txBody>
      </p:sp>
    </p:spTree>
    <p:extLst>
      <p:ext uri="{BB962C8B-B14F-4D97-AF65-F5344CB8AC3E}">
        <p14:creationId xmlns:p14="http://schemas.microsoft.com/office/powerpoint/2010/main" val="2454508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p:cNvSpPr>
            <a:spLocks noGrp="1"/>
          </p:cNvSpPr>
          <p:nvPr>
            <p:ph type="title" orient="vert"/>
          </p:nvPr>
        </p:nvSpPr>
        <p:spPr>
          <a:xfrm>
            <a:off x="8724900" y="365125"/>
            <a:ext cx="2628900" cy="5811838"/>
          </a:xfrm>
        </p:spPr>
        <p:txBody>
          <a:bodyPr vert="eaVert"/>
          <a:lstStyle/>
          <a:p>
            <a:r>
              <a:rPr lang="pl-PL"/>
              <a:t>Kliknij, aby edytować styl</a:t>
            </a:r>
          </a:p>
        </p:txBody>
      </p:sp>
      <p:sp>
        <p:nvSpPr>
          <p:cNvPr id="3" name="Symbol zastępczy tytułu pionowego 2"/>
          <p:cNvSpPr>
            <a:spLocks noGrp="1"/>
          </p:cNvSpPr>
          <p:nvPr>
            <p:ph type="body" orient="vert" idx="1"/>
          </p:nvPr>
        </p:nvSpPr>
        <p:spPr>
          <a:xfrm>
            <a:off x="838200" y="365125"/>
            <a:ext cx="7734300" cy="5811838"/>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F98AA868-8872-43E4-8C98-D34DABD1FD38}" type="datetimeFigureOut">
              <a:rPr lang="pl-PL" smtClean="0"/>
              <a:t>30.03.2025</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C77C6C3F-668B-4AF5-BFA9-0F657EB068D6}" type="slidenum">
              <a:rPr lang="pl-PL" smtClean="0"/>
              <a:t>‹#›</a:t>
            </a:fld>
            <a:endParaRPr lang="pl-PL"/>
          </a:p>
        </p:txBody>
      </p:sp>
    </p:spTree>
    <p:extLst>
      <p:ext uri="{BB962C8B-B14F-4D97-AF65-F5344CB8AC3E}">
        <p14:creationId xmlns:p14="http://schemas.microsoft.com/office/powerpoint/2010/main" val="13403866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98AA868-8872-43E4-8C98-D34DABD1FD38}" type="datetimeFigureOut">
              <a:rPr lang="pl-PL" smtClean="0"/>
              <a:t>30.03.2025</a:t>
            </a:fld>
            <a:endParaRPr lang="pl-PL"/>
          </a:p>
        </p:txBody>
      </p:sp>
      <p:sp>
        <p:nvSpPr>
          <p:cNvPr id="5" name="Symbol zastępczy stopki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l-PL"/>
          </a:p>
        </p:txBody>
      </p:sp>
      <p:sp>
        <p:nvSpPr>
          <p:cNvPr id="6" name="Symbol zastępczy numeru slajd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77C6C3F-668B-4AF5-BFA9-0F657EB068D6}" type="slidenum">
              <a:rPr lang="pl-PL" smtClean="0"/>
              <a:t>‹#›</a:t>
            </a:fld>
            <a:endParaRPr lang="pl-PL"/>
          </a:p>
        </p:txBody>
      </p:sp>
    </p:spTree>
    <p:extLst>
      <p:ext uri="{BB962C8B-B14F-4D97-AF65-F5344CB8AC3E}">
        <p14:creationId xmlns:p14="http://schemas.microsoft.com/office/powerpoint/2010/main" val="39266336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hyperlink" Target="https://pl.wikipedia.org/wiki/Peer-to-peer" TargetMode="External"/><Relationship Id="rId3" Type="http://schemas.openxmlformats.org/officeDocument/2006/relationships/hyperlink" Target="https://zpe.gov.pl/a/rodzaje-sieci-komputerowych-ze-wzgledu-na-zasieg/D26Fh8pbt" TargetMode="External"/><Relationship Id="rId7" Type="http://schemas.openxmlformats.org/officeDocument/2006/relationships/hyperlink" Target="https://boringowl.io/blog/architektura-klient-serwer-jak-to-dziala" TargetMode="External"/><Relationship Id="rId2" Type="http://schemas.openxmlformats.org/officeDocument/2006/relationships/hyperlink" Target="https://zpe.gov.pl/a/pojecie-sieci-komputerowej/D8NJv89zZ" TargetMode="External"/><Relationship Id="rId1" Type="http://schemas.openxmlformats.org/officeDocument/2006/relationships/slideLayout" Target="../slideLayouts/slideLayout2.xml"/><Relationship Id="rId6" Type="http://schemas.openxmlformats.org/officeDocument/2006/relationships/hyperlink" Target="https://sp12.piotrkow.pl/plan/informatyka/ogolne/rodzajesieci.html" TargetMode="External"/><Relationship Id="rId5" Type="http://schemas.openxmlformats.org/officeDocument/2006/relationships/hyperlink" Target="https://pl.wikipedia.org/wiki/Klient-serwer" TargetMode="External"/><Relationship Id="rId4" Type="http://schemas.openxmlformats.org/officeDocument/2006/relationships/hyperlink" Target="https://www.zslbilgoraj.pl/wp-content/uploads/2021/02/Adresacja-IP.pdf" TargetMode="External"/></Relationships>
</file>

<file path=ppt/slides/_rels/slide49.xml.rels><?xml version="1.0" encoding="UTF-8" standalone="yes"?>
<Relationships xmlns="http://schemas.openxmlformats.org/package/2006/relationships"><Relationship Id="rId8" Type="http://schemas.openxmlformats.org/officeDocument/2006/relationships/hyperlink" Target="https://home.agh.edu.pl/~amucha/fizyka/ZIP/ZIP_12_Prad.pdf" TargetMode="External"/><Relationship Id="rId3" Type="http://schemas.openxmlformats.org/officeDocument/2006/relationships/hyperlink" Target="https://eduinf.waw.pl/inf/inet/001_lan/03.php" TargetMode="External"/><Relationship Id="rId7" Type="http://schemas.openxmlformats.org/officeDocument/2006/relationships/hyperlink" Target="https://sieci.infopl.info/sieci-lan/topologie/siatka" TargetMode="External"/><Relationship Id="rId2" Type="http://schemas.openxmlformats.org/officeDocument/2006/relationships/hyperlink" Target="https://pl.wikipedia.org/wiki/Topologia_sieci_komputerowej" TargetMode="External"/><Relationship Id="rId1" Type="http://schemas.openxmlformats.org/officeDocument/2006/relationships/slideLayout" Target="../slideLayouts/slideLayout2.xml"/><Relationship Id="rId6" Type="http://schemas.openxmlformats.org/officeDocument/2006/relationships/hyperlink" Target="https://sieci.infopl.info/sieci-lan/topologie/pierscien" TargetMode="External"/><Relationship Id="rId11" Type="http://schemas.openxmlformats.org/officeDocument/2006/relationships/hyperlink" Target="https://www.tme.eu/pl/news/library-articles/page/45332/pojemnosc-elektryczna-kondensatora/" TargetMode="External"/><Relationship Id="rId5" Type="http://schemas.openxmlformats.org/officeDocument/2006/relationships/hyperlink" Target="https://sieci.infopl.info/sieci-lan/topologie/gwiazda" TargetMode="External"/><Relationship Id="rId10" Type="http://schemas.openxmlformats.org/officeDocument/2006/relationships/hyperlink" Target="https://pl.wikipedia.org/wiki/Napi&#281;cie_elektryczne" TargetMode="External"/><Relationship Id="rId4" Type="http://schemas.openxmlformats.org/officeDocument/2006/relationships/hyperlink" Target="https://sieci.infopl.info/sieci-lan/topologie/magistrala" TargetMode="External"/><Relationship Id="rId9" Type="http://schemas.openxmlformats.org/officeDocument/2006/relationships/hyperlink" Target="https://zstio-elektronika.pl/pliki_t_elektronik/TE_O1-01-13.pdf" TargetMode="External"/></Relationships>
</file>

<file path=ppt/slides/_rels/slide50.xml.rels><?xml version="1.0" encoding="UTF-8" standalone="yes"?>
<Relationships xmlns="http://schemas.openxmlformats.org/package/2006/relationships"><Relationship Id="rId3" Type="http://schemas.openxmlformats.org/officeDocument/2006/relationships/hyperlink" Target="https://pl.wikipedia.org/wiki/Regu&#322;a_Sarrusa" TargetMode="External"/><Relationship Id="rId2" Type="http://schemas.openxmlformats.org/officeDocument/2006/relationships/hyperlink" Target="https://pl.wikipedia.org/wiki/Rozwini&#281;cie_Laplace&#8217;a" TargetMode="External"/><Relationship Id="rId1" Type="http://schemas.openxmlformats.org/officeDocument/2006/relationships/slideLayout" Target="../slideLayouts/slideLayout2.xml"/><Relationship Id="rId5" Type="http://schemas.openxmlformats.org/officeDocument/2006/relationships/hyperlink" Target="https://www-ncl-ac-uk.translate.goog/webtemplate/ask-assets/external/maths-resources/core-mathematics/pure-maths/matrices/matrix-determinant.html?_x_tr_sl=en&amp;_x_tr_tl=pl&amp;_x_tr_hl=pl&amp;_x_tr_pto=rq" TargetMode="External"/><Relationship Id="rId4" Type="http://schemas.openxmlformats.org/officeDocument/2006/relationships/hyperlink" Target="https://pl.wikipedia.org/wiki/Metoda_eliminacji_Gauss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1E994C8-9429-4601-419A-BD410433EB4C}"/>
              </a:ext>
            </a:extLst>
          </p:cNvPr>
          <p:cNvSpPr>
            <a:spLocks noGrp="1"/>
          </p:cNvSpPr>
          <p:nvPr>
            <p:ph type="ctrTitle"/>
          </p:nvPr>
        </p:nvSpPr>
        <p:spPr>
          <a:xfrm>
            <a:off x="1524000" y="1122363"/>
            <a:ext cx="9144000" cy="1376393"/>
          </a:xfrm>
        </p:spPr>
        <p:txBody>
          <a:bodyPr/>
          <a:lstStyle/>
          <a:p>
            <a:r>
              <a:rPr lang="pl-PL" dirty="0">
                <a:latin typeface="Times New Roman"/>
                <a:cs typeface="Times New Roman"/>
              </a:rPr>
              <a:t>Patryk Jóźwiak</a:t>
            </a:r>
          </a:p>
        </p:txBody>
      </p:sp>
      <p:sp>
        <p:nvSpPr>
          <p:cNvPr id="3" name="Podtytuł 2">
            <a:extLst>
              <a:ext uri="{FF2B5EF4-FFF2-40B4-BE49-F238E27FC236}">
                <a16:creationId xmlns:a16="http://schemas.microsoft.com/office/drawing/2014/main" id="{152BF7FB-B418-15BD-0D94-EFA45D9556E6}"/>
              </a:ext>
            </a:extLst>
          </p:cNvPr>
          <p:cNvSpPr>
            <a:spLocks noGrp="1"/>
          </p:cNvSpPr>
          <p:nvPr>
            <p:ph type="subTitle" idx="1"/>
          </p:nvPr>
        </p:nvSpPr>
        <p:spPr/>
        <p:txBody>
          <a:bodyPr vert="horz" lIns="91440" tIns="45720" rIns="91440" bIns="45720" rtlCol="0" anchor="t">
            <a:normAutofit/>
          </a:bodyPr>
          <a:lstStyle/>
          <a:p>
            <a:r>
              <a:rPr lang="pl-PL" b="1" dirty="0">
                <a:latin typeface="Times New Roman" panose="02020603050405020304" pitchFamily="18" charset="0"/>
                <a:cs typeface="Times New Roman" panose="02020603050405020304" pitchFamily="18" charset="0"/>
              </a:rPr>
              <a:t>Seminarium dyplomowe</a:t>
            </a:r>
          </a:p>
          <a:p>
            <a:r>
              <a:rPr lang="pl-PL" dirty="0">
                <a:latin typeface="Times New Roman"/>
                <a:cs typeface="Times New Roman"/>
              </a:rPr>
              <a:t>Zagadnienia nr 5, 17, 29.</a:t>
            </a:r>
          </a:p>
        </p:txBody>
      </p:sp>
      <p:pic>
        <p:nvPicPr>
          <p:cNvPr id="1026" name="Picture 2" descr="DZIEKANAT">
            <a:extLst>
              <a:ext uri="{FF2B5EF4-FFF2-40B4-BE49-F238E27FC236}">
                <a16:creationId xmlns:a16="http://schemas.microsoft.com/office/drawing/2014/main" id="{C8D3A037-30C8-741C-FE44-6DCDF3D86D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346" y="5404757"/>
            <a:ext cx="3143250" cy="1143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4879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ctrTitle"/>
          </p:nvPr>
        </p:nvSpPr>
        <p:spPr>
          <a:xfrm>
            <a:off x="1524000" y="237899"/>
            <a:ext cx="9144000" cy="882650"/>
          </a:xfrm>
        </p:spPr>
        <p:txBody>
          <a:bodyPr>
            <a:normAutofit/>
          </a:bodyPr>
          <a:lstStyle/>
          <a:p>
            <a:r>
              <a:rPr lang="pl-PL" sz="4400" dirty="0">
                <a:latin typeface="Times New Roman"/>
                <a:cs typeface="Times New Roman"/>
              </a:rPr>
              <a:t>Zagadnienie nr 5</a:t>
            </a:r>
          </a:p>
        </p:txBody>
      </p:sp>
      <p:sp>
        <p:nvSpPr>
          <p:cNvPr id="3" name="Podtytuł 2"/>
          <p:cNvSpPr>
            <a:spLocks noGrp="1"/>
          </p:cNvSpPr>
          <p:nvPr>
            <p:ph type="subTitle" idx="1"/>
          </p:nvPr>
        </p:nvSpPr>
        <p:spPr>
          <a:xfrm>
            <a:off x="1524000" y="2601913"/>
            <a:ext cx="9144000" cy="1655762"/>
          </a:xfrm>
        </p:spPr>
        <p:txBody>
          <a:bodyPr vert="horz" lIns="91440" tIns="45720" rIns="91440" bIns="45720" rtlCol="0" anchor="t">
            <a:normAutofit/>
          </a:bodyPr>
          <a:lstStyle/>
          <a:p>
            <a:r>
              <a:rPr lang="pl-PL" dirty="0">
                <a:latin typeface="Times New Roman"/>
                <a:ea typeface="+mn-lt"/>
                <a:cs typeface="+mn-lt"/>
              </a:rPr>
              <a:t>Klasyfikacje sieci komputerowych i topologie sieciowe (Sieci WAN, MAN, LAN, PAN, sieci klient-serwer i </a:t>
            </a:r>
            <a:r>
              <a:rPr lang="pl-PL" err="1">
                <a:latin typeface="Times New Roman"/>
                <a:ea typeface="+mn-lt"/>
                <a:cs typeface="+mn-lt"/>
              </a:rPr>
              <a:t>peer</a:t>
            </a:r>
            <a:r>
              <a:rPr lang="pl-PL" dirty="0">
                <a:latin typeface="Times New Roman"/>
                <a:ea typeface="+mn-lt"/>
                <a:cs typeface="+mn-lt"/>
              </a:rPr>
              <a:t>-to-</a:t>
            </a:r>
            <a:r>
              <a:rPr lang="pl-PL" err="1">
                <a:latin typeface="Times New Roman"/>
                <a:ea typeface="+mn-lt"/>
                <a:cs typeface="+mn-lt"/>
              </a:rPr>
              <a:t>peer</a:t>
            </a:r>
            <a:r>
              <a:rPr lang="pl-PL" dirty="0">
                <a:latin typeface="Times New Roman"/>
                <a:ea typeface="+mn-lt"/>
                <a:cs typeface="+mn-lt"/>
              </a:rPr>
              <a:t>, topologie sieci lokalnych i globalnych)</a:t>
            </a:r>
            <a:endParaRPr lang="pl-PL">
              <a:latin typeface="Times New Roman"/>
              <a:cs typeface="Times New Roman"/>
            </a:endParaRPr>
          </a:p>
        </p:txBody>
      </p:sp>
    </p:spTree>
    <p:extLst>
      <p:ext uri="{BB962C8B-B14F-4D97-AF65-F5344CB8AC3E}">
        <p14:creationId xmlns:p14="http://schemas.microsoft.com/office/powerpoint/2010/main" val="6503171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E780FA1-4DA0-4DA7-72C7-3CBA3908659B}"/>
              </a:ext>
            </a:extLst>
          </p:cNvPr>
          <p:cNvSpPr>
            <a:spLocks noGrp="1"/>
          </p:cNvSpPr>
          <p:nvPr>
            <p:ph type="title"/>
          </p:nvPr>
        </p:nvSpPr>
        <p:spPr/>
        <p:txBody>
          <a:bodyPr/>
          <a:lstStyle/>
          <a:p>
            <a:r>
              <a:rPr lang="pl-PL" dirty="0">
                <a:latin typeface="Times New Roman"/>
                <a:cs typeface="Times New Roman"/>
              </a:rPr>
              <a:t>Czym są sieci komputerowe?</a:t>
            </a:r>
          </a:p>
        </p:txBody>
      </p:sp>
      <p:sp>
        <p:nvSpPr>
          <p:cNvPr id="6" name="Symbol zastępczy zawartości 5">
            <a:extLst>
              <a:ext uri="{FF2B5EF4-FFF2-40B4-BE49-F238E27FC236}">
                <a16:creationId xmlns:a16="http://schemas.microsoft.com/office/drawing/2014/main" id="{323F449B-8355-1E21-B777-DE0A2F8FCED6}"/>
              </a:ext>
            </a:extLst>
          </p:cNvPr>
          <p:cNvSpPr>
            <a:spLocks noGrp="1"/>
          </p:cNvSpPr>
          <p:nvPr>
            <p:ph idx="1"/>
          </p:nvPr>
        </p:nvSpPr>
        <p:spPr>
          <a:xfrm>
            <a:off x="838200" y="1701800"/>
            <a:ext cx="10515600" cy="4351338"/>
          </a:xfrm>
        </p:spPr>
        <p:txBody>
          <a:bodyPr vert="horz" lIns="91440" tIns="45720" rIns="91440" bIns="45720" rtlCol="0" anchor="t">
            <a:normAutofit/>
          </a:bodyPr>
          <a:lstStyle/>
          <a:p>
            <a:pPr>
              <a:buNone/>
            </a:pPr>
            <a:r>
              <a:rPr lang="pl-PL" sz="2400" dirty="0">
                <a:solidFill>
                  <a:srgbClr val="1B1B1B"/>
                </a:solidFill>
                <a:latin typeface="Times New Roman"/>
                <a:cs typeface="Times New Roman"/>
              </a:rPr>
              <a:t>Sieć komputerowa to minimum dwa komputery połączone ze sobą kanałem transmisyjnym.</a:t>
            </a:r>
            <a:endParaRPr lang="pl-PL" sz="2400" dirty="0">
              <a:latin typeface="Times New Roman"/>
              <a:cs typeface="Times New Roman"/>
            </a:endParaRPr>
          </a:p>
          <a:p>
            <a:pPr marL="0" indent="0">
              <a:buNone/>
            </a:pPr>
            <a:br>
              <a:rPr lang="en-US" dirty="0"/>
            </a:br>
            <a:endParaRPr lang="en-US" sz="2400">
              <a:latin typeface="Times New Roman"/>
              <a:cs typeface="Times New Roman"/>
            </a:endParaRPr>
          </a:p>
        </p:txBody>
      </p:sp>
      <p:pic>
        <p:nvPicPr>
          <p:cNvPr id="7" name="Obraz 6" descr="Ilustracja przedstawiajaca sieć komputerową">
            <a:extLst>
              <a:ext uri="{FF2B5EF4-FFF2-40B4-BE49-F238E27FC236}">
                <a16:creationId xmlns:a16="http://schemas.microsoft.com/office/drawing/2014/main" id="{AFA0871E-79FB-0E48-667B-2A23C36771EC}"/>
              </a:ext>
            </a:extLst>
          </p:cNvPr>
          <p:cNvPicPr>
            <a:picLocks noChangeAspect="1"/>
          </p:cNvPicPr>
          <p:nvPr/>
        </p:nvPicPr>
        <p:blipFill>
          <a:blip r:embed="rId2"/>
          <a:stretch>
            <a:fillRect/>
          </a:stretch>
        </p:blipFill>
        <p:spPr>
          <a:xfrm>
            <a:off x="4600575" y="2266950"/>
            <a:ext cx="5743575" cy="3228975"/>
          </a:xfrm>
          <a:prstGeom prst="rect">
            <a:avLst/>
          </a:prstGeom>
        </p:spPr>
      </p:pic>
    </p:spTree>
    <p:extLst>
      <p:ext uri="{BB962C8B-B14F-4D97-AF65-F5344CB8AC3E}">
        <p14:creationId xmlns:p14="http://schemas.microsoft.com/office/powerpoint/2010/main" val="24090245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EDB1684-BD94-06C8-0EDE-6EED753017FA}"/>
              </a:ext>
            </a:extLst>
          </p:cNvPr>
          <p:cNvSpPr>
            <a:spLocks noGrp="1"/>
          </p:cNvSpPr>
          <p:nvPr>
            <p:ph type="title"/>
          </p:nvPr>
        </p:nvSpPr>
        <p:spPr/>
        <p:txBody>
          <a:bodyPr/>
          <a:lstStyle/>
          <a:p>
            <a:r>
              <a:rPr lang="pl-PL" dirty="0">
                <a:ea typeface="+mj-lt"/>
                <a:cs typeface="+mj-lt"/>
              </a:rPr>
              <a:t>Dlaczego </a:t>
            </a:r>
            <a:r>
              <a:rPr lang="pl-PL" dirty="0">
                <a:latin typeface="Times New Roman"/>
                <a:ea typeface="+mj-lt"/>
                <a:cs typeface="+mj-lt"/>
              </a:rPr>
              <a:t>klasyfikacja</a:t>
            </a:r>
            <a:r>
              <a:rPr lang="pl-PL" dirty="0">
                <a:ea typeface="+mj-lt"/>
                <a:cs typeface="+mj-lt"/>
              </a:rPr>
              <a:t> i topologia są ważne?</a:t>
            </a:r>
            <a:endParaRPr lang="pl-PL" dirty="0"/>
          </a:p>
          <a:p>
            <a:endParaRPr lang="pl-PL" dirty="0"/>
          </a:p>
        </p:txBody>
      </p:sp>
      <p:sp>
        <p:nvSpPr>
          <p:cNvPr id="3" name="Symbol zastępczy zawartości 2">
            <a:extLst>
              <a:ext uri="{FF2B5EF4-FFF2-40B4-BE49-F238E27FC236}">
                <a16:creationId xmlns:a16="http://schemas.microsoft.com/office/drawing/2014/main" id="{9509E806-A726-58D5-A1C8-4EB0BEE4C86E}"/>
              </a:ext>
            </a:extLst>
          </p:cNvPr>
          <p:cNvSpPr>
            <a:spLocks noGrp="1"/>
          </p:cNvSpPr>
          <p:nvPr>
            <p:ph idx="1"/>
          </p:nvPr>
        </p:nvSpPr>
        <p:spPr/>
        <p:txBody>
          <a:bodyPr vert="horz" lIns="91440" tIns="45720" rIns="91440" bIns="45720" rtlCol="0" anchor="t">
            <a:normAutofit/>
          </a:bodyPr>
          <a:lstStyle/>
          <a:p>
            <a:pPr marL="0" indent="0">
              <a:buNone/>
            </a:pPr>
            <a:r>
              <a:rPr lang="pl-PL" sz="2400" dirty="0">
                <a:latin typeface="Times New Roman"/>
                <a:ea typeface="+mn-lt"/>
                <a:cs typeface="+mn-lt"/>
              </a:rPr>
              <a:t> Klasyfikacja i topologia są kluczowe w projektowaniu i zarządzaniu sieciami komputerowymi. Klasyfikacja pozwala na podział sieci ze względu na zasięg. Topologia opisuje fizyczne i logiczne układy połączeń urządzeń w sieci, wpływając na wydajność, niezawodność oraz skalowalność infrastruktury sieciowej.</a:t>
            </a:r>
            <a:endParaRPr lang="pl-PL" sz="2400">
              <a:latin typeface="Times New Roman"/>
              <a:cs typeface="Times New Roman"/>
            </a:endParaRPr>
          </a:p>
        </p:txBody>
      </p:sp>
    </p:spTree>
    <p:extLst>
      <p:ext uri="{BB962C8B-B14F-4D97-AF65-F5344CB8AC3E}">
        <p14:creationId xmlns:p14="http://schemas.microsoft.com/office/powerpoint/2010/main" val="12172941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B30AC44-6704-22D5-2085-18D99A2F262F}"/>
              </a:ext>
            </a:extLst>
          </p:cNvPr>
          <p:cNvSpPr>
            <a:spLocks noGrp="1"/>
          </p:cNvSpPr>
          <p:nvPr>
            <p:ph type="title"/>
          </p:nvPr>
        </p:nvSpPr>
        <p:spPr/>
        <p:txBody>
          <a:bodyPr/>
          <a:lstStyle/>
          <a:p>
            <a:r>
              <a:rPr lang="pl-PL" dirty="0">
                <a:latin typeface="Times New Roman"/>
                <a:ea typeface="+mj-lt"/>
                <a:cs typeface="+mj-lt"/>
              </a:rPr>
              <a:t>Klasyfikacje</a:t>
            </a:r>
            <a:r>
              <a:rPr lang="pl-PL" dirty="0">
                <a:ea typeface="+mj-lt"/>
                <a:cs typeface="+mj-lt"/>
              </a:rPr>
              <a:t> sieci komputerowych</a:t>
            </a:r>
            <a:endParaRPr lang="pl-PL" dirty="0"/>
          </a:p>
        </p:txBody>
      </p:sp>
      <p:sp>
        <p:nvSpPr>
          <p:cNvPr id="3" name="Symbol zastępczy zawartości 2">
            <a:extLst>
              <a:ext uri="{FF2B5EF4-FFF2-40B4-BE49-F238E27FC236}">
                <a16:creationId xmlns:a16="http://schemas.microsoft.com/office/drawing/2014/main" id="{14A38C7D-6367-D5D7-8C6B-07DE614C3C70}"/>
              </a:ext>
            </a:extLst>
          </p:cNvPr>
          <p:cNvSpPr>
            <a:spLocks noGrp="1"/>
          </p:cNvSpPr>
          <p:nvPr>
            <p:ph idx="1"/>
          </p:nvPr>
        </p:nvSpPr>
        <p:spPr/>
        <p:txBody>
          <a:bodyPr vert="horz" lIns="91440" tIns="45720" rIns="91440" bIns="45720" rtlCol="0" anchor="t">
            <a:normAutofit/>
          </a:bodyPr>
          <a:lstStyle/>
          <a:p>
            <a:r>
              <a:rPr lang="pl-PL" dirty="0">
                <a:latin typeface="Times New Roman"/>
                <a:ea typeface="+mn-lt"/>
                <a:cs typeface="+mn-lt"/>
              </a:rPr>
              <a:t>Podział sieci ze względu na zasięg,</a:t>
            </a:r>
          </a:p>
          <a:p>
            <a:r>
              <a:rPr lang="pl-PL" dirty="0">
                <a:latin typeface="Times New Roman"/>
                <a:ea typeface="+mn-lt"/>
                <a:cs typeface="+mn-lt"/>
              </a:rPr>
              <a:t>Podział sieci ze względu na architekturę.</a:t>
            </a:r>
            <a:endParaRPr lang="pl-PL">
              <a:latin typeface="Times New Roman"/>
              <a:cs typeface="Times New Roman"/>
            </a:endParaRPr>
          </a:p>
        </p:txBody>
      </p:sp>
    </p:spTree>
    <p:extLst>
      <p:ext uri="{BB962C8B-B14F-4D97-AF65-F5344CB8AC3E}">
        <p14:creationId xmlns:p14="http://schemas.microsoft.com/office/powerpoint/2010/main" val="3147448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3EFD95B-E879-32F8-516C-DBC46993504E}"/>
              </a:ext>
            </a:extLst>
          </p:cNvPr>
          <p:cNvSpPr>
            <a:spLocks noGrp="1"/>
          </p:cNvSpPr>
          <p:nvPr>
            <p:ph type="title"/>
          </p:nvPr>
        </p:nvSpPr>
        <p:spPr/>
        <p:txBody>
          <a:bodyPr/>
          <a:lstStyle/>
          <a:p>
            <a:pPr>
              <a:spcBef>
                <a:spcPts val="1000"/>
              </a:spcBef>
            </a:pPr>
            <a:r>
              <a:rPr lang="pl-PL" dirty="0">
                <a:latin typeface="Times New Roman"/>
                <a:cs typeface="Times New Roman"/>
              </a:rPr>
              <a:t>Podział sieci ze względu na zasięg,</a:t>
            </a:r>
            <a:endParaRPr lang="en-US" dirty="0">
              <a:latin typeface="Times New Roman"/>
              <a:cs typeface="Times New Roman"/>
            </a:endParaRPr>
          </a:p>
          <a:p>
            <a:endParaRPr lang="pl-PL" dirty="0">
              <a:latin typeface="Times New Roman"/>
              <a:cs typeface="Times New Roman"/>
            </a:endParaRPr>
          </a:p>
        </p:txBody>
      </p:sp>
      <p:sp>
        <p:nvSpPr>
          <p:cNvPr id="3" name="Symbol zastępczy zawartości 2">
            <a:extLst>
              <a:ext uri="{FF2B5EF4-FFF2-40B4-BE49-F238E27FC236}">
                <a16:creationId xmlns:a16="http://schemas.microsoft.com/office/drawing/2014/main" id="{2B4BAB65-D818-7ACB-1BD1-0B8E7FAF41E3}"/>
              </a:ext>
            </a:extLst>
          </p:cNvPr>
          <p:cNvSpPr>
            <a:spLocks noGrp="1"/>
          </p:cNvSpPr>
          <p:nvPr>
            <p:ph idx="1"/>
          </p:nvPr>
        </p:nvSpPr>
        <p:spPr/>
        <p:txBody>
          <a:bodyPr vert="horz" lIns="91440" tIns="45720" rIns="91440" bIns="45720" rtlCol="0" anchor="t">
            <a:normAutofit/>
          </a:bodyPr>
          <a:lstStyle/>
          <a:p>
            <a:r>
              <a:rPr lang="pl-PL" sz="2400" b="1" dirty="0">
                <a:latin typeface="Times New Roman"/>
                <a:ea typeface="+mn-lt"/>
                <a:cs typeface="+mn-lt"/>
              </a:rPr>
              <a:t>PAN (Personal </a:t>
            </a:r>
            <a:r>
              <a:rPr lang="pl-PL" sz="2400" b="1" dirty="0" err="1">
                <a:latin typeface="Times New Roman"/>
                <a:ea typeface="+mn-lt"/>
                <a:cs typeface="+mn-lt"/>
              </a:rPr>
              <a:t>Area</a:t>
            </a:r>
            <a:r>
              <a:rPr lang="pl-PL" sz="2400" b="1" dirty="0">
                <a:latin typeface="Times New Roman"/>
                <a:ea typeface="+mn-lt"/>
                <a:cs typeface="+mn-lt"/>
              </a:rPr>
              <a:t> Network)</a:t>
            </a:r>
            <a:r>
              <a:rPr lang="pl-PL" sz="2400" dirty="0">
                <a:latin typeface="Times New Roman"/>
                <a:ea typeface="+mn-lt"/>
                <a:cs typeface="+mn-lt"/>
              </a:rPr>
              <a:t> – np. Bluetooth, urządzenia mobilne,</a:t>
            </a:r>
            <a:endParaRPr lang="pl-PL" sz="2400" dirty="0">
              <a:latin typeface="Times New Roman"/>
              <a:cs typeface="Times New Roman"/>
            </a:endParaRPr>
          </a:p>
          <a:p>
            <a:r>
              <a:rPr lang="pl-PL" sz="2400" b="1" dirty="0">
                <a:latin typeface="Times New Roman"/>
                <a:ea typeface="+mn-lt"/>
                <a:cs typeface="+mn-lt"/>
              </a:rPr>
              <a:t>LAN (</a:t>
            </a:r>
            <a:r>
              <a:rPr lang="pl-PL" sz="2400" b="1" dirty="0" err="1">
                <a:latin typeface="Times New Roman"/>
                <a:ea typeface="+mn-lt"/>
                <a:cs typeface="+mn-lt"/>
              </a:rPr>
              <a:t>Local</a:t>
            </a:r>
            <a:r>
              <a:rPr lang="pl-PL" sz="2400" b="1" dirty="0">
                <a:latin typeface="Times New Roman"/>
                <a:ea typeface="+mn-lt"/>
                <a:cs typeface="+mn-lt"/>
              </a:rPr>
              <a:t> </a:t>
            </a:r>
            <a:r>
              <a:rPr lang="pl-PL" sz="2400" b="1" dirty="0" err="1">
                <a:latin typeface="Times New Roman"/>
                <a:ea typeface="+mn-lt"/>
                <a:cs typeface="+mn-lt"/>
              </a:rPr>
              <a:t>Area</a:t>
            </a:r>
            <a:r>
              <a:rPr lang="pl-PL" sz="2400" b="1" dirty="0">
                <a:latin typeface="Times New Roman"/>
                <a:ea typeface="+mn-lt"/>
                <a:cs typeface="+mn-lt"/>
              </a:rPr>
              <a:t> Network)</a:t>
            </a:r>
            <a:r>
              <a:rPr lang="pl-PL" sz="2400" dirty="0">
                <a:latin typeface="Times New Roman"/>
                <a:ea typeface="+mn-lt"/>
                <a:cs typeface="+mn-lt"/>
              </a:rPr>
              <a:t> – np. sieci domowe, firmowe,</a:t>
            </a:r>
            <a:endParaRPr lang="pl-PL" sz="2400" dirty="0">
              <a:latin typeface="Times New Roman"/>
              <a:cs typeface="Times New Roman"/>
            </a:endParaRPr>
          </a:p>
          <a:p>
            <a:r>
              <a:rPr lang="pl-PL" sz="2400" b="1" dirty="0">
                <a:latin typeface="Times New Roman"/>
                <a:ea typeface="+mn-lt"/>
                <a:cs typeface="+mn-lt"/>
              </a:rPr>
              <a:t>MAN (Metropolitan </a:t>
            </a:r>
            <a:r>
              <a:rPr lang="pl-PL" sz="2400" b="1" dirty="0" err="1">
                <a:latin typeface="Times New Roman"/>
                <a:ea typeface="+mn-lt"/>
                <a:cs typeface="+mn-lt"/>
              </a:rPr>
              <a:t>Area</a:t>
            </a:r>
            <a:r>
              <a:rPr lang="pl-PL" sz="2400" b="1" dirty="0">
                <a:latin typeface="Times New Roman"/>
                <a:ea typeface="+mn-lt"/>
                <a:cs typeface="+mn-lt"/>
              </a:rPr>
              <a:t> Network)</a:t>
            </a:r>
            <a:r>
              <a:rPr lang="pl-PL" sz="2400" dirty="0">
                <a:latin typeface="Times New Roman"/>
                <a:ea typeface="+mn-lt"/>
                <a:cs typeface="+mn-lt"/>
              </a:rPr>
              <a:t> – sieci miejskie, np. dostawcy </a:t>
            </a:r>
            <a:r>
              <a:rPr lang="pl-PL" sz="2400" dirty="0" err="1">
                <a:latin typeface="Times New Roman"/>
                <a:ea typeface="+mn-lt"/>
                <a:cs typeface="+mn-lt"/>
              </a:rPr>
              <a:t>internetu</a:t>
            </a:r>
            <a:r>
              <a:rPr lang="pl-PL" sz="2400" dirty="0">
                <a:latin typeface="Times New Roman"/>
                <a:ea typeface="+mn-lt"/>
                <a:cs typeface="+mn-lt"/>
              </a:rPr>
              <a:t>,</a:t>
            </a:r>
            <a:endParaRPr lang="pl-PL" sz="2400" dirty="0">
              <a:latin typeface="Times New Roman"/>
              <a:cs typeface="Times New Roman"/>
            </a:endParaRPr>
          </a:p>
          <a:p>
            <a:r>
              <a:rPr lang="pl-PL" sz="2400" b="1" dirty="0">
                <a:latin typeface="Times New Roman"/>
                <a:ea typeface="+mn-lt"/>
                <a:cs typeface="+mn-lt"/>
              </a:rPr>
              <a:t>WAN (</a:t>
            </a:r>
            <a:r>
              <a:rPr lang="pl-PL" sz="2400" b="1" dirty="0" err="1">
                <a:latin typeface="Times New Roman"/>
                <a:ea typeface="+mn-lt"/>
                <a:cs typeface="+mn-lt"/>
              </a:rPr>
              <a:t>Wide</a:t>
            </a:r>
            <a:r>
              <a:rPr lang="pl-PL" sz="2400" b="1" dirty="0">
                <a:latin typeface="Times New Roman"/>
                <a:ea typeface="+mn-lt"/>
                <a:cs typeface="+mn-lt"/>
              </a:rPr>
              <a:t> </a:t>
            </a:r>
            <a:r>
              <a:rPr lang="pl-PL" sz="2400" b="1" dirty="0" err="1">
                <a:latin typeface="Times New Roman"/>
                <a:ea typeface="+mn-lt"/>
                <a:cs typeface="+mn-lt"/>
              </a:rPr>
              <a:t>Area</a:t>
            </a:r>
            <a:r>
              <a:rPr lang="pl-PL" sz="2400" b="1" dirty="0">
                <a:latin typeface="Times New Roman"/>
                <a:ea typeface="+mn-lt"/>
                <a:cs typeface="+mn-lt"/>
              </a:rPr>
              <a:t> Network)</a:t>
            </a:r>
            <a:r>
              <a:rPr lang="pl-PL" sz="2400" dirty="0">
                <a:latin typeface="Times New Roman"/>
                <a:ea typeface="+mn-lt"/>
                <a:cs typeface="+mn-lt"/>
              </a:rPr>
              <a:t> – np. </a:t>
            </a:r>
            <a:r>
              <a:rPr lang="pl-PL" sz="2400" dirty="0" err="1">
                <a:latin typeface="Times New Roman"/>
                <a:ea typeface="+mn-lt"/>
                <a:cs typeface="+mn-lt"/>
              </a:rPr>
              <a:t>internet</a:t>
            </a:r>
            <a:r>
              <a:rPr lang="pl-PL" sz="2400" dirty="0">
                <a:latin typeface="Times New Roman"/>
                <a:ea typeface="+mn-lt"/>
                <a:cs typeface="+mn-lt"/>
              </a:rPr>
              <a:t>, połączenia między miastami/krajami.</a:t>
            </a:r>
            <a:endParaRPr lang="pl-PL" sz="2400" dirty="0">
              <a:latin typeface="Times New Roman"/>
              <a:cs typeface="Times New Roman"/>
            </a:endParaRPr>
          </a:p>
          <a:p>
            <a:endParaRPr lang="pl-PL" sz="2400" dirty="0">
              <a:latin typeface="Times New Roman"/>
              <a:cs typeface="Times New Roman"/>
            </a:endParaRPr>
          </a:p>
        </p:txBody>
      </p:sp>
    </p:spTree>
    <p:extLst>
      <p:ext uri="{BB962C8B-B14F-4D97-AF65-F5344CB8AC3E}">
        <p14:creationId xmlns:p14="http://schemas.microsoft.com/office/powerpoint/2010/main" val="2364945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552BBC7-887A-1C0F-D7C5-0D25CA893CC2}"/>
              </a:ext>
            </a:extLst>
          </p:cNvPr>
          <p:cNvSpPr>
            <a:spLocks noGrp="1"/>
          </p:cNvSpPr>
          <p:nvPr>
            <p:ph type="title"/>
          </p:nvPr>
        </p:nvSpPr>
        <p:spPr/>
        <p:txBody>
          <a:bodyPr/>
          <a:lstStyle/>
          <a:p>
            <a:r>
              <a:rPr lang="pl-PL" dirty="0">
                <a:latin typeface="Times New Roman"/>
                <a:cs typeface="Times New Roman"/>
              </a:rPr>
              <a:t>Sieć PAN</a:t>
            </a:r>
          </a:p>
        </p:txBody>
      </p:sp>
      <p:sp>
        <p:nvSpPr>
          <p:cNvPr id="3" name="Symbol zastępczy zawartości 2">
            <a:extLst>
              <a:ext uri="{FF2B5EF4-FFF2-40B4-BE49-F238E27FC236}">
                <a16:creationId xmlns:a16="http://schemas.microsoft.com/office/drawing/2014/main" id="{7E409CAF-D744-A774-3E1F-72D959905DA8}"/>
              </a:ext>
            </a:extLst>
          </p:cNvPr>
          <p:cNvSpPr>
            <a:spLocks noGrp="1"/>
          </p:cNvSpPr>
          <p:nvPr>
            <p:ph idx="1"/>
          </p:nvPr>
        </p:nvSpPr>
        <p:spPr>
          <a:xfrm>
            <a:off x="838200" y="1701800"/>
            <a:ext cx="10515600" cy="4351338"/>
          </a:xfrm>
        </p:spPr>
        <p:txBody>
          <a:bodyPr vert="horz" lIns="91440" tIns="45720" rIns="91440" bIns="45720" rtlCol="0" anchor="t">
            <a:normAutofit/>
          </a:bodyPr>
          <a:lstStyle/>
          <a:p>
            <a:pPr marL="0" indent="0">
              <a:buNone/>
            </a:pPr>
            <a:r>
              <a:rPr lang="pl-PL" sz="2400" b="1" dirty="0">
                <a:latin typeface="Times New Roman"/>
                <a:ea typeface="Verdana"/>
                <a:cs typeface="Times New Roman"/>
              </a:rPr>
              <a:t>PAN (Personal </a:t>
            </a:r>
            <a:r>
              <a:rPr lang="pl-PL" sz="2400" b="1" err="1">
                <a:latin typeface="Times New Roman"/>
                <a:ea typeface="Verdana"/>
                <a:cs typeface="Times New Roman"/>
              </a:rPr>
              <a:t>Area</a:t>
            </a:r>
            <a:r>
              <a:rPr lang="pl-PL" sz="2400" b="1" dirty="0">
                <a:latin typeface="Times New Roman"/>
                <a:ea typeface="Verdana"/>
                <a:cs typeface="Times New Roman"/>
              </a:rPr>
              <a:t> Network)</a:t>
            </a:r>
            <a:r>
              <a:rPr lang="pl-PL" sz="2400" dirty="0">
                <a:latin typeface="Times New Roman"/>
                <a:ea typeface="Verdana"/>
                <a:cs typeface="Times New Roman"/>
              </a:rPr>
              <a:t> - jest najmniejszą siecią, obecnie najczęściej bezprzewodową, używaną w biurach, urzędach lub domach, w skład której wchodzi zazwyczaj komputer, drukarka i urządzenia mobilne. Jest to niewielka osobista sieć, służąca do </a:t>
            </a:r>
            <a:r>
              <a:rPr lang="pl-PL" sz="2400" err="1">
                <a:latin typeface="Times New Roman"/>
                <a:ea typeface="Verdana"/>
                <a:cs typeface="Times New Roman"/>
              </a:rPr>
              <a:t>przesyłu</a:t>
            </a:r>
            <a:r>
              <a:rPr lang="pl-PL" sz="2400" dirty="0">
                <a:latin typeface="Times New Roman"/>
                <a:ea typeface="Verdana"/>
                <a:cs typeface="Times New Roman"/>
              </a:rPr>
              <a:t> danych na najniższym poziomie, która może pracować niezależnie od połączenia internetowego. Poszczególne urządzenia łączą się w niej w większości przypadków za pomocą modułu Bluetooth.</a:t>
            </a:r>
            <a:endParaRPr lang="pl-PL" sz="2400">
              <a:latin typeface="Times New Roman"/>
              <a:cs typeface="Times New Roman"/>
            </a:endParaRPr>
          </a:p>
        </p:txBody>
      </p:sp>
      <p:pic>
        <p:nvPicPr>
          <p:cNvPr id="4" name="Obraz 3" descr="sieć">
            <a:extLst>
              <a:ext uri="{FF2B5EF4-FFF2-40B4-BE49-F238E27FC236}">
                <a16:creationId xmlns:a16="http://schemas.microsoft.com/office/drawing/2014/main" id="{084F0561-DF6F-61C1-A9B5-E92EC98DD44C}"/>
              </a:ext>
            </a:extLst>
          </p:cNvPr>
          <p:cNvPicPr>
            <a:picLocks noChangeAspect="1"/>
          </p:cNvPicPr>
          <p:nvPr/>
        </p:nvPicPr>
        <p:blipFill>
          <a:blip r:embed="rId2"/>
          <a:stretch>
            <a:fillRect/>
          </a:stretch>
        </p:blipFill>
        <p:spPr>
          <a:xfrm>
            <a:off x="7877175" y="3879904"/>
            <a:ext cx="3476624" cy="2412892"/>
          </a:xfrm>
          <a:prstGeom prst="rect">
            <a:avLst/>
          </a:prstGeom>
        </p:spPr>
      </p:pic>
    </p:spTree>
    <p:extLst>
      <p:ext uri="{BB962C8B-B14F-4D97-AF65-F5344CB8AC3E}">
        <p14:creationId xmlns:p14="http://schemas.microsoft.com/office/powerpoint/2010/main" val="96930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55CC2FD-AA26-2322-5572-91A3866AEB8E}"/>
              </a:ext>
            </a:extLst>
          </p:cNvPr>
          <p:cNvSpPr>
            <a:spLocks noGrp="1"/>
          </p:cNvSpPr>
          <p:nvPr>
            <p:ph type="title"/>
          </p:nvPr>
        </p:nvSpPr>
        <p:spPr/>
        <p:txBody>
          <a:bodyPr/>
          <a:lstStyle/>
          <a:p>
            <a:r>
              <a:rPr lang="pl-PL" dirty="0">
                <a:latin typeface="Times New Roman"/>
                <a:cs typeface="Times New Roman"/>
              </a:rPr>
              <a:t>Sieć LAN</a:t>
            </a:r>
            <a:endParaRPr lang="pl-PL">
              <a:latin typeface="Times New Roman"/>
              <a:cs typeface="Times New Roman"/>
            </a:endParaRPr>
          </a:p>
        </p:txBody>
      </p:sp>
      <p:sp>
        <p:nvSpPr>
          <p:cNvPr id="3" name="Symbol zastępczy zawartości 2">
            <a:extLst>
              <a:ext uri="{FF2B5EF4-FFF2-40B4-BE49-F238E27FC236}">
                <a16:creationId xmlns:a16="http://schemas.microsoft.com/office/drawing/2014/main" id="{4CF541A7-4FD4-FDAC-E4F6-F0A7D286F9FA}"/>
              </a:ext>
            </a:extLst>
          </p:cNvPr>
          <p:cNvSpPr>
            <a:spLocks noGrp="1"/>
          </p:cNvSpPr>
          <p:nvPr>
            <p:ph idx="1"/>
          </p:nvPr>
        </p:nvSpPr>
        <p:spPr>
          <a:xfrm>
            <a:off x="838200" y="1701800"/>
            <a:ext cx="10515600" cy="4351338"/>
          </a:xfrm>
        </p:spPr>
        <p:txBody>
          <a:bodyPr vert="horz" lIns="91440" tIns="45720" rIns="91440" bIns="45720" rtlCol="0" anchor="t">
            <a:normAutofit/>
          </a:bodyPr>
          <a:lstStyle/>
          <a:p>
            <a:r>
              <a:rPr lang="pl-PL" sz="2400" b="1" dirty="0">
                <a:latin typeface="Times New Roman"/>
                <a:ea typeface="Verdana"/>
                <a:cs typeface="Times New Roman"/>
              </a:rPr>
              <a:t>LAN - Sieć lokalna (ang. </a:t>
            </a:r>
            <a:r>
              <a:rPr lang="pl-PL" sz="2400" b="1" err="1">
                <a:latin typeface="Times New Roman"/>
                <a:ea typeface="Verdana"/>
                <a:cs typeface="Times New Roman"/>
              </a:rPr>
              <a:t>Local</a:t>
            </a:r>
            <a:r>
              <a:rPr lang="pl-PL" sz="2400" b="1" dirty="0">
                <a:latin typeface="Times New Roman"/>
                <a:ea typeface="Verdana"/>
                <a:cs typeface="Times New Roman"/>
              </a:rPr>
              <a:t> </a:t>
            </a:r>
            <a:r>
              <a:rPr lang="pl-PL" sz="2400" b="1" err="1">
                <a:latin typeface="Times New Roman"/>
                <a:ea typeface="Verdana"/>
                <a:cs typeface="Times New Roman"/>
              </a:rPr>
              <a:t>Area</a:t>
            </a:r>
            <a:r>
              <a:rPr lang="pl-PL" sz="2400" b="1" dirty="0">
                <a:latin typeface="Times New Roman"/>
                <a:ea typeface="Verdana"/>
                <a:cs typeface="Times New Roman"/>
              </a:rPr>
              <a:t> Network)</a:t>
            </a:r>
            <a:r>
              <a:rPr lang="pl-PL" sz="2400" dirty="0">
                <a:latin typeface="Times New Roman"/>
                <a:ea typeface="Verdana"/>
                <a:cs typeface="Times New Roman"/>
              </a:rPr>
              <a:t> – to lokalna sieć komputerowa, która może obejmować swoim zasięgiem kilka komputerów lub innych urządzeń, np. w większym biurze, pracowni czy bloku mieszkalnym. LAN pozwala jego użytkownikom na korzystanie z zasobów oraz tych samych aplikacji, a także na </a:t>
            </a:r>
            <a:r>
              <a:rPr lang="pl-PL" sz="2400" err="1">
                <a:latin typeface="Times New Roman"/>
                <a:ea typeface="Verdana"/>
                <a:cs typeface="Times New Roman"/>
              </a:rPr>
              <a:t>przesył</a:t>
            </a:r>
            <a:r>
              <a:rPr lang="pl-PL" sz="2400" dirty="0">
                <a:latin typeface="Times New Roman"/>
                <a:ea typeface="Verdana"/>
                <a:cs typeface="Times New Roman"/>
              </a:rPr>
              <a:t> czy wymianę plików. Komunikacja może zachodzić za pomocą specjalnych kabli lub sieci bezprzewodowej Wi-Fi i może być niezależna od Internetu – wystarczy posiadać kartę sieciową.</a:t>
            </a:r>
            <a:endParaRPr lang="pl-PL" sz="2400">
              <a:latin typeface="Times New Roman"/>
              <a:cs typeface="Times New Roman"/>
            </a:endParaRPr>
          </a:p>
        </p:txBody>
      </p:sp>
      <p:pic>
        <p:nvPicPr>
          <p:cNvPr id="4" name="Obraz 3" descr="Poradnik: Budujemy sieć komputerową. Część 2 - LAN | PurePC.pl">
            <a:extLst>
              <a:ext uri="{FF2B5EF4-FFF2-40B4-BE49-F238E27FC236}">
                <a16:creationId xmlns:a16="http://schemas.microsoft.com/office/drawing/2014/main" id="{9F2A8425-FC29-8F0D-297D-FAEDA8016B2F}"/>
              </a:ext>
            </a:extLst>
          </p:cNvPr>
          <p:cNvPicPr>
            <a:picLocks noChangeAspect="1"/>
          </p:cNvPicPr>
          <p:nvPr/>
        </p:nvPicPr>
        <p:blipFill>
          <a:blip r:embed="rId2"/>
          <a:stretch>
            <a:fillRect/>
          </a:stretch>
        </p:blipFill>
        <p:spPr>
          <a:xfrm>
            <a:off x="7458075" y="3880002"/>
            <a:ext cx="3895724" cy="2707971"/>
          </a:xfrm>
          <a:prstGeom prst="rect">
            <a:avLst/>
          </a:prstGeom>
        </p:spPr>
      </p:pic>
    </p:spTree>
    <p:extLst>
      <p:ext uri="{BB962C8B-B14F-4D97-AF65-F5344CB8AC3E}">
        <p14:creationId xmlns:p14="http://schemas.microsoft.com/office/powerpoint/2010/main" val="29002195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8349609-372B-67F3-F44B-CA39A3D2C23B}"/>
              </a:ext>
            </a:extLst>
          </p:cNvPr>
          <p:cNvSpPr>
            <a:spLocks noGrp="1"/>
          </p:cNvSpPr>
          <p:nvPr>
            <p:ph type="title"/>
          </p:nvPr>
        </p:nvSpPr>
        <p:spPr/>
        <p:txBody>
          <a:bodyPr/>
          <a:lstStyle/>
          <a:p>
            <a:r>
              <a:rPr lang="pl-PL" dirty="0">
                <a:latin typeface="Times New Roman"/>
                <a:cs typeface="Times New Roman"/>
              </a:rPr>
              <a:t>Sieć MAN</a:t>
            </a:r>
          </a:p>
        </p:txBody>
      </p:sp>
      <p:sp>
        <p:nvSpPr>
          <p:cNvPr id="3" name="Symbol zastępczy zawartości 2">
            <a:extLst>
              <a:ext uri="{FF2B5EF4-FFF2-40B4-BE49-F238E27FC236}">
                <a16:creationId xmlns:a16="http://schemas.microsoft.com/office/drawing/2014/main" id="{A1F0477B-C1E2-1183-55C0-699BB32B381E}"/>
              </a:ext>
            </a:extLst>
          </p:cNvPr>
          <p:cNvSpPr>
            <a:spLocks noGrp="1"/>
          </p:cNvSpPr>
          <p:nvPr>
            <p:ph idx="1"/>
          </p:nvPr>
        </p:nvSpPr>
        <p:spPr>
          <a:xfrm>
            <a:off x="838200" y="1701800"/>
            <a:ext cx="10515600" cy="4351338"/>
          </a:xfrm>
        </p:spPr>
        <p:txBody>
          <a:bodyPr vert="horz" lIns="91440" tIns="45720" rIns="91440" bIns="45720" rtlCol="0" anchor="t">
            <a:normAutofit/>
          </a:bodyPr>
          <a:lstStyle/>
          <a:p>
            <a:r>
              <a:rPr lang="pl-PL" sz="2400" b="1" dirty="0">
                <a:latin typeface="Times New Roman"/>
                <a:ea typeface="Verdana"/>
                <a:cs typeface="Times New Roman"/>
              </a:rPr>
              <a:t>MAN - Miejska sieć komputerowa (ang. Metropolitan </a:t>
            </a:r>
            <a:r>
              <a:rPr lang="pl-PL" sz="2400" b="1" err="1">
                <a:latin typeface="Times New Roman"/>
                <a:ea typeface="Verdana"/>
                <a:cs typeface="Times New Roman"/>
              </a:rPr>
              <a:t>Area</a:t>
            </a:r>
            <a:r>
              <a:rPr lang="pl-PL" sz="2400" b="1" dirty="0">
                <a:latin typeface="Times New Roman"/>
                <a:ea typeface="Verdana"/>
                <a:cs typeface="Times New Roman"/>
              </a:rPr>
              <a:t> Network)</a:t>
            </a:r>
            <a:r>
              <a:rPr lang="pl-PL" sz="2400" dirty="0">
                <a:latin typeface="Times New Roman"/>
                <a:ea typeface="Verdana"/>
                <a:cs typeface="Times New Roman"/>
              </a:rPr>
              <a:t> – miejska sieć komputerowa, połączone w jedno sieci LAN. Połączenie pomiędzy poszczególnymi sieciami lokalnymi odbywa się za pomocą kabli światłowodowych, ewentualnie droga radiową. Sieci MAN bardzo często powstają z inicjatywy szkół wyższych i obejmują swoim zasięgiem aglomeracje miejskie wraz z terenami podmiejskimi. Są również połączone z Internetem.</a:t>
            </a:r>
            <a:endParaRPr lang="pl-PL" sz="2400">
              <a:latin typeface="Times New Roman"/>
              <a:cs typeface="Times New Roman"/>
            </a:endParaRPr>
          </a:p>
        </p:txBody>
      </p:sp>
      <p:pic>
        <p:nvPicPr>
          <p:cNvPr id="4" name="Obraz 3" descr="Miejska sieć komputerowa – Wikipedia, wolna encyklopedia">
            <a:extLst>
              <a:ext uri="{FF2B5EF4-FFF2-40B4-BE49-F238E27FC236}">
                <a16:creationId xmlns:a16="http://schemas.microsoft.com/office/drawing/2014/main" id="{12AA79C8-4A36-0DCF-A965-9AF6522B11DA}"/>
              </a:ext>
            </a:extLst>
          </p:cNvPr>
          <p:cNvPicPr>
            <a:picLocks noChangeAspect="1"/>
          </p:cNvPicPr>
          <p:nvPr/>
        </p:nvPicPr>
        <p:blipFill>
          <a:blip r:embed="rId2"/>
          <a:stretch>
            <a:fillRect/>
          </a:stretch>
        </p:blipFill>
        <p:spPr>
          <a:xfrm>
            <a:off x="7124700" y="3882390"/>
            <a:ext cx="4229100" cy="2531745"/>
          </a:xfrm>
          <a:prstGeom prst="rect">
            <a:avLst/>
          </a:prstGeom>
        </p:spPr>
      </p:pic>
    </p:spTree>
    <p:extLst>
      <p:ext uri="{BB962C8B-B14F-4D97-AF65-F5344CB8AC3E}">
        <p14:creationId xmlns:p14="http://schemas.microsoft.com/office/powerpoint/2010/main" val="1499218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6790FAA-ACCB-BC48-1AA2-7F497CD81B9A}"/>
              </a:ext>
            </a:extLst>
          </p:cNvPr>
          <p:cNvSpPr>
            <a:spLocks noGrp="1"/>
          </p:cNvSpPr>
          <p:nvPr>
            <p:ph type="title"/>
          </p:nvPr>
        </p:nvSpPr>
        <p:spPr/>
        <p:txBody>
          <a:bodyPr/>
          <a:lstStyle/>
          <a:p>
            <a:r>
              <a:rPr lang="pl-PL" dirty="0">
                <a:latin typeface="Times New Roman"/>
                <a:cs typeface="Times New Roman"/>
              </a:rPr>
              <a:t>Sieć WAN</a:t>
            </a:r>
          </a:p>
        </p:txBody>
      </p:sp>
      <p:sp>
        <p:nvSpPr>
          <p:cNvPr id="3" name="Symbol zastępczy zawartości 2">
            <a:extLst>
              <a:ext uri="{FF2B5EF4-FFF2-40B4-BE49-F238E27FC236}">
                <a16:creationId xmlns:a16="http://schemas.microsoft.com/office/drawing/2014/main" id="{3145F2F1-4321-7BE4-070E-E244B5DA8B75}"/>
              </a:ext>
            </a:extLst>
          </p:cNvPr>
          <p:cNvSpPr>
            <a:spLocks noGrp="1"/>
          </p:cNvSpPr>
          <p:nvPr>
            <p:ph idx="1"/>
          </p:nvPr>
        </p:nvSpPr>
        <p:spPr>
          <a:xfrm>
            <a:off x="838200" y="1684111"/>
            <a:ext cx="10515600" cy="4351338"/>
          </a:xfrm>
        </p:spPr>
        <p:txBody>
          <a:bodyPr vert="horz" lIns="91440" tIns="45720" rIns="91440" bIns="45720" rtlCol="0" anchor="t">
            <a:normAutofit/>
          </a:bodyPr>
          <a:lstStyle/>
          <a:p>
            <a:pPr marL="0" indent="0">
              <a:buNone/>
            </a:pPr>
            <a:r>
              <a:rPr lang="pl-PL" sz="2400" b="1" dirty="0">
                <a:latin typeface="Times New Roman"/>
                <a:ea typeface="Verdana"/>
                <a:cs typeface="Times New Roman"/>
              </a:rPr>
              <a:t>WAN - Sieć WAN (z ang. </a:t>
            </a:r>
            <a:r>
              <a:rPr lang="pl-PL" sz="2400" b="1" err="1">
                <a:latin typeface="Times New Roman"/>
                <a:ea typeface="Verdana"/>
                <a:cs typeface="Times New Roman"/>
              </a:rPr>
              <a:t>Wide</a:t>
            </a:r>
            <a:r>
              <a:rPr lang="pl-PL" sz="2400" b="1" dirty="0">
                <a:latin typeface="Times New Roman"/>
                <a:ea typeface="Verdana"/>
                <a:cs typeface="Times New Roman"/>
              </a:rPr>
              <a:t> </a:t>
            </a:r>
            <a:r>
              <a:rPr lang="pl-PL" sz="2400" b="1" err="1">
                <a:latin typeface="Times New Roman"/>
                <a:ea typeface="Verdana"/>
                <a:cs typeface="Times New Roman"/>
              </a:rPr>
              <a:t>Area</a:t>
            </a:r>
            <a:r>
              <a:rPr lang="pl-PL" sz="2400" b="1" dirty="0">
                <a:latin typeface="Times New Roman"/>
                <a:ea typeface="Verdana"/>
                <a:cs typeface="Times New Roman"/>
              </a:rPr>
              <a:t> Network, rozległa sieć komputerowa)</a:t>
            </a:r>
            <a:r>
              <a:rPr lang="pl-PL" sz="2400" dirty="0">
                <a:latin typeface="Times New Roman"/>
                <a:ea typeface="Verdana"/>
                <a:cs typeface="Times New Roman"/>
              </a:rPr>
              <a:t> – sieci MAN łączą się w jeszcze większe struktury. WAN łączą ze sobą komputery w państwach lub na kontynentach dzięki łączom telekomunikacyjnym – kablom, światłowodom, transmisjami drogą radiową lub satelitarną. Przyjmuje się, że największą siecią WAN jest Internet.</a:t>
            </a:r>
            <a:endParaRPr lang="pl-PL" sz="2400">
              <a:latin typeface="Times New Roman"/>
              <a:cs typeface="Times New Roman"/>
            </a:endParaRPr>
          </a:p>
        </p:txBody>
      </p:sp>
      <p:pic>
        <p:nvPicPr>
          <p:cNvPr id="5" name="Obraz 4" descr="Rodzaje sieci komputerowych, topologie fizyczne, przewody sieciowe |  Informatyka ogólna">
            <a:extLst>
              <a:ext uri="{FF2B5EF4-FFF2-40B4-BE49-F238E27FC236}">
                <a16:creationId xmlns:a16="http://schemas.microsoft.com/office/drawing/2014/main" id="{F577D567-0A5A-54FD-1939-ECC809956BA0}"/>
              </a:ext>
            </a:extLst>
          </p:cNvPr>
          <p:cNvPicPr>
            <a:picLocks noChangeAspect="1"/>
          </p:cNvPicPr>
          <p:nvPr/>
        </p:nvPicPr>
        <p:blipFill>
          <a:blip r:embed="rId2"/>
          <a:stretch>
            <a:fillRect/>
          </a:stretch>
        </p:blipFill>
        <p:spPr>
          <a:xfrm>
            <a:off x="7467600" y="3425158"/>
            <a:ext cx="3886200" cy="2968598"/>
          </a:xfrm>
          <a:prstGeom prst="rect">
            <a:avLst/>
          </a:prstGeom>
        </p:spPr>
      </p:pic>
    </p:spTree>
    <p:extLst>
      <p:ext uri="{BB962C8B-B14F-4D97-AF65-F5344CB8AC3E}">
        <p14:creationId xmlns:p14="http://schemas.microsoft.com/office/powerpoint/2010/main" val="26455245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2AD3CA5-47F8-13DF-54A1-4BA30CD0706E}"/>
              </a:ext>
            </a:extLst>
          </p:cNvPr>
          <p:cNvSpPr>
            <a:spLocks noGrp="1"/>
          </p:cNvSpPr>
          <p:nvPr>
            <p:ph type="title"/>
          </p:nvPr>
        </p:nvSpPr>
        <p:spPr/>
        <p:txBody>
          <a:bodyPr/>
          <a:lstStyle/>
          <a:p>
            <a:r>
              <a:rPr lang="pl-PL" dirty="0">
                <a:latin typeface="Times New Roman"/>
                <a:ea typeface="+mj-lt"/>
                <a:cs typeface="+mj-lt"/>
              </a:rPr>
              <a:t>Podział sieci ze względu na architekturę</a:t>
            </a:r>
            <a:endParaRPr lang="pl-PL" dirty="0">
              <a:latin typeface="Times New Roman"/>
              <a:cs typeface="Times New Roman"/>
            </a:endParaRPr>
          </a:p>
        </p:txBody>
      </p:sp>
      <p:sp>
        <p:nvSpPr>
          <p:cNvPr id="3" name="Symbol zastępczy zawartości 2">
            <a:extLst>
              <a:ext uri="{FF2B5EF4-FFF2-40B4-BE49-F238E27FC236}">
                <a16:creationId xmlns:a16="http://schemas.microsoft.com/office/drawing/2014/main" id="{87230119-B751-C2CE-DED7-D76A36399D13}"/>
              </a:ext>
            </a:extLst>
          </p:cNvPr>
          <p:cNvSpPr>
            <a:spLocks noGrp="1"/>
          </p:cNvSpPr>
          <p:nvPr>
            <p:ph idx="1"/>
          </p:nvPr>
        </p:nvSpPr>
        <p:spPr/>
        <p:txBody>
          <a:bodyPr vert="horz" lIns="91440" tIns="45720" rIns="91440" bIns="45720" rtlCol="0" anchor="t">
            <a:normAutofit/>
          </a:bodyPr>
          <a:lstStyle/>
          <a:p>
            <a:r>
              <a:rPr lang="pl-PL" sz="2400" b="1" dirty="0">
                <a:latin typeface="Times New Roman"/>
                <a:ea typeface="+mn-lt"/>
                <a:cs typeface="+mn-lt"/>
              </a:rPr>
              <a:t>Sieć klient-serwer</a:t>
            </a:r>
            <a:r>
              <a:rPr lang="pl-PL" sz="2400" dirty="0">
                <a:latin typeface="Times New Roman"/>
                <a:ea typeface="+mn-lt"/>
                <a:cs typeface="+mn-lt"/>
              </a:rPr>
              <a:t> – centralny serwer zarządza zasobami</a:t>
            </a:r>
            <a:endParaRPr lang="pl-PL" sz="2400">
              <a:latin typeface="Times New Roman"/>
              <a:cs typeface="Times New Roman"/>
            </a:endParaRPr>
          </a:p>
          <a:p>
            <a:r>
              <a:rPr lang="pl-PL" sz="2400" b="1" dirty="0">
                <a:latin typeface="Times New Roman"/>
                <a:ea typeface="+mn-lt"/>
                <a:cs typeface="+mn-lt"/>
              </a:rPr>
              <a:t>Sieć </a:t>
            </a:r>
            <a:r>
              <a:rPr lang="pl-PL" sz="2400" b="1" err="1">
                <a:latin typeface="Times New Roman"/>
                <a:ea typeface="+mn-lt"/>
                <a:cs typeface="+mn-lt"/>
              </a:rPr>
              <a:t>peer</a:t>
            </a:r>
            <a:r>
              <a:rPr lang="pl-PL" sz="2400" b="1" dirty="0">
                <a:latin typeface="Times New Roman"/>
                <a:ea typeface="+mn-lt"/>
                <a:cs typeface="+mn-lt"/>
              </a:rPr>
              <a:t>-to-</a:t>
            </a:r>
            <a:r>
              <a:rPr lang="pl-PL" sz="2400" b="1" err="1">
                <a:latin typeface="Times New Roman"/>
                <a:ea typeface="+mn-lt"/>
                <a:cs typeface="+mn-lt"/>
              </a:rPr>
              <a:t>peer</a:t>
            </a:r>
            <a:r>
              <a:rPr lang="pl-PL" sz="2400" b="1" dirty="0">
                <a:latin typeface="Times New Roman"/>
                <a:ea typeface="+mn-lt"/>
                <a:cs typeface="+mn-lt"/>
              </a:rPr>
              <a:t> (P2P)</a:t>
            </a:r>
            <a:r>
              <a:rPr lang="pl-PL" sz="2400" dirty="0">
                <a:latin typeface="Times New Roman"/>
                <a:ea typeface="+mn-lt"/>
                <a:cs typeface="+mn-lt"/>
              </a:rPr>
              <a:t> – brak centralnego serwera, każdy komputer równorzędny</a:t>
            </a:r>
            <a:endParaRPr lang="pl-PL" sz="2400">
              <a:latin typeface="Times New Roman"/>
              <a:cs typeface="Times New Roman"/>
            </a:endParaRPr>
          </a:p>
          <a:p>
            <a:endParaRPr lang="pl-PL" sz="2400" dirty="0">
              <a:latin typeface="Times New Roman"/>
              <a:cs typeface="Times New Roman"/>
            </a:endParaRPr>
          </a:p>
        </p:txBody>
      </p:sp>
    </p:spTree>
    <p:extLst>
      <p:ext uri="{BB962C8B-B14F-4D97-AF65-F5344CB8AC3E}">
        <p14:creationId xmlns:p14="http://schemas.microsoft.com/office/powerpoint/2010/main" val="19695761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CF6727B-26BF-7C12-3C5D-A7DCCFC8470F}"/>
              </a:ext>
            </a:extLst>
          </p:cNvPr>
          <p:cNvSpPr>
            <a:spLocks noGrp="1"/>
          </p:cNvSpPr>
          <p:nvPr>
            <p:ph type="title"/>
          </p:nvPr>
        </p:nvSpPr>
        <p:spPr/>
        <p:txBody>
          <a:bodyPr>
            <a:normAutofit/>
          </a:bodyPr>
          <a:lstStyle/>
          <a:p>
            <a:r>
              <a:rPr lang="pl-PL" dirty="0">
                <a:latin typeface="Times New Roman"/>
                <a:cs typeface="Times New Roman"/>
              </a:rPr>
              <a:t>Sieć klient-serwer</a:t>
            </a:r>
          </a:p>
        </p:txBody>
      </p:sp>
      <p:sp>
        <p:nvSpPr>
          <p:cNvPr id="3" name="Symbol zastępczy zawartości 2">
            <a:extLst>
              <a:ext uri="{FF2B5EF4-FFF2-40B4-BE49-F238E27FC236}">
                <a16:creationId xmlns:a16="http://schemas.microsoft.com/office/drawing/2014/main" id="{6AD8D2AB-0512-AD23-3E28-B0A494839BCF}"/>
              </a:ext>
            </a:extLst>
          </p:cNvPr>
          <p:cNvSpPr>
            <a:spLocks noGrp="1"/>
          </p:cNvSpPr>
          <p:nvPr>
            <p:ph idx="1"/>
          </p:nvPr>
        </p:nvSpPr>
        <p:spPr>
          <a:xfrm>
            <a:off x="838200" y="1716768"/>
            <a:ext cx="7946572" cy="4318681"/>
          </a:xfrm>
        </p:spPr>
        <p:txBody>
          <a:bodyPr vert="horz" lIns="91440" tIns="45720" rIns="91440" bIns="45720" rtlCol="0" anchor="t">
            <a:normAutofit fontScale="92500"/>
          </a:bodyPr>
          <a:lstStyle/>
          <a:p>
            <a:pPr marL="0" indent="0">
              <a:buNone/>
            </a:pPr>
            <a:r>
              <a:rPr lang="pl-PL" sz="2400" dirty="0">
                <a:solidFill>
                  <a:srgbClr val="000000"/>
                </a:solidFill>
                <a:latin typeface="Times New Roman"/>
                <a:ea typeface="+mn-lt"/>
                <a:cs typeface="Times New Roman"/>
              </a:rPr>
              <a:t>Architektura Klient-Serwer to model komunikacyjny, który stał się fundamentem współczesnego </a:t>
            </a:r>
            <a:r>
              <a:rPr lang="pl-PL" sz="2400" dirty="0" err="1">
                <a:solidFill>
                  <a:srgbClr val="000000"/>
                </a:solidFill>
                <a:latin typeface="Times New Roman"/>
                <a:ea typeface="+mn-lt"/>
                <a:cs typeface="Times New Roman"/>
              </a:rPr>
              <a:t>internetu</a:t>
            </a:r>
            <a:r>
              <a:rPr lang="pl-PL" sz="2400" dirty="0">
                <a:solidFill>
                  <a:srgbClr val="000000"/>
                </a:solidFill>
                <a:latin typeface="Times New Roman"/>
                <a:ea typeface="+mn-lt"/>
                <a:cs typeface="Times New Roman"/>
              </a:rPr>
              <a:t> i zdecydowanej większości aplikacji sieciowych</a:t>
            </a:r>
            <a:r>
              <a:rPr lang="pl-PL" sz="2400" dirty="0">
                <a:latin typeface="Times New Roman"/>
                <a:ea typeface="+mn-lt"/>
                <a:cs typeface="Times New Roman"/>
              </a:rPr>
              <a:t>.</a:t>
            </a:r>
            <a:r>
              <a:rPr lang="pl-PL" sz="2400" dirty="0">
                <a:solidFill>
                  <a:srgbClr val="000000"/>
                </a:solidFill>
                <a:latin typeface="Times New Roman"/>
                <a:ea typeface="+mn-lt"/>
                <a:cs typeface="Times New Roman"/>
              </a:rPr>
              <a:t> To podejście do strukturyzacji aplikacji opiera się na rozdzieleniu zadań między dostawcami usług, czyli serwerami i tymi, którzy te usługi wykorzystują, czyli klientami. Klient to zazwyczaj komputer, smartfon lub inny sprzęt, na którym uruchomiony jest program kliencki. Serwer to natomiast sprzęt z odpowiednim oprogramowaniem, które jest w stanie świadczyć określoną usługę lub zestaw usług. Rozumienie architektury klient-serwer stanowi fundament dla tworzenia skutecznych i efektywnych systemów informatycznych</a:t>
            </a:r>
            <a:r>
              <a:rPr lang="pl-PL" sz="2400" dirty="0">
                <a:latin typeface="Times New Roman"/>
                <a:ea typeface="+mn-lt"/>
                <a:cs typeface="Times New Roman"/>
              </a:rPr>
              <a:t>.</a:t>
            </a:r>
            <a:endParaRPr lang="pl-PL" dirty="0"/>
          </a:p>
          <a:p>
            <a:pPr marL="0" indent="0">
              <a:buNone/>
            </a:pPr>
            <a:br>
              <a:rPr lang="en-US" dirty="0"/>
            </a:br>
            <a:endParaRPr lang="en-US" dirty="0"/>
          </a:p>
        </p:txBody>
      </p:sp>
      <p:pic>
        <p:nvPicPr>
          <p:cNvPr id="4" name="Obraz 3" descr="undefined">
            <a:extLst>
              <a:ext uri="{FF2B5EF4-FFF2-40B4-BE49-F238E27FC236}">
                <a16:creationId xmlns:a16="http://schemas.microsoft.com/office/drawing/2014/main" id="{830B0A80-3C19-6659-8A52-0E268B358D83}"/>
              </a:ext>
            </a:extLst>
          </p:cNvPr>
          <p:cNvPicPr>
            <a:picLocks noChangeAspect="1"/>
          </p:cNvPicPr>
          <p:nvPr/>
        </p:nvPicPr>
        <p:blipFill>
          <a:blip r:embed="rId2"/>
          <a:stretch>
            <a:fillRect/>
          </a:stretch>
        </p:blipFill>
        <p:spPr>
          <a:xfrm>
            <a:off x="8763000" y="1716605"/>
            <a:ext cx="3428999" cy="3544532"/>
          </a:xfrm>
          <a:prstGeom prst="rect">
            <a:avLst/>
          </a:prstGeom>
        </p:spPr>
      </p:pic>
    </p:spTree>
    <p:extLst>
      <p:ext uri="{BB962C8B-B14F-4D97-AF65-F5344CB8AC3E}">
        <p14:creationId xmlns:p14="http://schemas.microsoft.com/office/powerpoint/2010/main" val="9773909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1DF9BE2-1E5E-2BCB-506C-DDA317679571}"/>
              </a:ext>
            </a:extLst>
          </p:cNvPr>
          <p:cNvSpPr>
            <a:spLocks noGrp="1"/>
          </p:cNvSpPr>
          <p:nvPr>
            <p:ph type="title"/>
          </p:nvPr>
        </p:nvSpPr>
        <p:spPr>
          <a:xfrm>
            <a:off x="838200" y="865867"/>
            <a:ext cx="10515600" cy="1325563"/>
          </a:xfrm>
        </p:spPr>
        <p:txBody>
          <a:bodyPr>
            <a:normAutofit fontScale="90000"/>
          </a:bodyPr>
          <a:lstStyle/>
          <a:p>
            <a:r>
              <a:rPr lang="pl-PL" dirty="0">
                <a:latin typeface="Times New Roman"/>
                <a:cs typeface="Times New Roman"/>
              </a:rPr>
              <a:t>Jak działa model Klient-Serwer? Główne mechanizmy i procesy</a:t>
            </a:r>
          </a:p>
          <a:p>
            <a:br>
              <a:rPr lang="en-US" dirty="0"/>
            </a:br>
            <a:endParaRPr lang="en-US">
              <a:latin typeface="Times New Roman"/>
              <a:cs typeface="Times New Roman"/>
            </a:endParaRPr>
          </a:p>
        </p:txBody>
      </p:sp>
      <p:sp>
        <p:nvSpPr>
          <p:cNvPr id="3" name="Symbol zastępczy zawartości 2">
            <a:extLst>
              <a:ext uri="{FF2B5EF4-FFF2-40B4-BE49-F238E27FC236}">
                <a16:creationId xmlns:a16="http://schemas.microsoft.com/office/drawing/2014/main" id="{2E7E78F8-A518-C0D1-3A99-910A686CF581}"/>
              </a:ext>
            </a:extLst>
          </p:cNvPr>
          <p:cNvSpPr>
            <a:spLocks noGrp="1"/>
          </p:cNvSpPr>
          <p:nvPr>
            <p:ph idx="1"/>
          </p:nvPr>
        </p:nvSpPr>
        <p:spPr>
          <a:xfrm>
            <a:off x="838200" y="1716767"/>
            <a:ext cx="10515600" cy="4351338"/>
          </a:xfrm>
        </p:spPr>
        <p:txBody>
          <a:bodyPr vert="horz" lIns="91440" tIns="45720" rIns="91440" bIns="45720" rtlCol="0" anchor="t">
            <a:normAutofit/>
          </a:bodyPr>
          <a:lstStyle/>
          <a:p>
            <a:pPr marL="0" indent="0">
              <a:buNone/>
            </a:pPr>
            <a:r>
              <a:rPr lang="pl-PL" sz="2400" dirty="0">
                <a:latin typeface="Times New Roman"/>
                <a:cs typeface="Times New Roman"/>
              </a:rPr>
              <a:t>Model Klient-Serwer to podstawowy schemat, w którym klient (najczęściej jest to urządzenie końcowe użytkownika) wysyła zapytanie do serwera, który przetwarza żądanie i zwraca odpowiedź. Klient, po otrzymaniu odpowiedzi, może wysłać kolejne żądanie lub zakończyć sesję. Kluczowe procesy w tej architekturze obejmują nawiązywanie połączenia, przesyłanie danych, przetwarzanie na serwerze i zwracanie odpowiedzi do klienta. Wszystko to odbywa się zazwyczaj poprzez protokoły komunikacyjne, takie jak TCP/IP. Algorytmy i procedury, które zarządzają tymi interakcjami, są fundamentalne dla działania Internetu oraz dla wielu aplikacji sieciowych, takich jak e-mail, przeglądarki internetowe czy różnego rodzaju systemy zarządzania bazami danych.</a:t>
            </a:r>
          </a:p>
        </p:txBody>
      </p:sp>
    </p:spTree>
    <p:extLst>
      <p:ext uri="{BB962C8B-B14F-4D97-AF65-F5344CB8AC3E}">
        <p14:creationId xmlns:p14="http://schemas.microsoft.com/office/powerpoint/2010/main" val="1759571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ACCF0F0-B9DD-2FD4-71E8-998EF5664ECF}"/>
              </a:ext>
            </a:extLst>
          </p:cNvPr>
          <p:cNvSpPr>
            <a:spLocks noGrp="1"/>
          </p:cNvSpPr>
          <p:nvPr>
            <p:ph type="title"/>
          </p:nvPr>
        </p:nvSpPr>
        <p:spPr/>
        <p:txBody>
          <a:bodyPr/>
          <a:lstStyle/>
          <a:p>
            <a:r>
              <a:rPr lang="pl-PL" dirty="0">
                <a:latin typeface="Times New Roman"/>
                <a:cs typeface="Times New Roman"/>
              </a:rPr>
              <a:t>Zalety i wady architektury Klient-Serwer</a:t>
            </a:r>
          </a:p>
          <a:p>
            <a:endParaRPr lang="pl-PL" dirty="0">
              <a:latin typeface="Times New Roman"/>
              <a:cs typeface="Times New Roman"/>
            </a:endParaRPr>
          </a:p>
        </p:txBody>
      </p:sp>
      <p:sp>
        <p:nvSpPr>
          <p:cNvPr id="3" name="Symbol zastępczy zawartości 2">
            <a:extLst>
              <a:ext uri="{FF2B5EF4-FFF2-40B4-BE49-F238E27FC236}">
                <a16:creationId xmlns:a16="http://schemas.microsoft.com/office/drawing/2014/main" id="{D7034CA2-5339-11B1-24A2-C4A3B84E4478}"/>
              </a:ext>
            </a:extLst>
          </p:cNvPr>
          <p:cNvSpPr>
            <a:spLocks noGrp="1"/>
          </p:cNvSpPr>
          <p:nvPr>
            <p:ph idx="1"/>
          </p:nvPr>
        </p:nvSpPr>
        <p:spPr>
          <a:xfrm>
            <a:off x="838200" y="1701800"/>
            <a:ext cx="10515600" cy="4351338"/>
          </a:xfrm>
        </p:spPr>
        <p:txBody>
          <a:bodyPr vert="horz" lIns="91440" tIns="45720" rIns="91440" bIns="45720" rtlCol="0" anchor="t">
            <a:noAutofit/>
          </a:bodyPr>
          <a:lstStyle/>
          <a:p>
            <a:pPr marL="0" indent="0">
              <a:buNone/>
            </a:pPr>
            <a:r>
              <a:rPr lang="pl-PL" sz="2400" dirty="0">
                <a:latin typeface="Times New Roman"/>
                <a:ea typeface="+mn-lt"/>
                <a:cs typeface="+mn-lt"/>
              </a:rPr>
              <a:t>Wydajność jest jednym z kluczowych elementów tej architektury, gdyż dzięki rozdzieleniu funkcji między różne maszyny, zasoby są wykorzystywane efektywnie. Ponadto, modułowość umożliwia łatwą konserwację i rozbudowę systemu. Nie mniej istotne jest także, że zmiany mogą być wprowadzane tylko po stronie serwera, nie wpływając bezpośrednio na klientów. Jej głównymi wadami są zależność od jednego centralnego serwera, co może prowadzić do problemów z niezawodnością i dostępnością oraz możliwością stania się </a:t>
            </a:r>
            <a:r>
              <a:rPr lang="pl-PL" sz="2400" dirty="0" err="1">
                <a:latin typeface="Times New Roman"/>
                <a:ea typeface="+mn-lt"/>
                <a:cs typeface="+mn-lt"/>
              </a:rPr>
              <a:t>bottleneckiem</a:t>
            </a:r>
            <a:r>
              <a:rPr lang="pl-PL" sz="2400" dirty="0">
                <a:latin typeface="Times New Roman"/>
                <a:ea typeface="+mn-lt"/>
                <a:cs typeface="+mn-lt"/>
              </a:rPr>
              <a:t> w skali dużego systemu. W zabezpieczeniach także pojawiają się wyzwania, ponieważ wystarczy jedno najsłabsze ogniwo - serwer lub klient, by stworzyć potencjalny punkt dla ataku.</a:t>
            </a:r>
            <a:endParaRPr lang="pl-PL" sz="2400" dirty="0">
              <a:latin typeface="Times New Roman"/>
              <a:ea typeface="+mn-lt"/>
              <a:cs typeface="Times New Roman"/>
            </a:endParaRPr>
          </a:p>
          <a:p>
            <a:pPr marL="0" indent="0">
              <a:buNone/>
            </a:pPr>
            <a:br>
              <a:rPr lang="en-US" dirty="0"/>
            </a:br>
            <a:endParaRPr lang="en-US" sz="2400">
              <a:latin typeface="Times New Roman"/>
              <a:ea typeface="+mn-lt"/>
              <a:cs typeface="Times New Roman"/>
            </a:endParaRPr>
          </a:p>
          <a:p>
            <a:pPr marL="0" indent="0">
              <a:buNone/>
            </a:pPr>
            <a:endParaRPr lang="pl-PL" sz="2400" dirty="0">
              <a:latin typeface="Times New Roman"/>
              <a:cs typeface="Times New Roman"/>
            </a:endParaRPr>
          </a:p>
        </p:txBody>
      </p:sp>
    </p:spTree>
    <p:extLst>
      <p:ext uri="{BB962C8B-B14F-4D97-AF65-F5344CB8AC3E}">
        <p14:creationId xmlns:p14="http://schemas.microsoft.com/office/powerpoint/2010/main" val="38685170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AFE1A7E-99B2-3E69-1676-D17C4F6F7F60}"/>
              </a:ext>
            </a:extLst>
          </p:cNvPr>
          <p:cNvSpPr>
            <a:spLocks noGrp="1"/>
          </p:cNvSpPr>
          <p:nvPr>
            <p:ph type="title"/>
          </p:nvPr>
        </p:nvSpPr>
        <p:spPr>
          <a:xfrm>
            <a:off x="838200" y="-4989"/>
            <a:ext cx="10515600" cy="1325563"/>
          </a:xfrm>
        </p:spPr>
        <p:txBody>
          <a:bodyPr>
            <a:normAutofit/>
          </a:bodyPr>
          <a:lstStyle/>
          <a:p>
            <a:r>
              <a:rPr lang="pl-PL" dirty="0">
                <a:latin typeface="Times New Roman"/>
                <a:cs typeface="Times New Roman"/>
              </a:rPr>
              <a:t>Sieć </a:t>
            </a:r>
            <a:r>
              <a:rPr lang="pl-PL" err="1">
                <a:latin typeface="Times New Roman"/>
                <a:cs typeface="Times New Roman"/>
              </a:rPr>
              <a:t>peer</a:t>
            </a:r>
            <a:r>
              <a:rPr lang="pl-PL" dirty="0">
                <a:latin typeface="Times New Roman"/>
                <a:cs typeface="Times New Roman"/>
              </a:rPr>
              <a:t>-to-</a:t>
            </a:r>
            <a:r>
              <a:rPr lang="pl-PL" err="1">
                <a:latin typeface="Times New Roman"/>
                <a:cs typeface="Times New Roman"/>
              </a:rPr>
              <a:t>peer</a:t>
            </a:r>
            <a:r>
              <a:rPr lang="pl-PL" dirty="0">
                <a:latin typeface="Times New Roman"/>
                <a:cs typeface="Times New Roman"/>
              </a:rPr>
              <a:t> (P2P)</a:t>
            </a:r>
          </a:p>
        </p:txBody>
      </p:sp>
      <p:sp>
        <p:nvSpPr>
          <p:cNvPr id="3" name="Symbol zastępczy zawartości 2">
            <a:extLst>
              <a:ext uri="{FF2B5EF4-FFF2-40B4-BE49-F238E27FC236}">
                <a16:creationId xmlns:a16="http://schemas.microsoft.com/office/drawing/2014/main" id="{25E69476-B572-7EED-24C5-0AE88C4CB06F}"/>
              </a:ext>
            </a:extLst>
          </p:cNvPr>
          <p:cNvSpPr>
            <a:spLocks noGrp="1"/>
          </p:cNvSpPr>
          <p:nvPr>
            <p:ph idx="1"/>
          </p:nvPr>
        </p:nvSpPr>
        <p:spPr>
          <a:xfrm>
            <a:off x="838200" y="1313997"/>
            <a:ext cx="8414658" cy="5265738"/>
          </a:xfrm>
        </p:spPr>
        <p:txBody>
          <a:bodyPr vert="horz" lIns="91440" tIns="45720" rIns="91440" bIns="45720" rtlCol="0" anchor="t">
            <a:normAutofit/>
          </a:bodyPr>
          <a:lstStyle/>
          <a:p>
            <a:pPr marL="0" indent="0">
              <a:buNone/>
            </a:pPr>
            <a:r>
              <a:rPr lang="pl-PL" sz="2400" dirty="0">
                <a:solidFill>
                  <a:srgbClr val="1C1C1C"/>
                </a:solidFill>
                <a:latin typeface="Times New Roman"/>
                <a:cs typeface="Times New Roman"/>
              </a:rPr>
              <a:t>Peer-to-Peer to wyjątkowy model sieci komputerowej, w którym wszystkie połączone ze sobą urządzenia posiadają takie same uprawnienia. Nie ma tu hierarchii lub stopniowania urządzeń – każdy element sieci pełni w niej te same funkcje. Sama sieć komputerowa to w dużym skrócie grupa połączonych ze sobą komputerów. Ów połączenie umożliwia przesyłanie informacji i wymianę danych pomiędzy urządzeniami. Elementy wchodzące w skład takiej sieci nazywane są punktami sieciowymi. Wyróżnikiem połączenia P2P jest więc brak wyraźnego podziału między punktami sieciowymi. Każdy z nich posiada jednakowe uprawnienia. W procesie przekazywania informacji może występować w dwóch rolach – zarówno odbiorcy, jak i serwera przechowującego dane. Wpływa to m.in. na wzrost bezpieczeństwa danych. Im więcej użytkowników w sieci, tym informacje będą lepiej przechowywane i przetwarzane.</a:t>
            </a:r>
            <a:endParaRPr lang="pl-PL" sz="2400" dirty="0">
              <a:latin typeface="Times New Roman"/>
              <a:cs typeface="Times New Roman"/>
            </a:endParaRPr>
          </a:p>
          <a:p>
            <a:pPr marL="0" indent="0">
              <a:buNone/>
            </a:pPr>
            <a:endParaRPr lang="pl-PL" sz="2400" dirty="0">
              <a:latin typeface="Times New Roman"/>
              <a:cs typeface="Times New Roman"/>
            </a:endParaRPr>
          </a:p>
        </p:txBody>
      </p:sp>
      <p:pic>
        <p:nvPicPr>
          <p:cNvPr id="4" name="Obraz 3" descr="Sieci równorzędne oraz klient - serwer | Informatyka ogólna">
            <a:extLst>
              <a:ext uri="{FF2B5EF4-FFF2-40B4-BE49-F238E27FC236}">
                <a16:creationId xmlns:a16="http://schemas.microsoft.com/office/drawing/2014/main" id="{22F78160-6F24-474C-C816-E375D6E9F8B0}"/>
              </a:ext>
            </a:extLst>
          </p:cNvPr>
          <p:cNvPicPr>
            <a:picLocks noChangeAspect="1"/>
          </p:cNvPicPr>
          <p:nvPr/>
        </p:nvPicPr>
        <p:blipFill>
          <a:blip r:embed="rId2"/>
          <a:stretch>
            <a:fillRect/>
          </a:stretch>
        </p:blipFill>
        <p:spPr>
          <a:xfrm>
            <a:off x="9252857" y="1305412"/>
            <a:ext cx="2743200" cy="2636090"/>
          </a:xfrm>
          <a:prstGeom prst="rect">
            <a:avLst/>
          </a:prstGeom>
        </p:spPr>
      </p:pic>
    </p:spTree>
    <p:extLst>
      <p:ext uri="{BB962C8B-B14F-4D97-AF65-F5344CB8AC3E}">
        <p14:creationId xmlns:p14="http://schemas.microsoft.com/office/powerpoint/2010/main" val="37266918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8A8C9B3-8673-D785-1D4F-9C95197912EA}"/>
              </a:ext>
            </a:extLst>
          </p:cNvPr>
          <p:cNvSpPr>
            <a:spLocks noGrp="1"/>
          </p:cNvSpPr>
          <p:nvPr>
            <p:ph type="title"/>
          </p:nvPr>
        </p:nvSpPr>
        <p:spPr>
          <a:xfrm>
            <a:off x="838200" y="1050925"/>
            <a:ext cx="10515600" cy="1325563"/>
          </a:xfrm>
        </p:spPr>
        <p:txBody>
          <a:bodyPr vert="horz" lIns="91440" tIns="45720" rIns="91440" bIns="45720" rtlCol="0" anchor="ctr">
            <a:noAutofit/>
          </a:bodyPr>
          <a:lstStyle/>
          <a:p>
            <a:r>
              <a:rPr lang="pl-PL" dirty="0">
                <a:latin typeface="Aptos Display"/>
                <a:cs typeface="Times New Roman"/>
              </a:rPr>
              <a:t>Jak działa model P2P? Główne mechanizmy i procesy</a:t>
            </a:r>
          </a:p>
          <a:p>
            <a:br>
              <a:rPr lang="pl-PL" dirty="0"/>
            </a:br>
            <a:endParaRPr lang="pl-PL" dirty="0">
              <a:latin typeface="Aptos Display"/>
              <a:cs typeface="Times New Roman"/>
            </a:endParaRPr>
          </a:p>
          <a:p>
            <a:endParaRPr lang="pl-PL" dirty="0"/>
          </a:p>
        </p:txBody>
      </p:sp>
      <p:sp>
        <p:nvSpPr>
          <p:cNvPr id="3" name="Symbol zastępczy zawartości 2">
            <a:extLst>
              <a:ext uri="{FF2B5EF4-FFF2-40B4-BE49-F238E27FC236}">
                <a16:creationId xmlns:a16="http://schemas.microsoft.com/office/drawing/2014/main" id="{8397D140-3306-0951-A2DB-77B70533722E}"/>
              </a:ext>
            </a:extLst>
          </p:cNvPr>
          <p:cNvSpPr>
            <a:spLocks noGrp="1"/>
          </p:cNvSpPr>
          <p:nvPr>
            <p:ph idx="1"/>
          </p:nvPr>
        </p:nvSpPr>
        <p:spPr>
          <a:xfrm>
            <a:off x="838200" y="1553482"/>
            <a:ext cx="10515600" cy="4351338"/>
          </a:xfrm>
        </p:spPr>
        <p:txBody>
          <a:bodyPr vert="horz" lIns="91440" tIns="45720" rIns="91440" bIns="45720" rtlCol="0" anchor="t">
            <a:noAutofit/>
          </a:bodyPr>
          <a:lstStyle/>
          <a:p>
            <a:pPr marL="0" indent="0">
              <a:buNone/>
            </a:pPr>
            <a:r>
              <a:rPr lang="pl-PL" sz="2400" dirty="0">
                <a:latin typeface="Times New Roman"/>
                <a:ea typeface="+mn-lt"/>
                <a:cs typeface="+mn-lt"/>
              </a:rPr>
              <a:t>Model Peer-to-Peer (P2P) to architektura sieciowa, w której każdy węzeł pełni jednocześnie rolę klienta i serwera, umożliwiając bezpośrednią wymianę danych między uczestnikami sieci. W przeciwieństwie do modelu Klient-Serwer, w P2P nie ma centralnego serwera zarządzającego ruchem – wszystkie węzły komunikują się ze sobą równorzędnie. Kluczowe procesy w tej architekturze obejmują identyfikację i odkrywanie węzłów, nawiązywanie połączeń, przesyłanie i replikację danych oraz zarządzanie zasobami. Węzły mogą dynamicznie dołączać i opuszczać sieć, co wymaga stosowania mechanizmów odporności na awarie i redundancji. Komunikacja w sieci P2P odbywa się zazwyczaj poprzez zdecentralizowane protokoły, takie jak DHT (Distributed </a:t>
            </a:r>
            <a:r>
              <a:rPr lang="pl-PL" sz="2400" dirty="0" err="1">
                <a:latin typeface="Times New Roman"/>
                <a:ea typeface="+mn-lt"/>
                <a:cs typeface="+mn-lt"/>
              </a:rPr>
              <a:t>Hash</a:t>
            </a:r>
            <a:r>
              <a:rPr lang="pl-PL" sz="2400" dirty="0">
                <a:latin typeface="Times New Roman"/>
                <a:ea typeface="+mn-lt"/>
                <a:cs typeface="+mn-lt"/>
              </a:rPr>
              <a:t> </a:t>
            </a:r>
            <a:r>
              <a:rPr lang="pl-PL" sz="2400" dirty="0" err="1">
                <a:latin typeface="Times New Roman"/>
                <a:ea typeface="+mn-lt"/>
                <a:cs typeface="+mn-lt"/>
              </a:rPr>
              <a:t>Table</a:t>
            </a:r>
            <a:r>
              <a:rPr lang="pl-PL" sz="2400" dirty="0">
                <a:latin typeface="Times New Roman"/>
                <a:ea typeface="+mn-lt"/>
                <a:cs typeface="+mn-lt"/>
              </a:rPr>
              <a:t>) lub protokoły hybrydowe, które mogą wykorzystywać centralne elementy do indeksowania zasobów. Algorytmy i procedury zarządzające ruchem w P2P są wykorzystywane w różnych zastosowaniach, takich jak udostępnianie plików (</a:t>
            </a:r>
            <a:r>
              <a:rPr lang="pl-PL" sz="2400" dirty="0" err="1">
                <a:latin typeface="Times New Roman"/>
                <a:ea typeface="+mn-lt"/>
                <a:cs typeface="+mn-lt"/>
              </a:rPr>
              <a:t>BitTorrent</a:t>
            </a:r>
            <a:r>
              <a:rPr lang="pl-PL" sz="2400" dirty="0">
                <a:latin typeface="Times New Roman"/>
                <a:ea typeface="+mn-lt"/>
                <a:cs typeface="+mn-lt"/>
              </a:rPr>
              <a:t>), komunikacja zdecentralizowana (Tor), </a:t>
            </a:r>
            <a:r>
              <a:rPr lang="pl-PL" sz="2400" dirty="0" err="1">
                <a:latin typeface="Times New Roman"/>
                <a:ea typeface="+mn-lt"/>
                <a:cs typeface="+mn-lt"/>
              </a:rPr>
              <a:t>blockchain</a:t>
            </a:r>
            <a:r>
              <a:rPr lang="pl-PL" sz="2400" dirty="0">
                <a:latin typeface="Times New Roman"/>
                <a:ea typeface="+mn-lt"/>
                <a:cs typeface="+mn-lt"/>
              </a:rPr>
              <a:t> (</a:t>
            </a:r>
            <a:r>
              <a:rPr lang="pl-PL" sz="2400" dirty="0" err="1">
                <a:latin typeface="Times New Roman"/>
                <a:ea typeface="+mn-lt"/>
                <a:cs typeface="+mn-lt"/>
              </a:rPr>
              <a:t>Bitcoin</a:t>
            </a:r>
            <a:r>
              <a:rPr lang="pl-PL" sz="2400" dirty="0">
                <a:latin typeface="Times New Roman"/>
                <a:ea typeface="+mn-lt"/>
                <a:cs typeface="+mn-lt"/>
              </a:rPr>
              <a:t>, </a:t>
            </a:r>
            <a:r>
              <a:rPr lang="pl-PL" sz="2400" dirty="0" err="1">
                <a:latin typeface="Times New Roman"/>
                <a:ea typeface="+mn-lt"/>
                <a:cs typeface="+mn-lt"/>
              </a:rPr>
              <a:t>Ethereum</a:t>
            </a:r>
            <a:r>
              <a:rPr lang="pl-PL" sz="2400" dirty="0">
                <a:latin typeface="Times New Roman"/>
                <a:ea typeface="+mn-lt"/>
                <a:cs typeface="+mn-lt"/>
              </a:rPr>
              <a:t>) czy rozproszone systemy przechowywania danych (IPFS).</a:t>
            </a:r>
            <a:endParaRPr lang="pl-PL" sz="2400" dirty="0">
              <a:latin typeface="Times New Roman"/>
              <a:cs typeface="Times New Roman"/>
            </a:endParaRPr>
          </a:p>
          <a:p>
            <a:pPr marL="0" indent="0">
              <a:buNone/>
            </a:pPr>
            <a:endParaRPr lang="pl-PL" sz="2400" dirty="0">
              <a:latin typeface="Times New Roman"/>
              <a:cs typeface="Times New Roman"/>
            </a:endParaRPr>
          </a:p>
        </p:txBody>
      </p:sp>
    </p:spTree>
    <p:extLst>
      <p:ext uri="{BB962C8B-B14F-4D97-AF65-F5344CB8AC3E}">
        <p14:creationId xmlns:p14="http://schemas.microsoft.com/office/powerpoint/2010/main" val="7105540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A2844DC-F240-396F-A67A-9D0E4E231BAA}"/>
              </a:ext>
            </a:extLst>
          </p:cNvPr>
          <p:cNvSpPr>
            <a:spLocks noGrp="1"/>
          </p:cNvSpPr>
          <p:nvPr>
            <p:ph type="title"/>
          </p:nvPr>
        </p:nvSpPr>
        <p:spPr>
          <a:xfrm>
            <a:off x="838200" y="604611"/>
            <a:ext cx="10515600" cy="1325563"/>
          </a:xfrm>
        </p:spPr>
        <p:txBody>
          <a:bodyPr/>
          <a:lstStyle/>
          <a:p>
            <a:r>
              <a:rPr lang="pl-PL" dirty="0">
                <a:latin typeface="Times New Roman"/>
                <a:cs typeface="Times New Roman"/>
              </a:rPr>
              <a:t>Zalety i wady architektury P2P</a:t>
            </a:r>
            <a:endParaRPr lang="en-US" dirty="0">
              <a:latin typeface="Times New Roman"/>
              <a:cs typeface="Times New Roman"/>
            </a:endParaRPr>
          </a:p>
          <a:p>
            <a:endParaRPr lang="pl-PL" dirty="0">
              <a:latin typeface="Times New Roman"/>
              <a:cs typeface="Times New Roman"/>
            </a:endParaRPr>
          </a:p>
          <a:p>
            <a:endParaRPr lang="pl-PL" dirty="0"/>
          </a:p>
        </p:txBody>
      </p:sp>
      <p:sp>
        <p:nvSpPr>
          <p:cNvPr id="3" name="Symbol zastępczy zawartości 2">
            <a:extLst>
              <a:ext uri="{FF2B5EF4-FFF2-40B4-BE49-F238E27FC236}">
                <a16:creationId xmlns:a16="http://schemas.microsoft.com/office/drawing/2014/main" id="{097248FD-F3FA-9706-92AD-92B5C1955D44}"/>
              </a:ext>
            </a:extLst>
          </p:cNvPr>
          <p:cNvSpPr>
            <a:spLocks noGrp="1"/>
          </p:cNvSpPr>
          <p:nvPr>
            <p:ph idx="1"/>
          </p:nvPr>
        </p:nvSpPr>
        <p:spPr>
          <a:xfrm>
            <a:off x="838200" y="1259568"/>
            <a:ext cx="10515600" cy="4351338"/>
          </a:xfrm>
        </p:spPr>
        <p:txBody>
          <a:bodyPr vert="horz" lIns="91440" tIns="45720" rIns="91440" bIns="45720" rtlCol="0" anchor="t">
            <a:noAutofit/>
          </a:bodyPr>
          <a:lstStyle/>
          <a:p>
            <a:pPr marL="0" indent="0">
              <a:buNone/>
            </a:pPr>
            <a:r>
              <a:rPr lang="pl-PL" sz="2400" dirty="0">
                <a:latin typeface="Times New Roman"/>
                <a:ea typeface="+mn-lt"/>
                <a:cs typeface="+mn-lt"/>
              </a:rPr>
              <a:t>Dzięki zdecentralizowanemu modelowi sieć P2P może dynamicznie skalować się wraz z liczbą użytkowników, a większa liczba węzłów często oznacza lepszą dostępność i szybkość transmisji danych. Dodatkową zaletą jest odporność na awarie – brak jednego centralnego punktu sprawia, że sieć może nadal funkcjonować, nawet jeśli część węzłów zostanie wyłączona. Modułowość tej architektury umożliwia łatwe dołączanie i opuszczanie sieci przez nowe węzły bez konieczności przeprowadzania globalnych zmian. Jednak P2P ma również swoje wady. Brak centralnego zarządzania może prowadzić do trudności w egzekwowaniu zasad kontroli dostępu i bezpieczeństwa. Nieprzewidywalność wydajności – w zależności od liczby i jakości dostępnych węzłów – może wpływać na stabilność systemu. Dodatkowo, ze względu na rozproszony charakter, ochrona przed atakami (np. atakami Sybila czy przechwytywaniem ruchu) jest bardziej skomplikowana niż w modelu Klient-Serwer.</a:t>
            </a:r>
            <a:endParaRPr lang="pl-PL" sz="2400" dirty="0">
              <a:latin typeface="Times New Roman"/>
              <a:cs typeface="Times New Roman"/>
            </a:endParaRPr>
          </a:p>
          <a:p>
            <a:pPr marL="0" indent="0">
              <a:buNone/>
            </a:pPr>
            <a:endParaRPr lang="pl-PL" sz="2400" dirty="0">
              <a:latin typeface="Times New Roman"/>
              <a:cs typeface="Times New Roman"/>
            </a:endParaRPr>
          </a:p>
        </p:txBody>
      </p:sp>
    </p:spTree>
    <p:extLst>
      <p:ext uri="{BB962C8B-B14F-4D97-AF65-F5344CB8AC3E}">
        <p14:creationId xmlns:p14="http://schemas.microsoft.com/office/powerpoint/2010/main" val="25445534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ADFFCC7-A717-1E89-5951-B45CF36AFB18}"/>
              </a:ext>
            </a:extLst>
          </p:cNvPr>
          <p:cNvSpPr>
            <a:spLocks noGrp="1"/>
          </p:cNvSpPr>
          <p:nvPr>
            <p:ph type="title"/>
          </p:nvPr>
        </p:nvSpPr>
        <p:spPr>
          <a:xfrm>
            <a:off x="838200" y="136525"/>
            <a:ext cx="10515600" cy="1325563"/>
          </a:xfrm>
        </p:spPr>
        <p:txBody>
          <a:bodyPr/>
          <a:lstStyle/>
          <a:p>
            <a:r>
              <a:rPr lang="pl-PL" dirty="0">
                <a:ea typeface="+mj-lt"/>
                <a:cs typeface="+mj-lt"/>
              </a:rPr>
              <a:t>Topologie sieciowe</a:t>
            </a:r>
            <a:endParaRPr lang="pl-PL" dirty="0"/>
          </a:p>
        </p:txBody>
      </p:sp>
      <p:sp>
        <p:nvSpPr>
          <p:cNvPr id="3" name="Symbol zastępczy zawartości 2">
            <a:extLst>
              <a:ext uri="{FF2B5EF4-FFF2-40B4-BE49-F238E27FC236}">
                <a16:creationId xmlns:a16="http://schemas.microsoft.com/office/drawing/2014/main" id="{114BAE09-8C08-7843-C8BB-C78D971464A9}"/>
              </a:ext>
            </a:extLst>
          </p:cNvPr>
          <p:cNvSpPr>
            <a:spLocks noGrp="1"/>
          </p:cNvSpPr>
          <p:nvPr>
            <p:ph idx="1"/>
          </p:nvPr>
        </p:nvSpPr>
        <p:spPr>
          <a:xfrm>
            <a:off x="838200" y="1455511"/>
            <a:ext cx="10515600" cy="4351338"/>
          </a:xfrm>
        </p:spPr>
        <p:txBody>
          <a:bodyPr vert="horz" lIns="91440" tIns="45720" rIns="91440" bIns="45720" rtlCol="0" anchor="t">
            <a:normAutofit/>
          </a:bodyPr>
          <a:lstStyle/>
          <a:p>
            <a:pPr marL="0" indent="0">
              <a:buNone/>
            </a:pPr>
            <a:r>
              <a:rPr lang="pl-PL" sz="2400" dirty="0">
                <a:solidFill>
                  <a:srgbClr val="000000"/>
                </a:solidFill>
                <a:latin typeface="Times New Roman"/>
                <a:ea typeface="+mn-lt"/>
                <a:cs typeface="+mn-lt"/>
              </a:rPr>
              <a:t>Topologia sieci komputerowej – model układu połączeń różnych elementów (linki, węzły itd.) sieci komputerowej. Określenie topologia sieci może odnosić się do konstrukcji fizycznej albo logicznej sieci.</a:t>
            </a:r>
            <a:endParaRPr lang="pl-PL" sz="2400" dirty="0">
              <a:solidFill>
                <a:srgbClr val="000000"/>
              </a:solidFill>
              <a:latin typeface="Times New Roman"/>
              <a:ea typeface="+mn-lt"/>
              <a:cs typeface="Times New Roman"/>
            </a:endParaRPr>
          </a:p>
          <a:p>
            <a:pPr marL="0" indent="0">
              <a:buNone/>
            </a:pPr>
            <a:r>
              <a:rPr lang="pl-PL" sz="2400" dirty="0">
                <a:solidFill>
                  <a:srgbClr val="000000"/>
                </a:solidFill>
                <a:latin typeface="Times New Roman"/>
                <a:ea typeface="+mn-lt"/>
                <a:cs typeface="Times New Roman"/>
              </a:rPr>
              <a:t>Topologia fizyczna - sposoby fizycznej realizacji sieci komputerowej, jej układu przewodów, mediów transmisyjnych. Poza połączeniem fizycznym hostów i ustaleniem standardu komunikacji, topologia fizyczna zapewnia bezbłędną transmisję danych. Topologia fizyczna jest ściśle powiązana z topologią logiczną np. koncentratory, hosty.</a:t>
            </a:r>
            <a:endParaRPr lang="pl-PL" sz="2400">
              <a:latin typeface="Times New Roman"/>
              <a:cs typeface="Times New Roman"/>
            </a:endParaRPr>
          </a:p>
          <a:p>
            <a:pPr marL="0" indent="0">
              <a:buNone/>
            </a:pPr>
            <a:r>
              <a:rPr lang="pl-PL" sz="2400" dirty="0">
                <a:solidFill>
                  <a:srgbClr val="000000"/>
                </a:solidFill>
                <a:latin typeface="Times New Roman"/>
                <a:ea typeface="+mn-lt"/>
                <a:cs typeface="Times New Roman"/>
              </a:rPr>
              <a:t>Topologia logiczna - sposoby komunikowania się hostów za pomocą urządzeń topologii fizycznej.</a:t>
            </a:r>
            <a:endParaRPr lang="pl-PL" sz="2400">
              <a:latin typeface="Times New Roman"/>
              <a:cs typeface="Times New Roman"/>
            </a:endParaRPr>
          </a:p>
          <a:p>
            <a:pPr marL="0" indent="0">
              <a:buNone/>
            </a:pPr>
            <a:endParaRPr lang="pl-PL" sz="2400" dirty="0">
              <a:solidFill>
                <a:srgbClr val="000000"/>
              </a:solidFill>
              <a:latin typeface="Times New Roman"/>
              <a:ea typeface="+mn-lt"/>
              <a:cs typeface="+mn-lt"/>
            </a:endParaRPr>
          </a:p>
          <a:p>
            <a:pPr marL="0" indent="0">
              <a:buNone/>
            </a:pPr>
            <a:endParaRPr lang="pl-PL" sz="2400" dirty="0">
              <a:solidFill>
                <a:srgbClr val="000000"/>
              </a:solidFill>
              <a:latin typeface="Times New Roman"/>
              <a:cs typeface="Times New Roman"/>
            </a:endParaRPr>
          </a:p>
        </p:txBody>
      </p:sp>
    </p:spTree>
    <p:extLst>
      <p:ext uri="{BB962C8B-B14F-4D97-AF65-F5344CB8AC3E}">
        <p14:creationId xmlns:p14="http://schemas.microsoft.com/office/powerpoint/2010/main" val="27257344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E3D2976-E85E-A8CD-6A9D-703B261A41E6}"/>
              </a:ext>
            </a:extLst>
          </p:cNvPr>
          <p:cNvSpPr>
            <a:spLocks noGrp="1"/>
          </p:cNvSpPr>
          <p:nvPr>
            <p:ph type="title"/>
          </p:nvPr>
        </p:nvSpPr>
        <p:spPr/>
        <p:txBody>
          <a:bodyPr/>
          <a:lstStyle/>
          <a:p>
            <a:r>
              <a:rPr lang="pl-PL" dirty="0">
                <a:latin typeface="Times New Roman"/>
                <a:cs typeface="Times New Roman"/>
              </a:rPr>
              <a:t>Topologie Sieci Lokalnych</a:t>
            </a:r>
          </a:p>
        </p:txBody>
      </p:sp>
      <p:sp>
        <p:nvSpPr>
          <p:cNvPr id="3" name="Symbol zastępczy zawartości 2">
            <a:extLst>
              <a:ext uri="{FF2B5EF4-FFF2-40B4-BE49-F238E27FC236}">
                <a16:creationId xmlns:a16="http://schemas.microsoft.com/office/drawing/2014/main" id="{1AE387A3-DDD7-5CB8-9993-2E6E72D5FA03}"/>
              </a:ext>
            </a:extLst>
          </p:cNvPr>
          <p:cNvSpPr>
            <a:spLocks noGrp="1"/>
          </p:cNvSpPr>
          <p:nvPr>
            <p:ph idx="1"/>
          </p:nvPr>
        </p:nvSpPr>
        <p:spPr>
          <a:xfrm>
            <a:off x="838200" y="1684111"/>
            <a:ext cx="10515600" cy="4351338"/>
          </a:xfrm>
        </p:spPr>
        <p:txBody>
          <a:bodyPr vert="horz" lIns="91440" tIns="45720" rIns="91440" bIns="45720" rtlCol="0" anchor="t">
            <a:normAutofit/>
          </a:bodyPr>
          <a:lstStyle/>
          <a:p>
            <a:r>
              <a:rPr lang="pl-PL" sz="2400" dirty="0">
                <a:latin typeface="Times New Roman"/>
                <a:ea typeface="+mn-lt"/>
                <a:cs typeface="+mn-lt"/>
              </a:rPr>
              <a:t>Topologia magistrali (</a:t>
            </a:r>
            <a:r>
              <a:rPr lang="pl-PL" sz="2400" err="1">
                <a:latin typeface="Times New Roman"/>
                <a:ea typeface="+mn-lt"/>
                <a:cs typeface="+mn-lt"/>
              </a:rPr>
              <a:t>bus</a:t>
            </a:r>
            <a:r>
              <a:rPr lang="pl-PL" sz="2400" dirty="0">
                <a:latin typeface="Times New Roman"/>
                <a:ea typeface="+mn-lt"/>
                <a:cs typeface="+mn-lt"/>
              </a:rPr>
              <a:t>) – jedno medium transmisyjne, tania, podatna na awarie</a:t>
            </a:r>
            <a:endParaRPr lang="pl-PL" sz="2400" dirty="0">
              <a:latin typeface="Times New Roman"/>
              <a:cs typeface="Times New Roman"/>
            </a:endParaRPr>
          </a:p>
          <a:p>
            <a:r>
              <a:rPr lang="pl-PL" sz="2400" dirty="0">
                <a:latin typeface="Times New Roman"/>
                <a:ea typeface="+mn-lt"/>
                <a:cs typeface="+mn-lt"/>
              </a:rPr>
              <a:t>Topologia pierścienia (ring) – pakiety krążą w jednym kierunku, awaria węzła przerywa transmisję</a:t>
            </a:r>
            <a:endParaRPr lang="pl-PL" sz="2400" dirty="0">
              <a:latin typeface="Times New Roman"/>
              <a:cs typeface="Times New Roman"/>
            </a:endParaRPr>
          </a:p>
          <a:p>
            <a:r>
              <a:rPr lang="pl-PL" sz="2400" dirty="0">
                <a:latin typeface="Times New Roman"/>
                <a:ea typeface="+mn-lt"/>
                <a:cs typeface="+mn-lt"/>
              </a:rPr>
              <a:t>Topologia gwiazdy (star) – centralny punkt (</a:t>
            </a:r>
            <a:r>
              <a:rPr lang="pl-PL" sz="2400" err="1">
                <a:latin typeface="Times New Roman"/>
                <a:ea typeface="+mn-lt"/>
                <a:cs typeface="+mn-lt"/>
              </a:rPr>
              <a:t>switch</a:t>
            </a:r>
            <a:r>
              <a:rPr lang="pl-PL" sz="2400" dirty="0">
                <a:latin typeface="Times New Roman"/>
                <a:ea typeface="+mn-lt"/>
                <a:cs typeface="+mn-lt"/>
              </a:rPr>
              <a:t>/hub), łatwa rozbudowa</a:t>
            </a:r>
            <a:endParaRPr lang="pl-PL" sz="2400" dirty="0">
              <a:latin typeface="Times New Roman"/>
              <a:cs typeface="Times New Roman"/>
            </a:endParaRPr>
          </a:p>
          <a:p>
            <a:pPr marL="0" indent="0">
              <a:buNone/>
            </a:pPr>
            <a:endParaRPr lang="pl-PL" sz="2400" dirty="0">
              <a:latin typeface="Times New Roman"/>
              <a:cs typeface="Times New Roman"/>
            </a:endParaRPr>
          </a:p>
          <a:p>
            <a:endParaRPr lang="pl-PL" sz="2400" dirty="0">
              <a:latin typeface="Times New Roman"/>
              <a:cs typeface="Times New Roman"/>
            </a:endParaRPr>
          </a:p>
        </p:txBody>
      </p:sp>
    </p:spTree>
    <p:extLst>
      <p:ext uri="{BB962C8B-B14F-4D97-AF65-F5344CB8AC3E}">
        <p14:creationId xmlns:p14="http://schemas.microsoft.com/office/powerpoint/2010/main" val="10517693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C697F06-62CA-3E55-C4AE-8CB43CA6737D}"/>
              </a:ext>
            </a:extLst>
          </p:cNvPr>
          <p:cNvSpPr>
            <a:spLocks noGrp="1"/>
          </p:cNvSpPr>
          <p:nvPr>
            <p:ph type="title"/>
          </p:nvPr>
        </p:nvSpPr>
        <p:spPr>
          <a:xfrm>
            <a:off x="489857" y="-4989"/>
            <a:ext cx="10515600" cy="1325563"/>
          </a:xfrm>
        </p:spPr>
        <p:txBody>
          <a:bodyPr>
            <a:normAutofit/>
          </a:bodyPr>
          <a:lstStyle/>
          <a:p>
            <a:r>
              <a:rPr lang="pl-PL" dirty="0">
                <a:latin typeface="Times New Roman"/>
                <a:cs typeface="Times New Roman"/>
              </a:rPr>
              <a:t>Topologia magistrali</a:t>
            </a:r>
            <a:endParaRPr lang="pl-PL">
              <a:latin typeface="Times New Roman"/>
              <a:cs typeface="Times New Roman"/>
            </a:endParaRPr>
          </a:p>
        </p:txBody>
      </p:sp>
      <p:sp>
        <p:nvSpPr>
          <p:cNvPr id="3" name="Symbol zastępczy zawartości 2">
            <a:extLst>
              <a:ext uri="{FF2B5EF4-FFF2-40B4-BE49-F238E27FC236}">
                <a16:creationId xmlns:a16="http://schemas.microsoft.com/office/drawing/2014/main" id="{5D3F3AE2-073F-C1EF-0944-D5EC8997EF29}"/>
              </a:ext>
            </a:extLst>
          </p:cNvPr>
          <p:cNvSpPr>
            <a:spLocks noGrp="1"/>
          </p:cNvSpPr>
          <p:nvPr>
            <p:ph idx="1"/>
          </p:nvPr>
        </p:nvSpPr>
        <p:spPr>
          <a:xfrm>
            <a:off x="489858" y="1085398"/>
            <a:ext cx="10722428" cy="5777364"/>
          </a:xfrm>
        </p:spPr>
        <p:txBody>
          <a:bodyPr vert="horz" lIns="91440" tIns="45720" rIns="91440" bIns="45720" rtlCol="0" anchor="t">
            <a:normAutofit lnSpcReduction="10000"/>
          </a:bodyPr>
          <a:lstStyle/>
          <a:p>
            <a:pPr marL="0" indent="0">
              <a:buNone/>
            </a:pPr>
            <a:r>
              <a:rPr lang="pl-PL" sz="2400" dirty="0">
                <a:solidFill>
                  <a:srgbClr val="000000"/>
                </a:solidFill>
                <a:latin typeface="Times New Roman"/>
                <a:ea typeface="+mn-lt"/>
                <a:cs typeface="+mn-lt"/>
              </a:rPr>
              <a:t>Wszystkie elementy sieci podłączone są do jednej magistrali.</a:t>
            </a:r>
            <a:endParaRPr lang="pl-PL" sz="2400">
              <a:solidFill>
                <a:srgbClr val="000000"/>
              </a:solidFill>
              <a:latin typeface="Times New Roman"/>
              <a:ea typeface="+mn-lt"/>
              <a:cs typeface="+mn-lt"/>
            </a:endParaRPr>
          </a:p>
          <a:p>
            <a:pPr marL="0" indent="0">
              <a:lnSpc>
                <a:spcPct val="80000"/>
              </a:lnSpc>
              <a:buNone/>
            </a:pPr>
            <a:r>
              <a:rPr lang="pl-PL" sz="2400" b="1" dirty="0">
                <a:solidFill>
                  <a:srgbClr val="000000"/>
                </a:solidFill>
                <a:latin typeface="Times New Roman"/>
                <a:cs typeface="Times New Roman"/>
              </a:rPr>
              <a:t>Wady topologii magistrali:</a:t>
            </a:r>
            <a:endParaRPr lang="pl-PL" sz="2400" b="1">
              <a:latin typeface="Times New Roman"/>
              <a:cs typeface="Times New Roman"/>
            </a:endParaRPr>
          </a:p>
          <a:p>
            <a:pPr>
              <a:lnSpc>
                <a:spcPct val="80000"/>
              </a:lnSpc>
            </a:pPr>
            <a:r>
              <a:rPr lang="pl-PL" sz="2400" dirty="0">
                <a:solidFill>
                  <a:srgbClr val="000000"/>
                </a:solidFill>
                <a:latin typeface="Times New Roman"/>
                <a:cs typeface="Times New Roman"/>
              </a:rPr>
              <a:t>trudne do zlokalizowania usterki,</a:t>
            </a:r>
            <a:endParaRPr lang="pl-PL" sz="2400">
              <a:latin typeface="Times New Roman"/>
              <a:cs typeface="Times New Roman"/>
            </a:endParaRPr>
          </a:p>
          <a:p>
            <a:pPr>
              <a:lnSpc>
                <a:spcPct val="80000"/>
              </a:lnSpc>
            </a:pPr>
            <a:r>
              <a:rPr lang="pl-PL" sz="2400" dirty="0">
                <a:solidFill>
                  <a:srgbClr val="000000"/>
                </a:solidFill>
                <a:latin typeface="Times New Roman"/>
                <a:cs typeface="Times New Roman"/>
              </a:rPr>
              <a:t>tylko jedna możliwa transmisja w jednym czasie,</a:t>
            </a:r>
            <a:endParaRPr lang="pl-PL" sz="2400">
              <a:latin typeface="Times New Roman"/>
              <a:cs typeface="Times New Roman"/>
            </a:endParaRPr>
          </a:p>
          <a:p>
            <a:pPr>
              <a:lnSpc>
                <a:spcPct val="80000"/>
              </a:lnSpc>
            </a:pPr>
            <a:r>
              <a:rPr lang="pl-PL" sz="2400" dirty="0">
                <a:solidFill>
                  <a:srgbClr val="000000"/>
                </a:solidFill>
                <a:latin typeface="Times New Roman"/>
                <a:cs typeface="Times New Roman"/>
              </a:rPr>
              <a:t>kolizyjność,</a:t>
            </a:r>
            <a:endParaRPr lang="pl-PL" sz="2400">
              <a:latin typeface="Times New Roman"/>
              <a:cs typeface="Times New Roman"/>
            </a:endParaRPr>
          </a:p>
          <a:p>
            <a:pPr>
              <a:lnSpc>
                <a:spcPct val="80000"/>
              </a:lnSpc>
            </a:pPr>
            <a:r>
              <a:rPr lang="pl-PL" sz="2400" dirty="0">
                <a:solidFill>
                  <a:srgbClr val="000000"/>
                </a:solidFill>
                <a:latin typeface="Times New Roman"/>
                <a:cs typeface="Times New Roman"/>
              </a:rPr>
              <a:t>awaria głównego kabla powoduje unieruchomienie całej domeny kolizji,</a:t>
            </a:r>
            <a:endParaRPr lang="pl-PL" sz="2400">
              <a:latin typeface="Times New Roman"/>
              <a:cs typeface="Times New Roman"/>
            </a:endParaRPr>
          </a:p>
          <a:p>
            <a:pPr>
              <a:lnSpc>
                <a:spcPct val="80000"/>
              </a:lnSpc>
            </a:pPr>
            <a:r>
              <a:rPr lang="pl-PL" sz="2400" dirty="0">
                <a:solidFill>
                  <a:srgbClr val="000000"/>
                </a:solidFill>
                <a:latin typeface="Times New Roman"/>
                <a:cs typeface="Times New Roman"/>
              </a:rPr>
              <a:t>słaba skalowalność,</a:t>
            </a:r>
            <a:endParaRPr lang="pl-PL" sz="2400">
              <a:latin typeface="Times New Roman"/>
              <a:cs typeface="Times New Roman"/>
            </a:endParaRPr>
          </a:p>
          <a:p>
            <a:pPr>
              <a:lnSpc>
                <a:spcPct val="80000"/>
              </a:lnSpc>
            </a:pPr>
            <a:r>
              <a:rPr lang="pl-PL" sz="2400" dirty="0">
                <a:solidFill>
                  <a:srgbClr val="000000"/>
                </a:solidFill>
                <a:latin typeface="Times New Roman"/>
                <a:cs typeface="Times New Roman"/>
              </a:rPr>
              <a:t>niewystarczające bezpieczeństwo.</a:t>
            </a:r>
            <a:endParaRPr lang="pl-PL" sz="2400">
              <a:latin typeface="Times New Roman"/>
              <a:cs typeface="Times New Roman"/>
            </a:endParaRPr>
          </a:p>
          <a:p>
            <a:pPr marL="0" indent="0">
              <a:lnSpc>
                <a:spcPct val="80000"/>
              </a:lnSpc>
              <a:buNone/>
            </a:pPr>
            <a:r>
              <a:rPr lang="pl-PL" sz="2400" b="1" dirty="0">
                <a:solidFill>
                  <a:srgbClr val="000000"/>
                </a:solidFill>
                <a:latin typeface="Times New Roman"/>
                <a:cs typeface="Times New Roman"/>
              </a:rPr>
              <a:t>Zalety topologii magistrali:</a:t>
            </a:r>
            <a:endParaRPr lang="pl-PL" sz="2400" b="1">
              <a:latin typeface="Times New Roman"/>
              <a:cs typeface="Times New Roman"/>
            </a:endParaRPr>
          </a:p>
          <a:p>
            <a:pPr>
              <a:lnSpc>
                <a:spcPct val="80000"/>
              </a:lnSpc>
            </a:pPr>
            <a:r>
              <a:rPr lang="pl-PL" sz="2400" dirty="0">
                <a:solidFill>
                  <a:srgbClr val="000000"/>
                </a:solidFill>
                <a:latin typeface="Times New Roman"/>
                <a:cs typeface="Times New Roman"/>
              </a:rPr>
              <a:t>małe ilości kabli,</a:t>
            </a:r>
            <a:endParaRPr lang="pl-PL" sz="2400">
              <a:latin typeface="Times New Roman"/>
              <a:cs typeface="Times New Roman"/>
            </a:endParaRPr>
          </a:p>
          <a:p>
            <a:pPr>
              <a:lnSpc>
                <a:spcPct val="80000"/>
              </a:lnSpc>
            </a:pPr>
            <a:r>
              <a:rPr lang="pl-PL" sz="2400" dirty="0">
                <a:solidFill>
                  <a:srgbClr val="000000"/>
                </a:solidFill>
                <a:latin typeface="Times New Roman"/>
                <a:cs typeface="Times New Roman"/>
              </a:rPr>
              <a:t>brak konieczności stosowania dodatkowych urządzeń (koncentratory, </a:t>
            </a:r>
            <a:r>
              <a:rPr lang="pl-PL" sz="2400" err="1">
                <a:solidFill>
                  <a:srgbClr val="000000"/>
                </a:solidFill>
                <a:latin typeface="Times New Roman"/>
                <a:cs typeface="Times New Roman"/>
              </a:rPr>
              <a:t>switche</a:t>
            </a:r>
            <a:r>
              <a:rPr lang="pl-PL" sz="2400" dirty="0">
                <a:solidFill>
                  <a:srgbClr val="000000"/>
                </a:solidFill>
                <a:latin typeface="Times New Roman"/>
                <a:cs typeface="Times New Roman"/>
              </a:rPr>
              <a:t>),</a:t>
            </a:r>
            <a:endParaRPr lang="pl-PL" sz="2400">
              <a:latin typeface="Times New Roman"/>
              <a:cs typeface="Times New Roman"/>
            </a:endParaRPr>
          </a:p>
          <a:p>
            <a:pPr>
              <a:lnSpc>
                <a:spcPct val="80000"/>
              </a:lnSpc>
            </a:pPr>
            <a:r>
              <a:rPr lang="pl-PL" sz="2400" dirty="0">
                <a:solidFill>
                  <a:srgbClr val="000000"/>
                </a:solidFill>
                <a:latin typeface="Times New Roman"/>
                <a:cs typeface="Times New Roman"/>
              </a:rPr>
              <a:t>niski koszt budowy sieci,</a:t>
            </a:r>
            <a:endParaRPr lang="pl-PL" sz="2400">
              <a:latin typeface="Times New Roman"/>
              <a:cs typeface="Times New Roman"/>
            </a:endParaRPr>
          </a:p>
          <a:p>
            <a:pPr>
              <a:lnSpc>
                <a:spcPct val="80000"/>
              </a:lnSpc>
            </a:pPr>
            <a:r>
              <a:rPr lang="pl-PL" sz="2400" dirty="0">
                <a:solidFill>
                  <a:srgbClr val="000000"/>
                </a:solidFill>
                <a:latin typeface="Times New Roman"/>
                <a:cs typeface="Times New Roman"/>
              </a:rPr>
              <a:t>łatwa instalacja,</a:t>
            </a:r>
            <a:endParaRPr lang="pl-PL" sz="2400">
              <a:latin typeface="Times New Roman"/>
              <a:cs typeface="Times New Roman"/>
            </a:endParaRPr>
          </a:p>
          <a:p>
            <a:pPr>
              <a:lnSpc>
                <a:spcPct val="80000"/>
              </a:lnSpc>
            </a:pPr>
            <a:r>
              <a:rPr lang="pl-PL" sz="2400" dirty="0">
                <a:solidFill>
                  <a:srgbClr val="000000"/>
                </a:solidFill>
                <a:latin typeface="Times New Roman"/>
                <a:cs typeface="Times New Roman"/>
              </a:rPr>
              <a:t>awaria jednej stacji nie powoduje unieruchomienia całej sieci.</a:t>
            </a:r>
            <a:endParaRPr lang="pl-PL" sz="2400">
              <a:latin typeface="Times New Roman"/>
              <a:cs typeface="Times New Roman"/>
            </a:endParaRPr>
          </a:p>
          <a:p>
            <a:pPr marL="0" indent="0">
              <a:buNone/>
            </a:pPr>
            <a:endParaRPr lang="pl-PL" sz="2400" dirty="0">
              <a:solidFill>
                <a:srgbClr val="000000"/>
              </a:solidFill>
              <a:latin typeface="Times New Roman"/>
              <a:cs typeface="Times New Roman"/>
            </a:endParaRPr>
          </a:p>
        </p:txBody>
      </p:sp>
      <p:pic>
        <p:nvPicPr>
          <p:cNvPr id="5" name="Obraz 4" descr="Topologia magistrali – Wikipedia, wolna encyklopedia">
            <a:extLst>
              <a:ext uri="{FF2B5EF4-FFF2-40B4-BE49-F238E27FC236}">
                <a16:creationId xmlns:a16="http://schemas.microsoft.com/office/drawing/2014/main" id="{C92307C1-36DE-1757-9A3E-861FBCE42F06}"/>
              </a:ext>
            </a:extLst>
          </p:cNvPr>
          <p:cNvPicPr>
            <a:picLocks noChangeAspect="1"/>
          </p:cNvPicPr>
          <p:nvPr/>
        </p:nvPicPr>
        <p:blipFill>
          <a:blip r:embed="rId2"/>
          <a:stretch>
            <a:fillRect/>
          </a:stretch>
        </p:blipFill>
        <p:spPr>
          <a:xfrm>
            <a:off x="9448800" y="126165"/>
            <a:ext cx="2743200" cy="2382012"/>
          </a:xfrm>
          <a:prstGeom prst="rect">
            <a:avLst/>
          </a:prstGeom>
        </p:spPr>
      </p:pic>
    </p:spTree>
    <p:extLst>
      <p:ext uri="{BB962C8B-B14F-4D97-AF65-F5344CB8AC3E}">
        <p14:creationId xmlns:p14="http://schemas.microsoft.com/office/powerpoint/2010/main" val="17463031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4F79A70-5E31-066D-180D-4F0F1A774401}"/>
              </a:ext>
            </a:extLst>
          </p:cNvPr>
          <p:cNvSpPr>
            <a:spLocks noGrp="1"/>
          </p:cNvSpPr>
          <p:nvPr>
            <p:ph type="title"/>
          </p:nvPr>
        </p:nvSpPr>
        <p:spPr>
          <a:xfrm>
            <a:off x="681625" y="-140688"/>
            <a:ext cx="10515600" cy="1325563"/>
          </a:xfrm>
        </p:spPr>
        <p:txBody>
          <a:bodyPr>
            <a:normAutofit/>
          </a:bodyPr>
          <a:lstStyle/>
          <a:p>
            <a:r>
              <a:rPr lang="pl-PL" dirty="0">
                <a:latin typeface="Times New Roman"/>
                <a:cs typeface="Times New Roman"/>
              </a:rPr>
              <a:t>Topologia pierścienia</a:t>
            </a:r>
          </a:p>
        </p:txBody>
      </p:sp>
      <p:sp>
        <p:nvSpPr>
          <p:cNvPr id="3" name="Symbol zastępczy zawartości 2">
            <a:extLst>
              <a:ext uri="{FF2B5EF4-FFF2-40B4-BE49-F238E27FC236}">
                <a16:creationId xmlns:a16="http://schemas.microsoft.com/office/drawing/2014/main" id="{6EC1BCE8-A674-544F-0D97-829BC442675E}"/>
              </a:ext>
            </a:extLst>
          </p:cNvPr>
          <p:cNvSpPr>
            <a:spLocks noGrp="1"/>
          </p:cNvSpPr>
          <p:nvPr>
            <p:ph idx="1"/>
          </p:nvPr>
        </p:nvSpPr>
        <p:spPr>
          <a:xfrm>
            <a:off x="697134" y="818623"/>
            <a:ext cx="10515600" cy="4351338"/>
          </a:xfrm>
        </p:spPr>
        <p:txBody>
          <a:bodyPr vert="horz" lIns="91440" tIns="45720" rIns="91440" bIns="45720" rtlCol="0" anchor="t">
            <a:noAutofit/>
          </a:bodyPr>
          <a:lstStyle/>
          <a:p>
            <a:pPr marL="0" indent="0">
              <a:buNone/>
            </a:pPr>
            <a:r>
              <a:rPr lang="pl-PL" sz="2400" dirty="0">
                <a:solidFill>
                  <a:srgbClr val="000000"/>
                </a:solidFill>
                <a:latin typeface="Times New Roman"/>
                <a:ea typeface="+mn-lt"/>
                <a:cs typeface="+mn-lt"/>
              </a:rPr>
              <a:t>Poszczególne elementy są połączone ze sobą w taki sposób jak w topologii liniowej, a dodatkowo połączone zostały elementy graniczne tworząc zamknięty pierścień.</a:t>
            </a:r>
            <a:endParaRPr lang="pl-PL" sz="2400">
              <a:solidFill>
                <a:srgbClr val="000000"/>
              </a:solidFill>
              <a:latin typeface="Times New Roman"/>
              <a:ea typeface="+mn-lt"/>
              <a:cs typeface="Times New Roman"/>
            </a:endParaRPr>
          </a:p>
          <a:p>
            <a:pPr>
              <a:buNone/>
            </a:pPr>
            <a:r>
              <a:rPr lang="pl-PL" sz="2400" b="1">
                <a:solidFill>
                  <a:srgbClr val="3D3846"/>
                </a:solidFill>
                <a:latin typeface="Times New Roman"/>
                <a:cs typeface="Arial"/>
              </a:rPr>
              <a:t>Wady topologii pierścienia:</a:t>
            </a:r>
            <a:endParaRPr lang="pl-PL" sz="2400">
              <a:latin typeface="Times New Roman"/>
              <a:cs typeface="Times New Roman"/>
            </a:endParaRPr>
          </a:p>
          <a:p>
            <a:pPr>
              <a:buFont typeface="Arial"/>
              <a:buChar char="•"/>
            </a:pPr>
            <a:r>
              <a:rPr lang="pl-PL" sz="2400">
                <a:solidFill>
                  <a:srgbClr val="3D3846"/>
                </a:solidFill>
                <a:latin typeface="Times New Roman"/>
                <a:cs typeface="Arial"/>
              </a:rPr>
              <a:t>awaria pojedynczego przewodu lub komputera powoduje unieruchomienie całej sieci,</a:t>
            </a:r>
            <a:endParaRPr lang="pl-PL" sz="2400">
              <a:latin typeface="Times New Roman"/>
              <a:cs typeface="Times New Roman"/>
            </a:endParaRPr>
          </a:p>
          <a:p>
            <a:pPr>
              <a:buFont typeface="Arial"/>
              <a:buChar char="•"/>
            </a:pPr>
            <a:r>
              <a:rPr lang="pl-PL" sz="2400" dirty="0">
                <a:solidFill>
                  <a:srgbClr val="3D3846"/>
                </a:solidFill>
                <a:latin typeface="Times New Roman"/>
                <a:cs typeface="Arial"/>
              </a:rPr>
              <a:t>złożona diagnostyka sieci,</a:t>
            </a:r>
            <a:endParaRPr lang="pl-PL" sz="2400">
              <a:latin typeface="Times New Roman"/>
              <a:cs typeface="Times New Roman"/>
            </a:endParaRPr>
          </a:p>
          <a:p>
            <a:pPr>
              <a:buFont typeface="Arial"/>
              <a:buChar char="•"/>
            </a:pPr>
            <a:r>
              <a:rPr lang="pl-PL" sz="2400" dirty="0">
                <a:solidFill>
                  <a:srgbClr val="3D3846"/>
                </a:solidFill>
                <a:latin typeface="Times New Roman"/>
                <a:cs typeface="Arial"/>
              </a:rPr>
              <a:t>trudne do zlokalizowania usterki,</a:t>
            </a:r>
            <a:endParaRPr lang="pl-PL" sz="2400">
              <a:latin typeface="Times New Roman"/>
              <a:cs typeface="Times New Roman"/>
            </a:endParaRPr>
          </a:p>
          <a:p>
            <a:pPr>
              <a:buFont typeface="Arial"/>
              <a:buChar char="•"/>
            </a:pPr>
            <a:r>
              <a:rPr lang="pl-PL" sz="2400" dirty="0">
                <a:solidFill>
                  <a:srgbClr val="3D3846"/>
                </a:solidFill>
                <a:latin typeface="Times New Roman"/>
                <a:cs typeface="Arial"/>
              </a:rPr>
              <a:t>pracochłonna rekonfiguracja sieci,</a:t>
            </a:r>
            <a:endParaRPr lang="pl-PL" sz="2400">
              <a:latin typeface="Times New Roman"/>
              <a:cs typeface="Times New Roman"/>
            </a:endParaRPr>
          </a:p>
          <a:p>
            <a:pPr>
              <a:buFont typeface="Arial"/>
              <a:buChar char="•"/>
            </a:pPr>
            <a:r>
              <a:rPr lang="pl-PL" sz="2400">
                <a:solidFill>
                  <a:srgbClr val="3D3846"/>
                </a:solidFill>
                <a:latin typeface="Times New Roman"/>
                <a:cs typeface="Arial"/>
              </a:rPr>
              <a:t>utrudniona rozbudowa, jeśli w pierścieniu jest wiele stacji.</a:t>
            </a:r>
            <a:endParaRPr lang="pl-PL" sz="2400">
              <a:solidFill>
                <a:srgbClr val="000000"/>
              </a:solidFill>
              <a:latin typeface="Times New Roman"/>
              <a:cs typeface="Arial"/>
            </a:endParaRPr>
          </a:p>
          <a:p>
            <a:pPr marL="0" indent="0">
              <a:buNone/>
            </a:pPr>
            <a:r>
              <a:rPr lang="pl-PL" sz="2400" b="1" dirty="0">
                <a:solidFill>
                  <a:srgbClr val="3D3846"/>
                </a:solidFill>
                <a:latin typeface="Times New Roman"/>
                <a:cs typeface="Arial"/>
              </a:rPr>
              <a:t>Zalety topologii pierścienia:</a:t>
            </a:r>
            <a:endParaRPr lang="pl-PL" sz="2400">
              <a:latin typeface="Times New Roman"/>
              <a:cs typeface="Times New Roman"/>
            </a:endParaRPr>
          </a:p>
          <a:p>
            <a:pPr>
              <a:buFont typeface="Arial"/>
              <a:buChar char="•"/>
            </a:pPr>
            <a:r>
              <a:rPr lang="pl-PL" sz="2400" dirty="0">
                <a:solidFill>
                  <a:srgbClr val="3D3846"/>
                </a:solidFill>
                <a:latin typeface="Times New Roman"/>
                <a:cs typeface="Arial"/>
              </a:rPr>
              <a:t>mała ilości kabli,</a:t>
            </a:r>
            <a:endParaRPr lang="pl-PL" sz="2400">
              <a:latin typeface="Times New Roman"/>
              <a:cs typeface="Times New Roman"/>
            </a:endParaRPr>
          </a:p>
          <a:p>
            <a:pPr>
              <a:buFont typeface="Arial"/>
              <a:buChar char="•"/>
            </a:pPr>
            <a:r>
              <a:rPr lang="pl-PL" sz="2400" dirty="0">
                <a:solidFill>
                  <a:srgbClr val="3D3846"/>
                </a:solidFill>
                <a:latin typeface="Times New Roman"/>
                <a:cs typeface="Arial"/>
              </a:rPr>
              <a:t>możliwość zastosowania światłowodów,</a:t>
            </a:r>
            <a:endParaRPr lang="pl-PL" sz="2400">
              <a:latin typeface="Times New Roman"/>
              <a:cs typeface="Times New Roman"/>
            </a:endParaRPr>
          </a:p>
          <a:p>
            <a:pPr>
              <a:buFont typeface="Arial"/>
              <a:buChar char="•"/>
            </a:pPr>
            <a:r>
              <a:rPr lang="pl-PL" sz="2400" dirty="0">
                <a:solidFill>
                  <a:srgbClr val="3D3846"/>
                </a:solidFill>
                <a:latin typeface="Times New Roman"/>
                <a:cs typeface="Arial"/>
              </a:rPr>
              <a:t>możliwe wysokie osiągi, ponieważ każdy przewód łączy dwa konkretne komputery.</a:t>
            </a:r>
            <a:endParaRPr lang="pl-PL" sz="2400">
              <a:latin typeface="Times New Roman"/>
              <a:cs typeface="Times New Roman"/>
            </a:endParaRPr>
          </a:p>
          <a:p>
            <a:pPr marL="0" indent="0">
              <a:buNone/>
            </a:pPr>
            <a:endParaRPr lang="pl-PL" sz="2400" dirty="0">
              <a:solidFill>
                <a:srgbClr val="000000"/>
              </a:solidFill>
              <a:latin typeface="Times New Roman"/>
              <a:cs typeface="Times New Roman"/>
            </a:endParaRPr>
          </a:p>
        </p:txBody>
      </p:sp>
      <p:pic>
        <p:nvPicPr>
          <p:cNvPr id="4" name="Obraz 3" descr="Topologia pierścienia">
            <a:extLst>
              <a:ext uri="{FF2B5EF4-FFF2-40B4-BE49-F238E27FC236}">
                <a16:creationId xmlns:a16="http://schemas.microsoft.com/office/drawing/2014/main" id="{7AF9B5BA-FD6F-361D-010A-7832AB591DA0}"/>
              </a:ext>
            </a:extLst>
          </p:cNvPr>
          <p:cNvPicPr>
            <a:picLocks noChangeAspect="1"/>
          </p:cNvPicPr>
          <p:nvPr/>
        </p:nvPicPr>
        <p:blipFill>
          <a:blip r:embed="rId2"/>
          <a:stretch>
            <a:fillRect/>
          </a:stretch>
        </p:blipFill>
        <p:spPr>
          <a:xfrm>
            <a:off x="8316685" y="2999750"/>
            <a:ext cx="3875315" cy="1794672"/>
          </a:xfrm>
          <a:prstGeom prst="rect">
            <a:avLst/>
          </a:prstGeom>
        </p:spPr>
      </p:pic>
    </p:spTree>
    <p:extLst>
      <p:ext uri="{BB962C8B-B14F-4D97-AF65-F5344CB8AC3E}">
        <p14:creationId xmlns:p14="http://schemas.microsoft.com/office/powerpoint/2010/main" val="3772622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81B9DF4-7CB7-5C31-4AD0-79B87EB6FC88}"/>
              </a:ext>
            </a:extLst>
          </p:cNvPr>
          <p:cNvSpPr>
            <a:spLocks noGrp="1"/>
          </p:cNvSpPr>
          <p:nvPr>
            <p:ph type="title"/>
          </p:nvPr>
        </p:nvSpPr>
        <p:spPr>
          <a:xfrm>
            <a:off x="838200" y="-4989"/>
            <a:ext cx="10515600" cy="1325563"/>
          </a:xfrm>
        </p:spPr>
        <p:txBody>
          <a:bodyPr>
            <a:normAutofit/>
          </a:bodyPr>
          <a:lstStyle/>
          <a:p>
            <a:r>
              <a:rPr lang="pl-PL" dirty="0">
                <a:latin typeface="Times New Roman"/>
                <a:cs typeface="Times New Roman"/>
              </a:rPr>
              <a:t>Topologia gwiazdy</a:t>
            </a:r>
          </a:p>
        </p:txBody>
      </p:sp>
      <p:sp>
        <p:nvSpPr>
          <p:cNvPr id="3" name="Symbol zastępczy zawartości 2">
            <a:extLst>
              <a:ext uri="{FF2B5EF4-FFF2-40B4-BE49-F238E27FC236}">
                <a16:creationId xmlns:a16="http://schemas.microsoft.com/office/drawing/2014/main" id="{E8B7CD84-1BFA-083D-8D37-1564A8870ED0}"/>
              </a:ext>
            </a:extLst>
          </p:cNvPr>
          <p:cNvSpPr>
            <a:spLocks noGrp="1"/>
          </p:cNvSpPr>
          <p:nvPr>
            <p:ph idx="1"/>
          </p:nvPr>
        </p:nvSpPr>
        <p:spPr>
          <a:xfrm>
            <a:off x="838200" y="1259568"/>
            <a:ext cx="10515600" cy="4351338"/>
          </a:xfrm>
        </p:spPr>
        <p:txBody>
          <a:bodyPr vert="horz" lIns="91440" tIns="45720" rIns="91440" bIns="45720" rtlCol="0" anchor="t">
            <a:noAutofit/>
          </a:bodyPr>
          <a:lstStyle/>
          <a:p>
            <a:pPr marL="0" indent="0">
              <a:buNone/>
            </a:pPr>
            <a:r>
              <a:rPr lang="pl-PL" sz="2400" dirty="0">
                <a:latin typeface="Times New Roman"/>
                <a:ea typeface="Open Sans"/>
                <a:cs typeface="Open Sans"/>
              </a:rPr>
              <a:t>W topologii gwiazdy urządzenia podłączone są do centralnego punktu, stanowiącego punkt dostępu do sieci. </a:t>
            </a:r>
          </a:p>
          <a:p>
            <a:pPr>
              <a:buNone/>
            </a:pPr>
            <a:r>
              <a:rPr lang="pl-PL" sz="2400" b="1" dirty="0">
                <a:solidFill>
                  <a:srgbClr val="3D3846"/>
                </a:solidFill>
                <a:latin typeface="Times New Roman"/>
                <a:ea typeface="Open Sans"/>
                <a:cs typeface="Arial"/>
              </a:rPr>
              <a:t>Wady topologii gwiazdy:</a:t>
            </a:r>
            <a:endParaRPr lang="pl-PL" sz="2400">
              <a:latin typeface="Times New Roman"/>
              <a:cs typeface="Times New Roman"/>
            </a:endParaRPr>
          </a:p>
          <a:p>
            <a:pPr>
              <a:buFont typeface="Arial"/>
              <a:buChar char="•"/>
            </a:pPr>
            <a:r>
              <a:rPr lang="pl-PL" sz="2400">
                <a:solidFill>
                  <a:srgbClr val="3D3846"/>
                </a:solidFill>
                <a:latin typeface="Times New Roman"/>
                <a:ea typeface="Open Sans"/>
                <a:cs typeface="Arial"/>
              </a:rPr>
              <a:t>wysoki koszt spowodowany jest dużą ilością kabla,</a:t>
            </a:r>
            <a:endParaRPr lang="pl-PL" sz="2400">
              <a:latin typeface="Times New Roman"/>
              <a:cs typeface="Times New Roman"/>
            </a:endParaRPr>
          </a:p>
          <a:p>
            <a:pPr>
              <a:buFont typeface="Arial"/>
              <a:buChar char="•"/>
            </a:pPr>
            <a:r>
              <a:rPr lang="pl-PL" sz="2400" dirty="0">
                <a:solidFill>
                  <a:srgbClr val="3D3846"/>
                </a:solidFill>
                <a:latin typeface="Times New Roman"/>
                <a:ea typeface="Open Sans"/>
                <a:cs typeface="Arial"/>
              </a:rPr>
              <a:t>awaria </a:t>
            </a:r>
            <a:r>
              <a:rPr lang="pl-PL" sz="2400" err="1">
                <a:solidFill>
                  <a:srgbClr val="3D3846"/>
                </a:solidFill>
                <a:latin typeface="Times New Roman"/>
                <a:ea typeface="Open Sans"/>
                <a:cs typeface="Arial"/>
              </a:rPr>
              <a:t>switcha</a:t>
            </a:r>
            <a:r>
              <a:rPr lang="pl-PL" sz="2400" dirty="0">
                <a:solidFill>
                  <a:srgbClr val="3D3846"/>
                </a:solidFill>
                <a:latin typeface="Times New Roman"/>
                <a:ea typeface="Open Sans"/>
                <a:cs typeface="Arial"/>
              </a:rPr>
              <a:t> lub huba powoduje unieruchomienie sieci.</a:t>
            </a:r>
            <a:endParaRPr lang="pl-PL" sz="2400">
              <a:solidFill>
                <a:srgbClr val="000000"/>
              </a:solidFill>
              <a:latin typeface="Times New Roman"/>
              <a:ea typeface="Open Sans"/>
              <a:cs typeface="Arial"/>
            </a:endParaRPr>
          </a:p>
          <a:p>
            <a:pPr marL="0" indent="0">
              <a:buNone/>
            </a:pPr>
            <a:r>
              <a:rPr lang="pl-PL" sz="2400" b="1">
                <a:solidFill>
                  <a:srgbClr val="3D3846"/>
                </a:solidFill>
                <a:latin typeface="Times New Roman"/>
                <a:ea typeface="Open Sans"/>
                <a:cs typeface="Arial"/>
              </a:rPr>
              <a:t>Zalety topologii gwiazdy:</a:t>
            </a:r>
            <a:endParaRPr lang="pl-PL" sz="2400">
              <a:latin typeface="Times New Roman"/>
              <a:cs typeface="Times New Roman"/>
            </a:endParaRPr>
          </a:p>
          <a:p>
            <a:pPr>
              <a:buFont typeface="Arial"/>
              <a:buChar char="•"/>
            </a:pPr>
            <a:r>
              <a:rPr lang="pl-PL" sz="2400" dirty="0">
                <a:solidFill>
                  <a:srgbClr val="3D3846"/>
                </a:solidFill>
                <a:latin typeface="Times New Roman"/>
                <a:ea typeface="Open Sans"/>
                <a:cs typeface="Arial"/>
              </a:rPr>
              <a:t>awaria jednej stacji nie powoduje unieruchomienia całej sieci,</a:t>
            </a:r>
            <a:endParaRPr lang="pl-PL" sz="2400">
              <a:latin typeface="Times New Roman"/>
              <a:cs typeface="Times New Roman"/>
            </a:endParaRPr>
          </a:p>
          <a:p>
            <a:pPr>
              <a:buFont typeface="Arial"/>
              <a:buChar char="•"/>
            </a:pPr>
            <a:r>
              <a:rPr lang="pl-PL" sz="2400" dirty="0">
                <a:solidFill>
                  <a:srgbClr val="3D3846"/>
                </a:solidFill>
                <a:latin typeface="Times New Roman"/>
                <a:ea typeface="Open Sans"/>
                <a:cs typeface="Arial"/>
              </a:rPr>
              <a:t>duża elastyczność i skalowalność,</a:t>
            </a:r>
            <a:endParaRPr lang="pl-PL" sz="2400">
              <a:latin typeface="Times New Roman"/>
              <a:cs typeface="Times New Roman"/>
            </a:endParaRPr>
          </a:p>
          <a:p>
            <a:pPr>
              <a:buFont typeface="Arial"/>
              <a:buChar char="•"/>
            </a:pPr>
            <a:r>
              <a:rPr lang="pl-PL" sz="2400" dirty="0">
                <a:solidFill>
                  <a:srgbClr val="3D3846"/>
                </a:solidFill>
                <a:latin typeface="Times New Roman"/>
                <a:ea typeface="Open Sans"/>
                <a:cs typeface="Arial"/>
              </a:rPr>
              <a:t>łatwość monitoringu i konserwacji,</a:t>
            </a:r>
            <a:endParaRPr lang="pl-PL" sz="2400">
              <a:latin typeface="Times New Roman"/>
              <a:cs typeface="Times New Roman"/>
            </a:endParaRPr>
          </a:p>
          <a:p>
            <a:pPr>
              <a:buFont typeface="Arial"/>
              <a:buChar char="•"/>
            </a:pPr>
            <a:r>
              <a:rPr lang="pl-PL" sz="2400" dirty="0">
                <a:solidFill>
                  <a:srgbClr val="3D3846"/>
                </a:solidFill>
                <a:latin typeface="Times New Roman"/>
                <a:ea typeface="Open Sans"/>
                <a:cs typeface="Arial"/>
              </a:rPr>
              <a:t>łatwość wykrywania usterek.</a:t>
            </a:r>
            <a:endParaRPr lang="pl-PL" sz="2400">
              <a:latin typeface="Times New Roman"/>
              <a:cs typeface="Times New Roman"/>
            </a:endParaRPr>
          </a:p>
          <a:p>
            <a:pPr marL="0" indent="0">
              <a:buNone/>
            </a:pPr>
            <a:endParaRPr lang="pl-PL" sz="2400" dirty="0">
              <a:latin typeface="Times New Roman"/>
              <a:ea typeface="Open Sans"/>
              <a:cs typeface="Open Sans"/>
            </a:endParaRPr>
          </a:p>
        </p:txBody>
      </p:sp>
      <p:pic>
        <p:nvPicPr>
          <p:cNvPr id="4" name="Obraz 3" descr="Topologia gwiazdy">
            <a:extLst>
              <a:ext uri="{FF2B5EF4-FFF2-40B4-BE49-F238E27FC236}">
                <a16:creationId xmlns:a16="http://schemas.microsoft.com/office/drawing/2014/main" id="{7069434B-BF59-75C9-3A5E-EB91182AE686}"/>
              </a:ext>
            </a:extLst>
          </p:cNvPr>
          <p:cNvPicPr>
            <a:picLocks noChangeAspect="1"/>
          </p:cNvPicPr>
          <p:nvPr/>
        </p:nvPicPr>
        <p:blipFill>
          <a:blip r:embed="rId2"/>
          <a:stretch>
            <a:fillRect/>
          </a:stretch>
        </p:blipFill>
        <p:spPr>
          <a:xfrm>
            <a:off x="8153400" y="4200634"/>
            <a:ext cx="4038599" cy="2658618"/>
          </a:xfrm>
          <a:prstGeom prst="rect">
            <a:avLst/>
          </a:prstGeom>
        </p:spPr>
      </p:pic>
    </p:spTree>
    <p:extLst>
      <p:ext uri="{BB962C8B-B14F-4D97-AF65-F5344CB8AC3E}">
        <p14:creationId xmlns:p14="http://schemas.microsoft.com/office/powerpoint/2010/main" val="24559782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313268F-1548-E6C7-4D04-9FC985A2FF69}"/>
              </a:ext>
            </a:extLst>
          </p:cNvPr>
          <p:cNvSpPr>
            <a:spLocks noGrp="1"/>
          </p:cNvSpPr>
          <p:nvPr>
            <p:ph type="title"/>
          </p:nvPr>
        </p:nvSpPr>
        <p:spPr/>
        <p:txBody>
          <a:bodyPr/>
          <a:lstStyle/>
          <a:p>
            <a:r>
              <a:rPr lang="pl-PL" dirty="0"/>
              <a:t>Topologie Sieci Globalnych</a:t>
            </a:r>
          </a:p>
        </p:txBody>
      </p:sp>
      <p:sp>
        <p:nvSpPr>
          <p:cNvPr id="3" name="Symbol zastępczy zawartości 2">
            <a:extLst>
              <a:ext uri="{FF2B5EF4-FFF2-40B4-BE49-F238E27FC236}">
                <a16:creationId xmlns:a16="http://schemas.microsoft.com/office/drawing/2014/main" id="{E2EAF438-F95F-C5AD-D279-5B745D95B49C}"/>
              </a:ext>
            </a:extLst>
          </p:cNvPr>
          <p:cNvSpPr>
            <a:spLocks noGrp="1"/>
          </p:cNvSpPr>
          <p:nvPr>
            <p:ph idx="1"/>
          </p:nvPr>
        </p:nvSpPr>
        <p:spPr/>
        <p:txBody>
          <a:bodyPr vert="horz" lIns="91440" tIns="45720" rIns="91440" bIns="45720" rtlCol="0" anchor="t">
            <a:normAutofit/>
          </a:bodyPr>
          <a:lstStyle/>
          <a:p>
            <a:pPr algn="just"/>
            <a:r>
              <a:rPr lang="pl-PL" sz="2400" dirty="0">
                <a:latin typeface="Times New Roman"/>
                <a:cs typeface="Times New Roman"/>
              </a:rPr>
              <a:t>Topologia drzewiasta (</a:t>
            </a:r>
            <a:r>
              <a:rPr lang="pl-PL" sz="2400" dirty="0" err="1">
                <a:latin typeface="Times New Roman"/>
                <a:cs typeface="Times New Roman"/>
              </a:rPr>
              <a:t>tree</a:t>
            </a:r>
            <a:r>
              <a:rPr lang="pl-PL" sz="2400" dirty="0">
                <a:latin typeface="Times New Roman"/>
                <a:cs typeface="Times New Roman"/>
              </a:rPr>
              <a:t>)  – jest strukturą podobną do topologii gwiazdy z tą różnicą, że są tu możliwe gałęzie z wieloma węzłami,</a:t>
            </a:r>
          </a:p>
          <a:p>
            <a:pPr algn="just"/>
            <a:r>
              <a:rPr lang="pl-PL" sz="2400" dirty="0">
                <a:latin typeface="Times New Roman"/>
                <a:cs typeface="Times New Roman"/>
              </a:rPr>
              <a:t>Topologia siatki (</a:t>
            </a:r>
            <a:r>
              <a:rPr lang="pl-PL" sz="2400" dirty="0" err="1">
                <a:latin typeface="Times New Roman"/>
                <a:cs typeface="Times New Roman"/>
              </a:rPr>
              <a:t>mesh</a:t>
            </a:r>
            <a:r>
              <a:rPr lang="pl-PL" sz="2400" dirty="0">
                <a:latin typeface="Times New Roman"/>
                <a:cs typeface="Times New Roman"/>
              </a:rPr>
              <a:t>) – każde urządzenie połączone z wieloma innymi, bardzo odporna,</a:t>
            </a:r>
          </a:p>
          <a:p>
            <a:pPr algn="just"/>
            <a:r>
              <a:rPr lang="pl-PL" sz="2400" dirty="0">
                <a:latin typeface="Times New Roman"/>
                <a:cs typeface="Times New Roman"/>
              </a:rPr>
              <a:t>Topologia Mieszana – stanowi połączenie sieci o różnych topologiach.</a:t>
            </a:r>
            <a:endParaRPr lang="pl-PL" dirty="0"/>
          </a:p>
        </p:txBody>
      </p:sp>
    </p:spTree>
    <p:extLst>
      <p:ext uri="{BB962C8B-B14F-4D97-AF65-F5344CB8AC3E}">
        <p14:creationId xmlns:p14="http://schemas.microsoft.com/office/powerpoint/2010/main" val="42253677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D3802D9-0E12-1DD2-0F15-EA0E00B360A8}"/>
              </a:ext>
            </a:extLst>
          </p:cNvPr>
          <p:cNvSpPr>
            <a:spLocks noGrp="1"/>
          </p:cNvSpPr>
          <p:nvPr>
            <p:ph type="title"/>
          </p:nvPr>
        </p:nvSpPr>
        <p:spPr/>
        <p:txBody>
          <a:bodyPr>
            <a:normAutofit/>
          </a:bodyPr>
          <a:lstStyle/>
          <a:p>
            <a:r>
              <a:rPr lang="pl-PL" dirty="0">
                <a:latin typeface="Aptos Display"/>
                <a:cs typeface="Times New Roman"/>
              </a:rPr>
              <a:t>Topologia drzewiasta</a:t>
            </a:r>
            <a:endParaRPr lang="pl-PL" dirty="0">
              <a:latin typeface="Times New Roman"/>
              <a:cs typeface="Times New Roman"/>
            </a:endParaRPr>
          </a:p>
        </p:txBody>
      </p:sp>
      <p:sp>
        <p:nvSpPr>
          <p:cNvPr id="3" name="Symbol zastępczy zawartości 2">
            <a:extLst>
              <a:ext uri="{FF2B5EF4-FFF2-40B4-BE49-F238E27FC236}">
                <a16:creationId xmlns:a16="http://schemas.microsoft.com/office/drawing/2014/main" id="{3F13C1CB-1F08-D303-D70E-D76885FEF1B7}"/>
              </a:ext>
            </a:extLst>
          </p:cNvPr>
          <p:cNvSpPr>
            <a:spLocks noGrp="1"/>
          </p:cNvSpPr>
          <p:nvPr>
            <p:ph idx="1"/>
          </p:nvPr>
        </p:nvSpPr>
        <p:spPr/>
        <p:txBody>
          <a:bodyPr vert="horz" lIns="91440" tIns="45720" rIns="91440" bIns="45720" rtlCol="0" anchor="t">
            <a:normAutofit/>
          </a:bodyPr>
          <a:lstStyle/>
          <a:p>
            <a:pPr marL="0" indent="0">
              <a:buNone/>
            </a:pPr>
            <a:r>
              <a:rPr lang="pl-PL" sz="2400" dirty="0">
                <a:solidFill>
                  <a:srgbClr val="000000"/>
                </a:solidFill>
                <a:latin typeface="Times New Roman"/>
                <a:ea typeface="+mn-lt"/>
                <a:cs typeface="+mn-lt"/>
              </a:rPr>
              <a:t>Jest kombinacją topologii gwiazdy i magistrali, może być także postrzegana jako zbiór sieci w topologii gwiazdy połączonych w strukturę hierarchiczną (drzewiastą).</a:t>
            </a:r>
          </a:p>
          <a:p>
            <a:pPr>
              <a:buNone/>
            </a:pPr>
            <a:r>
              <a:rPr lang="pl-PL" sz="2400" b="1" dirty="0">
                <a:solidFill>
                  <a:srgbClr val="3D3846"/>
                </a:solidFill>
                <a:latin typeface="Times New Roman"/>
                <a:cs typeface="Arial"/>
              </a:rPr>
              <a:t>Wady topologii hierarchicznej:</a:t>
            </a:r>
            <a:endParaRPr lang="pl-PL" sz="2400">
              <a:latin typeface="Times New Roman"/>
              <a:cs typeface="Times New Roman"/>
            </a:endParaRPr>
          </a:p>
          <a:p>
            <a:pPr>
              <a:buFont typeface="Arial"/>
              <a:buChar char="•"/>
            </a:pPr>
            <a:r>
              <a:rPr lang="pl-PL" sz="2400">
                <a:solidFill>
                  <a:srgbClr val="3D3846"/>
                </a:solidFill>
                <a:latin typeface="Times New Roman"/>
                <a:cs typeface="Arial"/>
              </a:rPr>
              <a:t>zależność pracy sieci od głównej magistrali.</a:t>
            </a:r>
            <a:endParaRPr lang="pl-PL" sz="2400">
              <a:solidFill>
                <a:srgbClr val="000000"/>
              </a:solidFill>
              <a:latin typeface="Times New Roman"/>
              <a:cs typeface="Arial"/>
            </a:endParaRPr>
          </a:p>
          <a:p>
            <a:pPr marL="0" indent="0">
              <a:buNone/>
            </a:pPr>
            <a:r>
              <a:rPr lang="pl-PL" sz="2400" b="1" dirty="0">
                <a:solidFill>
                  <a:srgbClr val="3D3846"/>
                </a:solidFill>
                <a:latin typeface="Times New Roman"/>
                <a:cs typeface="Arial"/>
              </a:rPr>
              <a:t>Zalety topologii hierarchicznej:</a:t>
            </a:r>
            <a:endParaRPr lang="pl-PL" sz="2400">
              <a:latin typeface="Times New Roman"/>
              <a:cs typeface="Times New Roman"/>
            </a:endParaRPr>
          </a:p>
          <a:p>
            <a:pPr>
              <a:buFont typeface="Arial"/>
              <a:buChar char="•"/>
            </a:pPr>
            <a:r>
              <a:rPr lang="pl-PL" sz="2400" dirty="0">
                <a:solidFill>
                  <a:srgbClr val="3D3846"/>
                </a:solidFill>
                <a:latin typeface="Times New Roman"/>
                <a:cs typeface="Arial"/>
              </a:rPr>
              <a:t>łatwość rozbudowy,</a:t>
            </a:r>
            <a:endParaRPr lang="pl-PL" sz="2400">
              <a:latin typeface="Times New Roman"/>
              <a:cs typeface="Times New Roman"/>
            </a:endParaRPr>
          </a:p>
          <a:p>
            <a:pPr>
              <a:buFont typeface="Arial"/>
              <a:buChar char="•"/>
            </a:pPr>
            <a:r>
              <a:rPr lang="pl-PL" sz="2400" dirty="0">
                <a:solidFill>
                  <a:srgbClr val="3D3846"/>
                </a:solidFill>
                <a:latin typeface="Times New Roman"/>
                <a:cs typeface="Arial"/>
              </a:rPr>
              <a:t>łatwa lokalizacja uszkodzeń.</a:t>
            </a:r>
            <a:endParaRPr lang="pl-PL" sz="2400">
              <a:latin typeface="Times New Roman"/>
              <a:cs typeface="Times New Roman"/>
            </a:endParaRPr>
          </a:p>
          <a:p>
            <a:pPr marL="0" indent="0">
              <a:buNone/>
            </a:pPr>
            <a:endParaRPr lang="pl-PL" sz="2400" dirty="0">
              <a:solidFill>
                <a:srgbClr val="000000"/>
              </a:solidFill>
              <a:latin typeface="Times New Roman"/>
              <a:cs typeface="Times New Roman"/>
            </a:endParaRPr>
          </a:p>
        </p:txBody>
      </p:sp>
      <p:pic>
        <p:nvPicPr>
          <p:cNvPr id="4" name="Obraz 3" descr="undefined">
            <a:extLst>
              <a:ext uri="{FF2B5EF4-FFF2-40B4-BE49-F238E27FC236}">
                <a16:creationId xmlns:a16="http://schemas.microsoft.com/office/drawing/2014/main" id="{E1F83DC6-9C46-3990-F438-F8C419D991A2}"/>
              </a:ext>
            </a:extLst>
          </p:cNvPr>
          <p:cNvPicPr>
            <a:picLocks noChangeAspect="1"/>
          </p:cNvPicPr>
          <p:nvPr/>
        </p:nvPicPr>
        <p:blipFill>
          <a:blip r:embed="rId2"/>
          <a:stretch>
            <a:fillRect/>
          </a:stretch>
        </p:blipFill>
        <p:spPr>
          <a:xfrm>
            <a:off x="8210550" y="3458718"/>
            <a:ext cx="3981450" cy="3398139"/>
          </a:xfrm>
          <a:prstGeom prst="rect">
            <a:avLst/>
          </a:prstGeom>
        </p:spPr>
      </p:pic>
    </p:spTree>
    <p:extLst>
      <p:ext uri="{BB962C8B-B14F-4D97-AF65-F5344CB8AC3E}">
        <p14:creationId xmlns:p14="http://schemas.microsoft.com/office/powerpoint/2010/main" val="28154774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FECCB28-0F42-C9B1-09C1-379F8D9A5101}"/>
              </a:ext>
            </a:extLst>
          </p:cNvPr>
          <p:cNvSpPr>
            <a:spLocks noGrp="1"/>
          </p:cNvSpPr>
          <p:nvPr>
            <p:ph type="title"/>
          </p:nvPr>
        </p:nvSpPr>
        <p:spPr/>
        <p:txBody>
          <a:bodyPr>
            <a:normAutofit/>
          </a:bodyPr>
          <a:lstStyle/>
          <a:p>
            <a:r>
              <a:rPr lang="pl-PL" dirty="0">
                <a:latin typeface="Times New Roman"/>
                <a:cs typeface="Times New Roman"/>
              </a:rPr>
              <a:t>Topologia siatki</a:t>
            </a:r>
          </a:p>
        </p:txBody>
      </p:sp>
      <p:sp>
        <p:nvSpPr>
          <p:cNvPr id="3" name="Symbol zastępczy zawartości 2">
            <a:extLst>
              <a:ext uri="{FF2B5EF4-FFF2-40B4-BE49-F238E27FC236}">
                <a16:creationId xmlns:a16="http://schemas.microsoft.com/office/drawing/2014/main" id="{18ED0BAB-033A-95FB-E964-F57353EBEAEB}"/>
              </a:ext>
            </a:extLst>
          </p:cNvPr>
          <p:cNvSpPr>
            <a:spLocks noGrp="1"/>
          </p:cNvSpPr>
          <p:nvPr>
            <p:ph idx="1"/>
          </p:nvPr>
        </p:nvSpPr>
        <p:spPr>
          <a:xfrm>
            <a:off x="838200" y="1716768"/>
            <a:ext cx="10515600" cy="4351338"/>
          </a:xfrm>
        </p:spPr>
        <p:txBody>
          <a:bodyPr vert="horz" lIns="91440" tIns="45720" rIns="91440" bIns="45720" rtlCol="0" anchor="t">
            <a:normAutofit/>
          </a:bodyPr>
          <a:lstStyle/>
          <a:p>
            <a:pPr marL="0" indent="0">
              <a:buNone/>
            </a:pPr>
            <a:r>
              <a:rPr lang="pl-PL" sz="2400" dirty="0">
                <a:solidFill>
                  <a:srgbClr val="000000"/>
                </a:solidFill>
                <a:latin typeface="Times New Roman"/>
                <a:ea typeface="+mn-lt"/>
                <a:cs typeface="+mn-lt"/>
              </a:rPr>
              <a:t>Elementy łączą się bezpośrednio, dynamicznie i niehierarchicznie z jak największą liczbą innych elementów i współpracują ze sobą w celu efektywnego trasowania danych.</a:t>
            </a:r>
          </a:p>
          <a:p>
            <a:pPr marL="0" indent="0">
              <a:buNone/>
            </a:pPr>
            <a:r>
              <a:rPr lang="pl-PL" sz="2400" b="1">
                <a:latin typeface="Times New Roman"/>
                <a:cs typeface="Times New Roman"/>
              </a:rPr>
              <a:t>Wady topologii siatki:</a:t>
            </a:r>
          </a:p>
          <a:p>
            <a:pPr marL="0" indent="0">
              <a:buNone/>
            </a:pPr>
            <a:r>
              <a:rPr lang="pl-PL" sz="2400">
                <a:latin typeface="Times New Roman"/>
                <a:cs typeface="Times New Roman"/>
              </a:rPr>
              <a:t>wysoki koszt budowy,</a:t>
            </a:r>
            <a:endParaRPr lang="pl-PL" sz="2400" dirty="0">
              <a:latin typeface="Times New Roman"/>
              <a:cs typeface="Times New Roman"/>
            </a:endParaRPr>
          </a:p>
          <a:p>
            <a:pPr marL="0" indent="0">
              <a:buNone/>
            </a:pPr>
            <a:r>
              <a:rPr lang="pl-PL" sz="2400">
                <a:latin typeface="Times New Roman"/>
                <a:cs typeface="Times New Roman"/>
              </a:rPr>
              <a:t>duża ilość połączeń.</a:t>
            </a:r>
            <a:endParaRPr lang="pl-PL" sz="2400" dirty="0">
              <a:latin typeface="Times New Roman"/>
              <a:cs typeface="Times New Roman"/>
            </a:endParaRPr>
          </a:p>
          <a:p>
            <a:pPr marL="0" indent="0">
              <a:buNone/>
            </a:pPr>
            <a:r>
              <a:rPr lang="pl-PL" sz="2400" b="1">
                <a:latin typeface="Times New Roman"/>
                <a:cs typeface="Times New Roman"/>
              </a:rPr>
              <a:t>Zalety topologii siatki:</a:t>
            </a:r>
          </a:p>
          <a:p>
            <a:pPr marL="0" indent="0">
              <a:buNone/>
            </a:pPr>
            <a:r>
              <a:rPr lang="pl-PL" sz="2400">
                <a:latin typeface="Times New Roman"/>
                <a:cs typeface="Times New Roman"/>
              </a:rPr>
              <a:t>niezawodność sieci.</a:t>
            </a:r>
            <a:endParaRPr lang="pl-PL" sz="2400" dirty="0">
              <a:latin typeface="Times New Roman"/>
              <a:cs typeface="Times New Roman"/>
            </a:endParaRPr>
          </a:p>
          <a:p>
            <a:pPr marL="0" indent="0">
              <a:buNone/>
            </a:pPr>
            <a:endParaRPr lang="pl-PL" sz="2400" dirty="0">
              <a:latin typeface="Times New Roman"/>
              <a:cs typeface="Times New Roman"/>
            </a:endParaRPr>
          </a:p>
        </p:txBody>
      </p:sp>
      <p:pic>
        <p:nvPicPr>
          <p:cNvPr id="4" name="Obraz 3" descr="undefined">
            <a:extLst>
              <a:ext uri="{FF2B5EF4-FFF2-40B4-BE49-F238E27FC236}">
                <a16:creationId xmlns:a16="http://schemas.microsoft.com/office/drawing/2014/main" id="{53D59CA7-3C87-A8E1-C90F-BD94C1F30637}"/>
              </a:ext>
            </a:extLst>
          </p:cNvPr>
          <p:cNvPicPr>
            <a:picLocks noChangeAspect="1"/>
          </p:cNvPicPr>
          <p:nvPr/>
        </p:nvPicPr>
        <p:blipFill>
          <a:blip r:embed="rId2"/>
          <a:stretch>
            <a:fillRect/>
          </a:stretch>
        </p:blipFill>
        <p:spPr>
          <a:xfrm>
            <a:off x="8843282" y="3431040"/>
            <a:ext cx="3344635" cy="3414032"/>
          </a:xfrm>
          <a:prstGeom prst="rect">
            <a:avLst/>
          </a:prstGeom>
        </p:spPr>
      </p:pic>
    </p:spTree>
    <p:extLst>
      <p:ext uri="{BB962C8B-B14F-4D97-AF65-F5344CB8AC3E}">
        <p14:creationId xmlns:p14="http://schemas.microsoft.com/office/powerpoint/2010/main" val="20162591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C188E61-4C07-9E30-AEF0-6DD2C02BDC4C}"/>
              </a:ext>
            </a:extLst>
          </p:cNvPr>
          <p:cNvSpPr>
            <a:spLocks noGrp="1"/>
          </p:cNvSpPr>
          <p:nvPr>
            <p:ph type="title"/>
          </p:nvPr>
        </p:nvSpPr>
        <p:spPr>
          <a:xfrm>
            <a:off x="838200" y="41275"/>
            <a:ext cx="10515600" cy="1325563"/>
          </a:xfrm>
        </p:spPr>
        <p:txBody>
          <a:bodyPr/>
          <a:lstStyle/>
          <a:p>
            <a:r>
              <a:rPr lang="pl-PL" dirty="0"/>
              <a:t>Topologia Mieszana</a:t>
            </a:r>
          </a:p>
        </p:txBody>
      </p:sp>
      <p:sp>
        <p:nvSpPr>
          <p:cNvPr id="3" name="Symbol zastępczy zawartości 2">
            <a:extLst>
              <a:ext uri="{FF2B5EF4-FFF2-40B4-BE49-F238E27FC236}">
                <a16:creationId xmlns:a16="http://schemas.microsoft.com/office/drawing/2014/main" id="{1058D048-62CF-F998-2716-9076E0F59103}"/>
              </a:ext>
            </a:extLst>
          </p:cNvPr>
          <p:cNvSpPr>
            <a:spLocks noGrp="1"/>
          </p:cNvSpPr>
          <p:nvPr>
            <p:ph idx="1"/>
          </p:nvPr>
        </p:nvSpPr>
        <p:spPr>
          <a:xfrm>
            <a:off x="838200" y="949325"/>
            <a:ext cx="10515600" cy="4351338"/>
          </a:xfrm>
        </p:spPr>
        <p:txBody>
          <a:bodyPr vert="horz" lIns="91440" tIns="45720" rIns="91440" bIns="45720" rtlCol="0" anchor="t">
            <a:noAutofit/>
          </a:bodyPr>
          <a:lstStyle/>
          <a:p>
            <a:pPr marL="0" indent="0">
              <a:buNone/>
            </a:pPr>
            <a:r>
              <a:rPr lang="pl-PL" sz="2400" dirty="0">
                <a:latin typeface="Times New Roman"/>
                <a:ea typeface="+mn-lt"/>
                <a:cs typeface="+mn-lt"/>
              </a:rPr>
              <a:t>Topologia mieszana sieci to konfiguracja, w której łączy się dwa lub więcej rodzajów topologii (np. gwiazda, magistrala, pierścień, siatka) w celu wykorzystania zalet poszczególnych struktur. Pozwala to na optymalizację parametrów sieci, takich jak niezawodność, skalowalność i elastyczność, ale jednocześnie wprowadza dodatkową złożoność.</a:t>
            </a:r>
            <a:endParaRPr lang="pl-PL" sz="2400" dirty="0">
              <a:latin typeface="Times New Roman"/>
              <a:cs typeface="Times New Roman"/>
            </a:endParaRPr>
          </a:p>
          <a:p>
            <a:pPr marL="0" indent="0">
              <a:buNone/>
            </a:pPr>
            <a:r>
              <a:rPr lang="pl-PL" sz="2400" b="1" dirty="0">
                <a:latin typeface="Times New Roman"/>
                <a:ea typeface="+mn-lt"/>
                <a:cs typeface="+mn-lt"/>
              </a:rPr>
              <a:t>Zalety topologii mieszanej sieci:</a:t>
            </a:r>
            <a:endParaRPr lang="pl-PL" sz="2400" dirty="0">
              <a:latin typeface="Times New Roman"/>
              <a:cs typeface="Times New Roman"/>
            </a:endParaRPr>
          </a:p>
          <a:p>
            <a:r>
              <a:rPr lang="pl-PL" sz="2400" dirty="0">
                <a:latin typeface="Times New Roman"/>
                <a:ea typeface="+mn-lt"/>
                <a:cs typeface="+mn-lt"/>
              </a:rPr>
              <a:t>Możliwość wykorzystania najlepszych cech różnych topologii.</a:t>
            </a:r>
            <a:endParaRPr lang="pl-PL" sz="2400" dirty="0">
              <a:latin typeface="Times New Roman"/>
              <a:cs typeface="Times New Roman"/>
            </a:endParaRPr>
          </a:p>
          <a:p>
            <a:r>
              <a:rPr lang="pl-PL" sz="2400" dirty="0">
                <a:latin typeface="Times New Roman"/>
                <a:ea typeface="+mn-lt"/>
                <a:cs typeface="+mn-lt"/>
              </a:rPr>
              <a:t>Większa elastyczność i łatwość rozbudowy sieci.</a:t>
            </a:r>
            <a:endParaRPr lang="pl-PL" sz="2400" dirty="0">
              <a:latin typeface="Times New Roman"/>
              <a:cs typeface="Times New Roman"/>
            </a:endParaRPr>
          </a:p>
          <a:p>
            <a:r>
              <a:rPr lang="pl-PL" sz="2400" dirty="0">
                <a:latin typeface="Times New Roman"/>
                <a:ea typeface="+mn-lt"/>
                <a:cs typeface="+mn-lt"/>
              </a:rPr>
              <a:t>Zwiększona niezawodność dzięki redundancji elementów.</a:t>
            </a:r>
            <a:endParaRPr lang="pl-PL" sz="2400" dirty="0">
              <a:latin typeface="Times New Roman"/>
              <a:cs typeface="Times New Roman"/>
            </a:endParaRPr>
          </a:p>
          <a:p>
            <a:r>
              <a:rPr lang="pl-PL" sz="2400" dirty="0">
                <a:latin typeface="Times New Roman"/>
                <a:ea typeface="+mn-lt"/>
                <a:cs typeface="+mn-lt"/>
              </a:rPr>
              <a:t>Możliwość optymalizacji wydajności i kosztów dla konkretnego zastosowania.</a:t>
            </a:r>
            <a:endParaRPr lang="pl-PL" sz="2400" dirty="0">
              <a:latin typeface="Times New Roman"/>
              <a:cs typeface="Times New Roman"/>
            </a:endParaRPr>
          </a:p>
          <a:p>
            <a:pPr marL="0" indent="0">
              <a:buNone/>
            </a:pPr>
            <a:r>
              <a:rPr lang="pl-PL" sz="2400" b="1" dirty="0">
                <a:latin typeface="Times New Roman"/>
                <a:ea typeface="+mn-lt"/>
                <a:cs typeface="+mn-lt"/>
              </a:rPr>
              <a:t>Wady topologii mieszanej sieci:</a:t>
            </a:r>
            <a:endParaRPr lang="pl-PL" sz="2400" dirty="0">
              <a:latin typeface="Times New Roman"/>
              <a:cs typeface="Times New Roman"/>
            </a:endParaRPr>
          </a:p>
          <a:p>
            <a:r>
              <a:rPr lang="pl-PL" sz="2400" dirty="0">
                <a:latin typeface="Times New Roman"/>
                <a:ea typeface="+mn-lt"/>
                <a:cs typeface="+mn-lt"/>
              </a:rPr>
              <a:t>Wyższy koszt budowy i utrzymania.</a:t>
            </a:r>
            <a:endParaRPr lang="pl-PL" sz="2400" dirty="0">
              <a:latin typeface="Times New Roman"/>
              <a:cs typeface="Times New Roman"/>
            </a:endParaRPr>
          </a:p>
          <a:p>
            <a:r>
              <a:rPr lang="pl-PL" sz="2400" dirty="0">
                <a:latin typeface="Times New Roman"/>
                <a:ea typeface="+mn-lt"/>
                <a:cs typeface="+mn-lt"/>
              </a:rPr>
              <a:t>Większa złożoność projektowania i zarządzania siecią.</a:t>
            </a:r>
            <a:endParaRPr lang="pl-PL" sz="2400" dirty="0">
              <a:latin typeface="Times New Roman"/>
              <a:cs typeface="Times New Roman"/>
            </a:endParaRPr>
          </a:p>
          <a:p>
            <a:r>
              <a:rPr lang="pl-PL" sz="2400" dirty="0">
                <a:latin typeface="Times New Roman"/>
                <a:ea typeface="+mn-lt"/>
                <a:cs typeface="+mn-lt"/>
              </a:rPr>
              <a:t>Potencjalne trudności w integracji różnych technologii.</a:t>
            </a:r>
            <a:endParaRPr lang="pl-PL" sz="2400" dirty="0">
              <a:latin typeface="Times New Roman"/>
              <a:cs typeface="Times New Roman"/>
            </a:endParaRPr>
          </a:p>
          <a:p>
            <a:pPr marL="0" indent="0">
              <a:buNone/>
            </a:pPr>
            <a:endParaRPr lang="pl-PL" sz="2400" dirty="0">
              <a:latin typeface="Times New Roman"/>
              <a:cs typeface="Times New Roman"/>
            </a:endParaRPr>
          </a:p>
        </p:txBody>
      </p:sp>
    </p:spTree>
    <p:extLst>
      <p:ext uri="{BB962C8B-B14F-4D97-AF65-F5344CB8AC3E}">
        <p14:creationId xmlns:p14="http://schemas.microsoft.com/office/powerpoint/2010/main" val="6826540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FDDE6-8A6B-CB6F-7051-4F8C9A311767}"/>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C5296158-07E3-81E5-B9E9-28D1D4294FB2}"/>
              </a:ext>
            </a:extLst>
          </p:cNvPr>
          <p:cNvSpPr>
            <a:spLocks noGrp="1"/>
          </p:cNvSpPr>
          <p:nvPr>
            <p:ph type="ctrTitle"/>
          </p:nvPr>
        </p:nvSpPr>
        <p:spPr>
          <a:xfrm>
            <a:off x="1524000" y="237899"/>
            <a:ext cx="9144000" cy="882650"/>
          </a:xfrm>
        </p:spPr>
        <p:txBody>
          <a:bodyPr>
            <a:normAutofit/>
          </a:bodyPr>
          <a:lstStyle/>
          <a:p>
            <a:r>
              <a:rPr lang="pl-PL" sz="4400" dirty="0">
                <a:latin typeface="Times New Roman"/>
                <a:cs typeface="Times New Roman"/>
              </a:rPr>
              <a:t>Zagadnienie nr 17</a:t>
            </a:r>
          </a:p>
        </p:txBody>
      </p:sp>
      <p:sp>
        <p:nvSpPr>
          <p:cNvPr id="3" name="Podtytuł 2">
            <a:extLst>
              <a:ext uri="{FF2B5EF4-FFF2-40B4-BE49-F238E27FC236}">
                <a16:creationId xmlns:a16="http://schemas.microsoft.com/office/drawing/2014/main" id="{4FE82021-A3AA-680F-1C3A-53C21DB6A492}"/>
              </a:ext>
            </a:extLst>
          </p:cNvPr>
          <p:cNvSpPr>
            <a:spLocks noGrp="1"/>
          </p:cNvSpPr>
          <p:nvPr>
            <p:ph type="subTitle" idx="1"/>
          </p:nvPr>
        </p:nvSpPr>
        <p:spPr>
          <a:xfrm>
            <a:off x="1524000" y="2601913"/>
            <a:ext cx="9144000" cy="1655762"/>
          </a:xfrm>
        </p:spPr>
        <p:txBody>
          <a:bodyPr vert="horz" lIns="91440" tIns="45720" rIns="91440" bIns="45720" rtlCol="0" anchor="t">
            <a:normAutofit/>
          </a:bodyPr>
          <a:lstStyle/>
          <a:p>
            <a:r>
              <a:rPr lang="pl-PL" dirty="0">
                <a:latin typeface="Times New Roman"/>
                <a:ea typeface="+mn-lt"/>
                <a:cs typeface="+mn-lt"/>
              </a:rPr>
              <a:t>Prawa opisujące przepływ prądu elektrycznego w przewodnikach (Pojęcia: napięcie, natężenie prądu, prawo Ohma, zależność oporu od temperatury, I </a:t>
            </a:r>
            <a:r>
              <a:rPr lang="pl-PL" err="1">
                <a:latin typeface="Times New Roman"/>
                <a:ea typeface="+mn-lt"/>
                <a:cs typeface="+mn-lt"/>
              </a:rPr>
              <a:t>i</a:t>
            </a:r>
            <a:r>
              <a:rPr lang="pl-PL" dirty="0">
                <a:latin typeface="Times New Roman"/>
                <a:ea typeface="+mn-lt"/>
                <a:cs typeface="+mn-lt"/>
              </a:rPr>
              <a:t> II prawo Kirchhoffa, praca i moc prądu)</a:t>
            </a:r>
            <a:endParaRPr lang="pl-PL">
              <a:latin typeface="Times New Roman"/>
              <a:cs typeface="Times New Roman"/>
            </a:endParaRPr>
          </a:p>
        </p:txBody>
      </p:sp>
    </p:spTree>
    <p:extLst>
      <p:ext uri="{BB962C8B-B14F-4D97-AF65-F5344CB8AC3E}">
        <p14:creationId xmlns:p14="http://schemas.microsoft.com/office/powerpoint/2010/main" val="39422669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04006FE-8688-9439-F1C6-AB5F2F974DC5}"/>
              </a:ext>
            </a:extLst>
          </p:cNvPr>
          <p:cNvSpPr>
            <a:spLocks noGrp="1"/>
          </p:cNvSpPr>
          <p:nvPr>
            <p:ph type="title"/>
          </p:nvPr>
        </p:nvSpPr>
        <p:spPr>
          <a:xfrm>
            <a:off x="838200" y="384175"/>
            <a:ext cx="10515600" cy="1325563"/>
          </a:xfrm>
        </p:spPr>
        <p:txBody>
          <a:bodyPr/>
          <a:lstStyle/>
          <a:p>
            <a:r>
              <a:rPr lang="pl-PL" dirty="0">
                <a:latin typeface="Times New Roman"/>
                <a:cs typeface="Times New Roman"/>
              </a:rPr>
              <a:t>Co to jest prąd elektryczny?</a:t>
            </a:r>
          </a:p>
        </p:txBody>
      </p:sp>
      <p:sp>
        <p:nvSpPr>
          <p:cNvPr id="3" name="Symbol zastępczy zawartości 2">
            <a:extLst>
              <a:ext uri="{FF2B5EF4-FFF2-40B4-BE49-F238E27FC236}">
                <a16:creationId xmlns:a16="http://schemas.microsoft.com/office/drawing/2014/main" id="{4047D4D7-86CF-072D-920A-2D2FAF7DFF08}"/>
              </a:ext>
            </a:extLst>
          </p:cNvPr>
          <p:cNvSpPr>
            <a:spLocks noGrp="1"/>
          </p:cNvSpPr>
          <p:nvPr>
            <p:ph idx="1"/>
          </p:nvPr>
        </p:nvSpPr>
        <p:spPr/>
        <p:txBody>
          <a:bodyPr vert="horz" lIns="91440" tIns="45720" rIns="91440" bIns="45720" rtlCol="0" anchor="t">
            <a:normAutofit/>
          </a:bodyPr>
          <a:lstStyle/>
          <a:p>
            <a:pPr marL="0" indent="0">
              <a:buNone/>
            </a:pPr>
            <a:r>
              <a:rPr lang="pl-PL" sz="2400" b="1" dirty="0">
                <a:latin typeface="Times New Roman"/>
                <a:ea typeface="+mn-lt"/>
                <a:cs typeface="+mn-lt"/>
              </a:rPr>
              <a:t>Prąd elektryczny</a:t>
            </a:r>
            <a:r>
              <a:rPr lang="pl-PL" sz="2400" dirty="0">
                <a:latin typeface="Times New Roman"/>
                <a:ea typeface="+mn-lt"/>
                <a:cs typeface="+mn-lt"/>
              </a:rPr>
              <a:t> – uporządkowany ruch ładunków elektrycznych przez przekrój poprzeczny środowiska pod działaniem pola elektrycznego. Jest to również wielkość określona jako stosunek elementarnego ładunku elektrycznego </a:t>
            </a:r>
            <a:r>
              <a:rPr lang="pl-PL" sz="2400" err="1">
                <a:latin typeface="Times New Roman"/>
                <a:ea typeface="+mn-lt"/>
                <a:cs typeface="+mn-lt"/>
              </a:rPr>
              <a:t>δq</a:t>
            </a:r>
            <a:r>
              <a:rPr lang="pl-PL" sz="2400" dirty="0">
                <a:latin typeface="Times New Roman"/>
                <a:ea typeface="+mn-lt"/>
                <a:cs typeface="+mn-lt"/>
              </a:rPr>
              <a:t> przenoszonego przez cząsteczki naładowane w ciągu pewnego czasu elementarnego </a:t>
            </a:r>
            <a:r>
              <a:rPr lang="pl-PL" sz="2400" err="1">
                <a:latin typeface="Times New Roman"/>
                <a:ea typeface="+mn-lt"/>
                <a:cs typeface="+mn-lt"/>
              </a:rPr>
              <a:t>δt</a:t>
            </a:r>
            <a:r>
              <a:rPr lang="pl-PL" sz="2400" dirty="0">
                <a:latin typeface="Times New Roman"/>
                <a:ea typeface="+mn-lt"/>
                <a:cs typeface="+mn-lt"/>
              </a:rPr>
              <a:t> przez dany przekrój poprzeczny środowiska, do tego czasu:</a:t>
            </a:r>
          </a:p>
          <a:p>
            <a:pPr marL="0" indent="0">
              <a:buNone/>
            </a:pPr>
            <a:endParaRPr lang="pl-PL" sz="2400" dirty="0">
              <a:latin typeface="Times New Roman"/>
              <a:cs typeface="Times New Roman"/>
            </a:endParaRPr>
          </a:p>
          <a:p>
            <a:pPr marL="0" indent="0">
              <a:buNone/>
            </a:pPr>
            <a:endParaRPr lang="pl-PL" sz="2400" dirty="0">
              <a:latin typeface="Times New Roman"/>
              <a:ea typeface="+mn-lt"/>
              <a:cs typeface="Times New Roman"/>
            </a:endParaRPr>
          </a:p>
          <a:p>
            <a:pPr marL="0" indent="0">
              <a:buNone/>
            </a:pPr>
            <a:r>
              <a:rPr lang="pl-PL" sz="2400" dirty="0">
                <a:latin typeface="Times New Roman"/>
                <a:ea typeface="+mn-lt"/>
                <a:cs typeface="+mn-lt"/>
              </a:rPr>
              <a:t>Wartość tego stosunku nazywamy natężeniem prądu elektrycznego. Jednostką natężenia prądu elektrycznego jest amper [A].</a:t>
            </a:r>
            <a:endParaRPr lang="pl-PL" sz="2400">
              <a:latin typeface="Times New Roman"/>
              <a:cs typeface="Times New Roman"/>
            </a:endParaRPr>
          </a:p>
        </p:txBody>
      </p:sp>
      <p:pic>
        <p:nvPicPr>
          <p:cNvPr id="5" name="Obraz 4" descr="Obraz zawierający Czcionka, typografia, Grafika, design&#10;&#10;Zawartość wygenerowana przez sztuczną inteligencję może być niepoprawna.">
            <a:extLst>
              <a:ext uri="{FF2B5EF4-FFF2-40B4-BE49-F238E27FC236}">
                <a16:creationId xmlns:a16="http://schemas.microsoft.com/office/drawing/2014/main" id="{BEA90E87-D56C-15FE-67AB-869521113549}"/>
              </a:ext>
            </a:extLst>
          </p:cNvPr>
          <p:cNvPicPr>
            <a:picLocks noChangeAspect="1"/>
          </p:cNvPicPr>
          <p:nvPr/>
        </p:nvPicPr>
        <p:blipFill>
          <a:blip r:embed="rId2"/>
          <a:stretch>
            <a:fillRect/>
          </a:stretch>
        </p:blipFill>
        <p:spPr>
          <a:xfrm>
            <a:off x="838200" y="3638550"/>
            <a:ext cx="952500" cy="723900"/>
          </a:xfrm>
          <a:prstGeom prst="rect">
            <a:avLst/>
          </a:prstGeom>
        </p:spPr>
      </p:pic>
      <p:pic>
        <p:nvPicPr>
          <p:cNvPr id="6" name="Obraz 5" descr="Obraz zawierający Czcionka, tekst, biały, numer&#10;&#10;Zawartość wygenerowana przez sztuczną inteligencję może być niepoprawna.">
            <a:extLst>
              <a:ext uri="{FF2B5EF4-FFF2-40B4-BE49-F238E27FC236}">
                <a16:creationId xmlns:a16="http://schemas.microsoft.com/office/drawing/2014/main" id="{8EE5DBD3-42CD-652D-95EA-8E03BB3226EB}"/>
              </a:ext>
            </a:extLst>
          </p:cNvPr>
          <p:cNvPicPr>
            <a:picLocks noChangeAspect="1"/>
          </p:cNvPicPr>
          <p:nvPr/>
        </p:nvPicPr>
        <p:blipFill>
          <a:blip r:embed="rId3"/>
          <a:stretch>
            <a:fillRect/>
          </a:stretch>
        </p:blipFill>
        <p:spPr>
          <a:xfrm>
            <a:off x="6972300" y="5100638"/>
            <a:ext cx="2552700" cy="962025"/>
          </a:xfrm>
          <a:prstGeom prst="rect">
            <a:avLst/>
          </a:prstGeom>
        </p:spPr>
      </p:pic>
    </p:spTree>
    <p:extLst>
      <p:ext uri="{BB962C8B-B14F-4D97-AF65-F5344CB8AC3E}">
        <p14:creationId xmlns:p14="http://schemas.microsoft.com/office/powerpoint/2010/main" val="1329829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DE5A734-808A-6C92-4228-9F319922CC13}"/>
              </a:ext>
            </a:extLst>
          </p:cNvPr>
          <p:cNvSpPr>
            <a:spLocks noGrp="1"/>
          </p:cNvSpPr>
          <p:nvPr>
            <p:ph type="title"/>
          </p:nvPr>
        </p:nvSpPr>
        <p:spPr/>
        <p:txBody>
          <a:bodyPr/>
          <a:lstStyle/>
          <a:p>
            <a:r>
              <a:rPr lang="pl-PL" dirty="0">
                <a:latin typeface="Times New Roman"/>
                <a:ea typeface="+mj-lt"/>
                <a:cs typeface="+mj-lt"/>
              </a:rPr>
              <a:t>Podstawowe wielkości elektryczne</a:t>
            </a:r>
            <a:endParaRPr lang="pl-PL" dirty="0">
              <a:latin typeface="Times New Roman"/>
              <a:cs typeface="Times New Roman"/>
            </a:endParaRPr>
          </a:p>
        </p:txBody>
      </p:sp>
      <p:sp>
        <p:nvSpPr>
          <p:cNvPr id="3" name="Symbol zastępczy zawartości 2">
            <a:extLst>
              <a:ext uri="{FF2B5EF4-FFF2-40B4-BE49-F238E27FC236}">
                <a16:creationId xmlns:a16="http://schemas.microsoft.com/office/drawing/2014/main" id="{1F23E855-55FA-3EA0-2809-22F8E3FEAA08}"/>
              </a:ext>
            </a:extLst>
          </p:cNvPr>
          <p:cNvSpPr>
            <a:spLocks noGrp="1"/>
          </p:cNvSpPr>
          <p:nvPr>
            <p:ph idx="1"/>
          </p:nvPr>
        </p:nvSpPr>
        <p:spPr>
          <a:xfrm>
            <a:off x="838200" y="1701800"/>
            <a:ext cx="10515600" cy="4351338"/>
          </a:xfrm>
        </p:spPr>
        <p:txBody>
          <a:bodyPr vert="horz" lIns="91440" tIns="45720" rIns="91440" bIns="45720" rtlCol="0" anchor="t">
            <a:normAutofit/>
          </a:bodyPr>
          <a:lstStyle/>
          <a:p>
            <a:pPr marL="0" indent="0">
              <a:buNone/>
            </a:pPr>
            <a:r>
              <a:rPr lang="pl-PL" sz="2400" dirty="0">
                <a:latin typeface="Times New Roman"/>
                <a:ea typeface="+mn-lt"/>
                <a:cs typeface="+mn-lt"/>
              </a:rPr>
              <a:t>Podstawowe wielkości elektryczne to: prąd elektryczny, napięcie i związany z nim potencjał elektryczny, rezystancja, pojemność kondensatora.</a:t>
            </a:r>
            <a:endParaRPr lang="pl-PL" sz="2400" dirty="0">
              <a:latin typeface="Times New Roman"/>
              <a:ea typeface="+mn-lt"/>
              <a:cs typeface="Times New Roman"/>
            </a:endParaRPr>
          </a:p>
          <a:p>
            <a:pPr marL="0" indent="0">
              <a:buNone/>
            </a:pPr>
            <a:r>
              <a:rPr lang="pl-PL" sz="2400" b="1" dirty="0">
                <a:solidFill>
                  <a:srgbClr val="000000"/>
                </a:solidFill>
                <a:latin typeface="Times New Roman"/>
                <a:ea typeface="+mn-lt"/>
                <a:cs typeface="Times New Roman"/>
              </a:rPr>
              <a:t>Napięcie elektryczne</a:t>
            </a:r>
            <a:r>
              <a:rPr lang="pl-PL" sz="2400" dirty="0">
                <a:solidFill>
                  <a:srgbClr val="000000"/>
                </a:solidFill>
                <a:latin typeface="Times New Roman"/>
                <a:ea typeface="+mn-lt"/>
                <a:cs typeface="Times New Roman"/>
              </a:rPr>
              <a:t> – różnica </a:t>
            </a:r>
            <a:r>
              <a:rPr lang="pl-PL" sz="2400" dirty="0">
                <a:latin typeface="Times New Roman"/>
                <a:ea typeface="+mn-lt"/>
                <a:cs typeface="Times New Roman"/>
              </a:rPr>
              <a:t>potencjałów elektrycznych</a:t>
            </a:r>
            <a:r>
              <a:rPr lang="pl-PL" sz="2400" dirty="0">
                <a:solidFill>
                  <a:srgbClr val="000000"/>
                </a:solidFill>
                <a:latin typeface="Times New Roman"/>
                <a:ea typeface="+mn-lt"/>
                <a:cs typeface="Times New Roman"/>
              </a:rPr>
              <a:t> między dwoma punktami </a:t>
            </a:r>
            <a:r>
              <a:rPr lang="pl-PL" sz="2400" dirty="0">
                <a:latin typeface="Times New Roman"/>
                <a:ea typeface="+mn-lt"/>
                <a:cs typeface="Times New Roman"/>
              </a:rPr>
              <a:t>obwodu elektrycznego</a:t>
            </a:r>
            <a:r>
              <a:rPr lang="pl-PL" sz="2400" dirty="0">
                <a:solidFill>
                  <a:srgbClr val="000000"/>
                </a:solidFill>
                <a:latin typeface="Times New Roman"/>
                <a:ea typeface="+mn-lt"/>
                <a:cs typeface="Times New Roman"/>
              </a:rPr>
              <a:t> lub </a:t>
            </a:r>
            <a:r>
              <a:rPr lang="pl-PL" sz="2400" dirty="0">
                <a:latin typeface="Times New Roman"/>
                <a:ea typeface="+mn-lt"/>
                <a:cs typeface="Times New Roman"/>
              </a:rPr>
              <a:t>pola elektrycznego</a:t>
            </a:r>
            <a:r>
              <a:rPr lang="pl-PL" sz="2400" dirty="0">
                <a:solidFill>
                  <a:srgbClr val="000000"/>
                </a:solidFill>
                <a:latin typeface="Times New Roman"/>
                <a:ea typeface="+mn-lt"/>
                <a:cs typeface="Times New Roman"/>
              </a:rPr>
              <a:t>. Symbolem napięcia jest U. Napięcie elektryczne jest to stosunek </a:t>
            </a:r>
            <a:r>
              <a:rPr lang="pl-PL" sz="2400" dirty="0">
                <a:latin typeface="Times New Roman"/>
                <a:ea typeface="+mn-lt"/>
                <a:cs typeface="Times New Roman"/>
              </a:rPr>
              <a:t>pracy</a:t>
            </a:r>
            <a:r>
              <a:rPr lang="pl-PL" sz="2400" dirty="0">
                <a:solidFill>
                  <a:srgbClr val="000000"/>
                </a:solidFill>
                <a:latin typeface="Times New Roman"/>
                <a:ea typeface="+mn-lt"/>
                <a:cs typeface="Times New Roman"/>
              </a:rPr>
              <a:t> wykonanej przeciwko polu, podczas przenoszenia </a:t>
            </a:r>
            <a:r>
              <a:rPr lang="pl-PL" sz="2400" dirty="0">
                <a:latin typeface="Times New Roman"/>
                <a:ea typeface="+mn-lt"/>
                <a:cs typeface="Times New Roman"/>
              </a:rPr>
              <a:t>ładunku elektrycznego</a:t>
            </a:r>
            <a:r>
              <a:rPr lang="pl-PL" sz="2400" dirty="0">
                <a:solidFill>
                  <a:srgbClr val="000000"/>
                </a:solidFill>
                <a:latin typeface="Times New Roman"/>
                <a:ea typeface="+mn-lt"/>
                <a:cs typeface="Times New Roman"/>
              </a:rPr>
              <a:t> między punktami, dla których określa się napięcie, do wartości tego ładunku. Wyraża to wzór:</a:t>
            </a:r>
          </a:p>
          <a:p>
            <a:pPr marL="0" indent="0">
              <a:buNone/>
            </a:pPr>
            <a:endParaRPr lang="pl-PL" sz="2400" dirty="0">
              <a:latin typeface="Times New Roman"/>
              <a:cs typeface="Times New Roman"/>
            </a:endParaRPr>
          </a:p>
          <a:p>
            <a:pPr marL="0" indent="0">
              <a:buNone/>
            </a:pPr>
            <a:r>
              <a:rPr lang="pl-PL" sz="2400" b="1" dirty="0">
                <a:latin typeface="Times New Roman"/>
                <a:cs typeface="Times New Roman"/>
              </a:rPr>
              <a:t>Potencjał elektryczny</a:t>
            </a:r>
            <a:r>
              <a:rPr lang="pl-PL" sz="2400" dirty="0">
                <a:latin typeface="Times New Roman"/>
                <a:cs typeface="Times New Roman"/>
              </a:rPr>
              <a:t> - </a:t>
            </a:r>
            <a:r>
              <a:rPr lang="pl-PL" sz="2400" dirty="0">
                <a:solidFill>
                  <a:srgbClr val="000000"/>
                </a:solidFill>
                <a:latin typeface="Times New Roman"/>
                <a:ea typeface="+mn-lt"/>
                <a:cs typeface="Times New Roman"/>
              </a:rPr>
              <a:t> ilość </a:t>
            </a:r>
            <a:r>
              <a:rPr lang="pl-PL" sz="2400" dirty="0">
                <a:latin typeface="Times New Roman"/>
                <a:ea typeface="+mn-lt"/>
                <a:cs typeface="Times New Roman"/>
              </a:rPr>
              <a:t>energii</a:t>
            </a:r>
            <a:r>
              <a:rPr lang="pl-PL" sz="2400" dirty="0">
                <a:solidFill>
                  <a:srgbClr val="000000"/>
                </a:solidFill>
                <a:latin typeface="Times New Roman"/>
                <a:ea typeface="+mn-lt"/>
                <a:cs typeface="Times New Roman"/>
              </a:rPr>
              <a:t>/pracy potrzebnej, aby przenieść ładunek q w polu elektrycznym z punktu x to punktu y.</a:t>
            </a:r>
          </a:p>
        </p:txBody>
      </p:sp>
      <p:pic>
        <p:nvPicPr>
          <p:cNvPr id="4" name="Obraz 3" descr="Obraz zawierający Czcionka, tekst, biały, linia&#10;&#10;Zawartość wygenerowana przez sztuczną inteligencję może być niepoprawna.">
            <a:extLst>
              <a:ext uri="{FF2B5EF4-FFF2-40B4-BE49-F238E27FC236}">
                <a16:creationId xmlns:a16="http://schemas.microsoft.com/office/drawing/2014/main" id="{37A9723F-784E-BAD1-FBBC-926F206AD491}"/>
              </a:ext>
            </a:extLst>
          </p:cNvPr>
          <p:cNvPicPr>
            <a:picLocks noChangeAspect="1"/>
          </p:cNvPicPr>
          <p:nvPr/>
        </p:nvPicPr>
        <p:blipFill>
          <a:blip r:embed="rId2"/>
          <a:stretch>
            <a:fillRect/>
          </a:stretch>
        </p:blipFill>
        <p:spPr>
          <a:xfrm>
            <a:off x="7505700" y="4010025"/>
            <a:ext cx="2438400" cy="609600"/>
          </a:xfrm>
          <a:prstGeom prst="rect">
            <a:avLst/>
          </a:prstGeom>
        </p:spPr>
      </p:pic>
      <p:pic>
        <p:nvPicPr>
          <p:cNvPr id="5" name="Obraz 4" descr="Obraz zawierający tekst, Czcionka, biały, numer&#10;&#10;Zawartość wygenerowana przez sztuczną inteligencję może być niepoprawna.">
            <a:extLst>
              <a:ext uri="{FF2B5EF4-FFF2-40B4-BE49-F238E27FC236}">
                <a16:creationId xmlns:a16="http://schemas.microsoft.com/office/drawing/2014/main" id="{D05A061B-75A4-04F8-E8AB-13274F674730}"/>
              </a:ext>
            </a:extLst>
          </p:cNvPr>
          <p:cNvPicPr>
            <a:picLocks noChangeAspect="1"/>
          </p:cNvPicPr>
          <p:nvPr/>
        </p:nvPicPr>
        <p:blipFill>
          <a:blip r:embed="rId3"/>
          <a:stretch>
            <a:fillRect/>
          </a:stretch>
        </p:blipFill>
        <p:spPr>
          <a:xfrm>
            <a:off x="10044113" y="4010025"/>
            <a:ext cx="1209675" cy="533400"/>
          </a:xfrm>
          <a:prstGeom prst="rect">
            <a:avLst/>
          </a:prstGeom>
        </p:spPr>
      </p:pic>
    </p:spTree>
    <p:extLst>
      <p:ext uri="{BB962C8B-B14F-4D97-AF65-F5344CB8AC3E}">
        <p14:creationId xmlns:p14="http://schemas.microsoft.com/office/powerpoint/2010/main" val="9783715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D481F30D-3528-DE78-63E5-9116B528825B}"/>
              </a:ext>
            </a:extLst>
          </p:cNvPr>
          <p:cNvSpPr>
            <a:spLocks noGrp="1"/>
          </p:cNvSpPr>
          <p:nvPr>
            <p:ph idx="1"/>
          </p:nvPr>
        </p:nvSpPr>
        <p:spPr>
          <a:xfrm>
            <a:off x="838200" y="311150"/>
            <a:ext cx="10515600" cy="6542088"/>
          </a:xfrm>
        </p:spPr>
        <p:txBody>
          <a:bodyPr vert="horz" lIns="91440" tIns="45720" rIns="91440" bIns="45720" rtlCol="0" anchor="t">
            <a:normAutofit/>
          </a:bodyPr>
          <a:lstStyle/>
          <a:p>
            <a:pPr marL="0" indent="0">
              <a:buNone/>
            </a:pPr>
            <a:r>
              <a:rPr lang="pl-PL" sz="2400" b="1" dirty="0">
                <a:solidFill>
                  <a:srgbClr val="000000"/>
                </a:solidFill>
                <a:latin typeface="Times New Roman"/>
                <a:ea typeface="+mn-lt"/>
                <a:cs typeface="+mn-lt"/>
              </a:rPr>
              <a:t>Rezystancja </a:t>
            </a:r>
            <a:r>
              <a:rPr lang="pl-PL" sz="2400" dirty="0">
                <a:solidFill>
                  <a:srgbClr val="000000"/>
                </a:solidFill>
                <a:latin typeface="Times New Roman"/>
                <a:ea typeface="+mn-lt"/>
                <a:cs typeface="+mn-lt"/>
              </a:rPr>
              <a:t>- wielkość charakteryzująca relację między napięciem a natężeniem prądu elektrycznego w obwodach prądu stałego. W obwodach prądu przemiennego rezystancją nazywa się część rzeczywistą impedancji zespolonej. Rezystancja jest zdefiniowana wzorem:</a:t>
            </a:r>
          </a:p>
          <a:p>
            <a:pPr marL="0" indent="0">
              <a:buNone/>
            </a:pPr>
            <a:r>
              <a:rPr lang="pl-PL" sz="2400" dirty="0">
                <a:latin typeface="Times New Roman"/>
                <a:cs typeface="Times New Roman"/>
              </a:rPr>
              <a:t>Gdzie: </a:t>
            </a:r>
            <a:br>
              <a:rPr lang="pl-PL" sz="2400" dirty="0">
                <a:latin typeface="Times New Roman"/>
                <a:cs typeface="Times New Roman"/>
              </a:rPr>
            </a:br>
            <a:r>
              <a:rPr lang="pl-PL" sz="2400" dirty="0">
                <a:latin typeface="Times New Roman"/>
                <a:cs typeface="Times New Roman"/>
              </a:rPr>
              <a:t>R – rezystancja, </a:t>
            </a:r>
            <a:br>
              <a:rPr lang="pl-PL" sz="2400" dirty="0">
                <a:latin typeface="Times New Roman"/>
              </a:rPr>
            </a:br>
            <a:r>
              <a:rPr lang="pl-PL" sz="2400" dirty="0">
                <a:latin typeface="Times New Roman"/>
                <a:cs typeface="Times New Roman"/>
              </a:rPr>
              <a:t>U - napięcie prądu elektrycznego, </a:t>
            </a:r>
            <a:br>
              <a:rPr lang="pl-PL" sz="2400" dirty="0">
                <a:latin typeface="Times New Roman"/>
              </a:rPr>
            </a:br>
            <a:r>
              <a:rPr lang="pl-PL" sz="2400" dirty="0">
                <a:latin typeface="Times New Roman"/>
                <a:cs typeface="Times New Roman"/>
              </a:rPr>
              <a:t>I  - natężenie prądu elektrycznego.</a:t>
            </a:r>
          </a:p>
          <a:p>
            <a:pPr marL="0" indent="0">
              <a:buNone/>
            </a:pPr>
            <a:r>
              <a:rPr lang="pl-PL" sz="2400" dirty="0">
                <a:latin typeface="Times New Roman"/>
                <a:cs typeface="Times New Roman"/>
              </a:rPr>
              <a:t>Jednostką rezystancji jest [Ω] = [V]/[A].</a:t>
            </a:r>
          </a:p>
          <a:p>
            <a:pPr marL="0" indent="0">
              <a:buNone/>
            </a:pPr>
            <a:r>
              <a:rPr lang="pl-PL" sz="2400" b="1" dirty="0">
                <a:latin typeface="Times New Roman"/>
                <a:cs typeface="Times New Roman"/>
              </a:rPr>
              <a:t>Pojemność kondensatora</a:t>
            </a:r>
            <a:r>
              <a:rPr lang="pl-PL" sz="2400" dirty="0">
                <a:latin typeface="Times New Roman"/>
                <a:cs typeface="Times New Roman"/>
              </a:rPr>
              <a:t> - </a:t>
            </a:r>
            <a:r>
              <a:rPr lang="pl-PL" sz="2400" dirty="0">
                <a:solidFill>
                  <a:srgbClr val="000000"/>
                </a:solidFill>
                <a:latin typeface="Times New Roman"/>
                <a:ea typeface="Lato"/>
                <a:cs typeface="Lato"/>
              </a:rPr>
              <a:t>Pojemność jest właściwością elektryczną kondensatora i jest to stosunek zgromadzonego ładunku do napięcia. Jednostką pojemności jest Farad (F).  Pojemność elektryczną kondensatora definiuje się więc jako stosunek maksymalnego ładunku Q, który może zgromadzić się w kondensatorze, do napięcia U przyłożonego do okładek. Innymi słowy, pojemność elektryczna jest maksymalnym ładunkiem przypadającym na 1V napięcia.</a:t>
            </a:r>
          </a:p>
        </p:txBody>
      </p:sp>
      <p:pic>
        <p:nvPicPr>
          <p:cNvPr id="5" name="Obraz 4" descr="Obraz zawierający szkic, design, typografia&#10;&#10;Zawartość wygenerowana przez sztuczną inteligencję może być niepoprawna.">
            <a:extLst>
              <a:ext uri="{FF2B5EF4-FFF2-40B4-BE49-F238E27FC236}">
                <a16:creationId xmlns:a16="http://schemas.microsoft.com/office/drawing/2014/main" id="{5B267C08-2362-5BAE-5FE0-073EF8553339}"/>
              </a:ext>
            </a:extLst>
          </p:cNvPr>
          <p:cNvPicPr>
            <a:picLocks noChangeAspect="1"/>
          </p:cNvPicPr>
          <p:nvPr/>
        </p:nvPicPr>
        <p:blipFill>
          <a:blip r:embed="rId2"/>
          <a:stretch>
            <a:fillRect/>
          </a:stretch>
        </p:blipFill>
        <p:spPr>
          <a:xfrm>
            <a:off x="10215563" y="1309688"/>
            <a:ext cx="809625" cy="542925"/>
          </a:xfrm>
          <a:prstGeom prst="rect">
            <a:avLst/>
          </a:prstGeom>
        </p:spPr>
      </p:pic>
      <p:pic>
        <p:nvPicPr>
          <p:cNvPr id="6" name="Obraz 5" descr="Obraz zawierający czarne, ciemność&#10;&#10;Zawartość wygenerowana przez sztuczną inteligencję może być niepoprawna.">
            <a:extLst>
              <a:ext uri="{FF2B5EF4-FFF2-40B4-BE49-F238E27FC236}">
                <a16:creationId xmlns:a16="http://schemas.microsoft.com/office/drawing/2014/main" id="{C888C172-0E1E-3D52-CF6D-F98250013495}"/>
              </a:ext>
            </a:extLst>
          </p:cNvPr>
          <p:cNvPicPr>
            <a:picLocks noChangeAspect="1"/>
          </p:cNvPicPr>
          <p:nvPr/>
        </p:nvPicPr>
        <p:blipFill>
          <a:blip r:embed="rId3"/>
          <a:stretch>
            <a:fillRect/>
          </a:stretch>
        </p:blipFill>
        <p:spPr>
          <a:xfrm>
            <a:off x="8734425" y="5329237"/>
            <a:ext cx="1485900" cy="1047750"/>
          </a:xfrm>
          <a:prstGeom prst="rect">
            <a:avLst/>
          </a:prstGeom>
        </p:spPr>
      </p:pic>
    </p:spTree>
    <p:extLst>
      <p:ext uri="{BB962C8B-B14F-4D97-AF65-F5344CB8AC3E}">
        <p14:creationId xmlns:p14="http://schemas.microsoft.com/office/powerpoint/2010/main" val="3915989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6BDCC09F-7E3D-0103-50B3-C5009C2A308C}"/>
              </a:ext>
            </a:extLst>
          </p:cNvPr>
          <p:cNvSpPr>
            <a:spLocks noGrp="1"/>
          </p:cNvSpPr>
          <p:nvPr>
            <p:ph idx="1"/>
          </p:nvPr>
        </p:nvSpPr>
        <p:spPr>
          <a:xfrm>
            <a:off x="838200" y="1339850"/>
            <a:ext cx="10515600" cy="5513388"/>
          </a:xfrm>
        </p:spPr>
        <p:txBody>
          <a:bodyPr vert="horz" lIns="91440" tIns="45720" rIns="91440" bIns="45720" rtlCol="0" anchor="t">
            <a:normAutofit lnSpcReduction="10000"/>
          </a:bodyPr>
          <a:lstStyle/>
          <a:p>
            <a:pPr marL="0" indent="0">
              <a:buNone/>
            </a:pPr>
            <a:r>
              <a:rPr lang="pl-PL" sz="2400" dirty="0">
                <a:latin typeface="Times New Roman"/>
                <a:cs typeface="Arial"/>
              </a:rPr>
              <a:t>Jeżeli do przewodnika przyłożymy napięcie </a:t>
            </a:r>
            <a:r>
              <a:rPr lang="pl-PL" sz="2400" i="1" dirty="0">
                <a:latin typeface="Times New Roman"/>
                <a:cs typeface="Arial"/>
              </a:rPr>
              <a:t>U</a:t>
            </a:r>
            <a:r>
              <a:rPr lang="pl-PL" sz="2400" dirty="0">
                <a:latin typeface="Times New Roman"/>
                <a:cs typeface="Arial"/>
              </a:rPr>
              <a:t> (różnicę potencjałów </a:t>
            </a:r>
            <a:r>
              <a:rPr lang="pl-PL" sz="2400" dirty="0">
                <a:latin typeface="Times New Roman"/>
                <a:cs typeface="Times New Roman"/>
              </a:rPr>
              <a:t>Δ</a:t>
            </a:r>
            <a:r>
              <a:rPr lang="pl-PL" sz="2400" i="1" dirty="0">
                <a:latin typeface="Times New Roman"/>
                <a:cs typeface="Arial"/>
              </a:rPr>
              <a:t>V</a:t>
            </a:r>
            <a:r>
              <a:rPr lang="pl-PL" sz="2400" dirty="0">
                <a:latin typeface="Times New Roman"/>
                <a:cs typeface="Arial"/>
              </a:rPr>
              <a:t>), to przez przewodnik płynie prąd, którego natężenie</a:t>
            </a:r>
            <a:r>
              <a:rPr lang="pl-PL" sz="2400" i="1" dirty="0">
                <a:latin typeface="Times New Roman"/>
                <a:cs typeface="Arial"/>
              </a:rPr>
              <a:t> I</a:t>
            </a:r>
            <a:r>
              <a:rPr lang="pl-PL" sz="2400" dirty="0">
                <a:latin typeface="Times New Roman"/>
                <a:cs typeface="Arial"/>
              </a:rPr>
              <a:t> jest proporcjonalne do przyłożonego napięcia. Ten ważny wynik doświadczalny jest treścią prawa Ohma, które stwierdza, że </a:t>
            </a:r>
            <a:r>
              <a:rPr lang="pl-PL" sz="2400" dirty="0">
                <a:latin typeface="Times New Roman"/>
                <a:ea typeface="+mn-lt"/>
                <a:cs typeface="Arial"/>
              </a:rPr>
              <a:t>s</a:t>
            </a:r>
            <a:r>
              <a:rPr lang="pl-PL" sz="2400" dirty="0">
                <a:latin typeface="Times New Roman"/>
                <a:ea typeface="+mn-lt"/>
                <a:cs typeface="+mn-lt"/>
              </a:rPr>
              <a:t>tosunek napięcia przyłożonego do przewodnika do natężenia prądu przepływającego przez ten przewodnik jest stały i nie zależy ani od napięcia ani od natężenia prądu. </a:t>
            </a:r>
            <a:r>
              <a:rPr lang="pl-PL" sz="2400" dirty="0">
                <a:latin typeface="Times New Roman"/>
                <a:ea typeface="+mn-lt"/>
                <a:cs typeface="Arial"/>
              </a:rPr>
              <a:t>Prawo Ohma jest słuszne pod warunkiem, że przewodnik znajduje się w stałej temperaturze. Opór przewodnika zależy od jego wymiarów; opór R jest proporcjonalny do długości przewodnika l i odwrotnie proporcjonalny do jego przekroju S.</a:t>
            </a:r>
          </a:p>
          <a:p>
            <a:pPr marL="0" indent="0">
              <a:buNone/>
            </a:pPr>
            <a:endParaRPr lang="pl-PL" sz="2400" dirty="0">
              <a:latin typeface="Times New Roman"/>
              <a:cs typeface="Arial"/>
            </a:endParaRPr>
          </a:p>
          <a:p>
            <a:pPr marL="0" indent="0">
              <a:buNone/>
            </a:pPr>
            <a:endParaRPr lang="pl-PL" sz="2400" dirty="0">
              <a:latin typeface="Times New Roman"/>
              <a:cs typeface="Arial"/>
            </a:endParaRPr>
          </a:p>
          <a:p>
            <a:pPr marL="0" indent="0">
              <a:buNone/>
            </a:pPr>
            <a:endParaRPr lang="pl-PL" sz="2400" dirty="0">
              <a:latin typeface="Times New Roman"/>
              <a:cs typeface="Arial"/>
            </a:endParaRPr>
          </a:p>
          <a:p>
            <a:pPr marL="0" indent="0">
              <a:buNone/>
            </a:pPr>
            <a:endParaRPr lang="pl-PL" sz="2400" dirty="0">
              <a:latin typeface="Times New Roman"/>
              <a:cs typeface="Arial"/>
            </a:endParaRPr>
          </a:p>
          <a:p>
            <a:pPr marL="0" indent="0">
              <a:buNone/>
            </a:pPr>
            <a:r>
              <a:rPr lang="pl-PL" sz="2400" dirty="0">
                <a:latin typeface="Times New Roman"/>
                <a:cs typeface="Times New Roman"/>
              </a:rPr>
              <a:t>Stałą ρ charakteryzującą elektryczne własności materiału, nazywamy </a:t>
            </a:r>
            <a:r>
              <a:rPr lang="pl-PL" sz="2400" dirty="0">
                <a:solidFill>
                  <a:srgbClr val="000000"/>
                </a:solidFill>
                <a:latin typeface="Times New Roman"/>
                <a:cs typeface="Times New Roman"/>
              </a:rPr>
              <a:t>oporem właściwym</a:t>
            </a:r>
            <a:endParaRPr lang="pl-PL" dirty="0"/>
          </a:p>
        </p:txBody>
      </p:sp>
      <p:sp>
        <p:nvSpPr>
          <p:cNvPr id="5" name="Tytuł 1">
            <a:extLst>
              <a:ext uri="{FF2B5EF4-FFF2-40B4-BE49-F238E27FC236}">
                <a16:creationId xmlns:a16="http://schemas.microsoft.com/office/drawing/2014/main" id="{88BCBDFC-2CBB-FEC7-5E07-66E9F82E3A42}"/>
              </a:ext>
            </a:extLst>
          </p:cNvPr>
          <p:cNvSpPr>
            <a:spLocks noGrp="1"/>
          </p:cNvSpPr>
          <p:nvPr>
            <p:ph type="title"/>
          </p:nvPr>
        </p:nvSpPr>
        <p:spPr>
          <a:xfrm>
            <a:off x="838200" y="3175"/>
            <a:ext cx="10515600" cy="1325563"/>
          </a:xfrm>
        </p:spPr>
        <p:txBody>
          <a:bodyPr>
            <a:normAutofit/>
          </a:bodyPr>
          <a:lstStyle/>
          <a:p>
            <a:r>
              <a:rPr lang="pl-PL" dirty="0">
                <a:latin typeface="Times New Roman"/>
                <a:cs typeface="Times New Roman"/>
              </a:rPr>
              <a:t>Prawo Ohma</a:t>
            </a:r>
            <a:endParaRPr lang="pl-PL" dirty="0"/>
          </a:p>
        </p:txBody>
      </p:sp>
      <p:pic>
        <p:nvPicPr>
          <p:cNvPr id="7" name="Obraz 6" descr="Elektronika (nie tylko) dla informatyków (2) Rezystory - Zrozumieć  Elektronikę">
            <a:extLst>
              <a:ext uri="{FF2B5EF4-FFF2-40B4-BE49-F238E27FC236}">
                <a16:creationId xmlns:a16="http://schemas.microsoft.com/office/drawing/2014/main" id="{3267B0C7-A2B3-7282-8E69-47DD557F28C3}"/>
              </a:ext>
            </a:extLst>
          </p:cNvPr>
          <p:cNvPicPr>
            <a:picLocks noChangeAspect="1"/>
          </p:cNvPicPr>
          <p:nvPr/>
        </p:nvPicPr>
        <p:blipFill>
          <a:blip r:embed="rId2"/>
          <a:stretch>
            <a:fillRect/>
          </a:stretch>
        </p:blipFill>
        <p:spPr>
          <a:xfrm>
            <a:off x="4648200" y="125826"/>
            <a:ext cx="1447799" cy="1091373"/>
          </a:xfrm>
          <a:prstGeom prst="rect">
            <a:avLst/>
          </a:prstGeom>
        </p:spPr>
      </p:pic>
      <p:pic>
        <p:nvPicPr>
          <p:cNvPr id="8" name="Obraz 7" descr="Obraz zawierający Czcionka, numer, typografia, design&#10;&#10;Zawartość wygenerowana przez sztuczną inteligencję może być niepoprawna.">
            <a:extLst>
              <a:ext uri="{FF2B5EF4-FFF2-40B4-BE49-F238E27FC236}">
                <a16:creationId xmlns:a16="http://schemas.microsoft.com/office/drawing/2014/main" id="{9B5E94F9-E85F-E819-81E0-E237FFF22A32}"/>
              </a:ext>
            </a:extLst>
          </p:cNvPr>
          <p:cNvPicPr>
            <a:picLocks noChangeAspect="1"/>
          </p:cNvPicPr>
          <p:nvPr/>
        </p:nvPicPr>
        <p:blipFill>
          <a:blip r:embed="rId3"/>
          <a:stretch>
            <a:fillRect/>
          </a:stretch>
        </p:blipFill>
        <p:spPr>
          <a:xfrm>
            <a:off x="2645642" y="3888088"/>
            <a:ext cx="2157265" cy="1729774"/>
          </a:xfrm>
          <a:prstGeom prst="rect">
            <a:avLst/>
          </a:prstGeom>
        </p:spPr>
      </p:pic>
    </p:spTree>
    <p:extLst>
      <p:ext uri="{BB962C8B-B14F-4D97-AF65-F5344CB8AC3E}">
        <p14:creationId xmlns:p14="http://schemas.microsoft.com/office/powerpoint/2010/main" val="2600745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318282D-E9C1-D52A-C6A9-85F34341CC30}"/>
              </a:ext>
            </a:extLst>
          </p:cNvPr>
          <p:cNvSpPr>
            <a:spLocks noGrp="1"/>
          </p:cNvSpPr>
          <p:nvPr>
            <p:ph type="title"/>
          </p:nvPr>
        </p:nvSpPr>
        <p:spPr/>
        <p:txBody>
          <a:bodyPr>
            <a:normAutofit/>
          </a:bodyPr>
          <a:lstStyle/>
          <a:p>
            <a:r>
              <a:rPr lang="pl-PL" dirty="0">
                <a:latin typeface="Times New Roman"/>
                <a:cs typeface="Times New Roman"/>
              </a:rPr>
              <a:t>Zależność</a:t>
            </a:r>
            <a:r>
              <a:rPr lang="pl-PL" dirty="0">
                <a:latin typeface="Aptos Display"/>
                <a:cs typeface="Times New Roman"/>
              </a:rPr>
              <a:t> oporu od temperatury</a:t>
            </a:r>
            <a:endParaRPr lang="pl-PL" dirty="0"/>
          </a:p>
        </p:txBody>
      </p:sp>
      <p:sp>
        <p:nvSpPr>
          <p:cNvPr id="3" name="Symbol zastępczy zawartości 2">
            <a:extLst>
              <a:ext uri="{FF2B5EF4-FFF2-40B4-BE49-F238E27FC236}">
                <a16:creationId xmlns:a16="http://schemas.microsoft.com/office/drawing/2014/main" id="{640954ED-BCAE-6125-EBCD-22DD7599FA61}"/>
              </a:ext>
            </a:extLst>
          </p:cNvPr>
          <p:cNvSpPr>
            <a:spLocks noGrp="1"/>
          </p:cNvSpPr>
          <p:nvPr>
            <p:ph idx="1"/>
          </p:nvPr>
        </p:nvSpPr>
        <p:spPr>
          <a:xfrm>
            <a:off x="838200" y="1397000"/>
            <a:ext cx="10515600" cy="4351338"/>
          </a:xfrm>
        </p:spPr>
        <p:txBody>
          <a:bodyPr vert="horz" lIns="91440" tIns="45720" rIns="91440" bIns="45720" rtlCol="0" anchor="t">
            <a:normAutofit/>
          </a:bodyPr>
          <a:lstStyle/>
          <a:p>
            <a:pPr marL="0" indent="0">
              <a:buNone/>
            </a:pPr>
            <a:r>
              <a:rPr lang="pl-PL" sz="2400" dirty="0">
                <a:latin typeface="Times New Roman"/>
                <a:ea typeface="+mn-lt"/>
                <a:cs typeface="+mn-lt"/>
              </a:rPr>
              <a:t>W metalach wzrost temperatury zwiększa drgania atomów, co skutkuje większą liczbą zderzeń elektronów i wyższym oporem. Natomiast w półprzewodnikach podniesienie temperatury generuje dodatkowych nośników ładunku, przez co opór może maleć. Ta różnorodność </a:t>
            </a:r>
            <a:r>
              <a:rPr lang="pl-PL" sz="2400" err="1">
                <a:latin typeface="Times New Roman"/>
                <a:ea typeface="+mn-lt"/>
                <a:cs typeface="+mn-lt"/>
              </a:rPr>
              <a:t>zachowań</a:t>
            </a:r>
            <a:r>
              <a:rPr lang="pl-PL" sz="2400" dirty="0">
                <a:latin typeface="Times New Roman"/>
                <a:ea typeface="+mn-lt"/>
                <a:cs typeface="+mn-lt"/>
              </a:rPr>
              <a:t> jest kluczowa przy projektowaniu układów elektronicznych i systemów pomiarowych.</a:t>
            </a:r>
          </a:p>
          <a:p>
            <a:pPr marL="0" indent="0">
              <a:buNone/>
            </a:pPr>
            <a:r>
              <a:rPr lang="pl-PL" sz="2400" dirty="0">
                <a:latin typeface="Times New Roman"/>
                <a:cs typeface="Times New Roman"/>
              </a:rPr>
              <a:t>Po przekształceniach odpowiednich </a:t>
            </a:r>
            <a:r>
              <a:rPr lang="pl-PL" sz="2400" err="1">
                <a:latin typeface="Times New Roman"/>
                <a:cs typeface="Times New Roman"/>
              </a:rPr>
              <a:t>wzórów</a:t>
            </a:r>
            <a:r>
              <a:rPr lang="pl-PL" sz="2400" dirty="0">
                <a:latin typeface="Times New Roman"/>
                <a:cs typeface="Times New Roman"/>
              </a:rPr>
              <a:t> otrzymujemy: </a:t>
            </a:r>
          </a:p>
          <a:p>
            <a:pPr marL="0" indent="0">
              <a:buNone/>
            </a:pPr>
            <a:endParaRPr lang="pl-PL" sz="2400" dirty="0">
              <a:latin typeface="Times New Roman"/>
              <a:cs typeface="Times New Roman"/>
            </a:endParaRPr>
          </a:p>
          <a:p>
            <a:pPr marL="0" indent="0">
              <a:buNone/>
            </a:pPr>
            <a:r>
              <a:rPr lang="pl-PL" sz="2400" dirty="0">
                <a:latin typeface="Times New Roman"/>
                <a:ea typeface="+mn-lt"/>
                <a:cs typeface="+mn-lt"/>
              </a:rPr>
              <a:t>gdzie R0 i RT są odpowiednio oporami przewodnika w temperaturze T0 i T. Stąd temperaturowy współczynnik oporu właściwego w tym przybliżeniu można znaleźć jako: </a:t>
            </a:r>
            <a:endParaRPr lang="pl-PL" sz="2400" dirty="0">
              <a:latin typeface="Times New Roman"/>
              <a:cs typeface="Times New Roman"/>
            </a:endParaRPr>
          </a:p>
        </p:txBody>
      </p:sp>
      <p:pic>
        <p:nvPicPr>
          <p:cNvPr id="4" name="Obraz 3">
            <a:extLst>
              <a:ext uri="{FF2B5EF4-FFF2-40B4-BE49-F238E27FC236}">
                <a16:creationId xmlns:a16="http://schemas.microsoft.com/office/drawing/2014/main" id="{159C5120-801A-A4D8-B1DF-ABB9AF5F8C57}"/>
              </a:ext>
            </a:extLst>
          </p:cNvPr>
          <p:cNvPicPr>
            <a:picLocks noChangeAspect="1"/>
          </p:cNvPicPr>
          <p:nvPr/>
        </p:nvPicPr>
        <p:blipFill>
          <a:blip r:embed="rId2"/>
          <a:stretch>
            <a:fillRect/>
          </a:stretch>
        </p:blipFill>
        <p:spPr>
          <a:xfrm>
            <a:off x="919163" y="3571875"/>
            <a:ext cx="3209925" cy="485775"/>
          </a:xfrm>
          <a:prstGeom prst="rect">
            <a:avLst/>
          </a:prstGeom>
        </p:spPr>
      </p:pic>
      <p:pic>
        <p:nvPicPr>
          <p:cNvPr id="5" name="Obraz 4" descr="Obraz zawierający Czcionka, tekst, design, typografia&#10;&#10;Zawartość wygenerowana przez sztuczną inteligencję może być niepoprawna.">
            <a:extLst>
              <a:ext uri="{FF2B5EF4-FFF2-40B4-BE49-F238E27FC236}">
                <a16:creationId xmlns:a16="http://schemas.microsoft.com/office/drawing/2014/main" id="{B7E875F1-4DAB-99A2-816A-7F7F4FF3636C}"/>
              </a:ext>
            </a:extLst>
          </p:cNvPr>
          <p:cNvPicPr>
            <a:picLocks noChangeAspect="1"/>
          </p:cNvPicPr>
          <p:nvPr/>
        </p:nvPicPr>
        <p:blipFill>
          <a:blip r:embed="rId3"/>
          <a:stretch>
            <a:fillRect/>
          </a:stretch>
        </p:blipFill>
        <p:spPr>
          <a:xfrm>
            <a:off x="1847850" y="5024438"/>
            <a:ext cx="2286000" cy="876300"/>
          </a:xfrm>
          <a:prstGeom prst="rect">
            <a:avLst/>
          </a:prstGeom>
        </p:spPr>
      </p:pic>
    </p:spTree>
    <p:extLst>
      <p:ext uri="{BB962C8B-B14F-4D97-AF65-F5344CB8AC3E}">
        <p14:creationId xmlns:p14="http://schemas.microsoft.com/office/powerpoint/2010/main" val="10605376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6208F76-279F-DECC-50EB-56B07E769C79}"/>
              </a:ext>
            </a:extLst>
          </p:cNvPr>
          <p:cNvSpPr>
            <a:spLocks noGrp="1"/>
          </p:cNvSpPr>
          <p:nvPr>
            <p:ph type="title"/>
          </p:nvPr>
        </p:nvSpPr>
        <p:spPr/>
        <p:txBody>
          <a:bodyPr>
            <a:normAutofit/>
          </a:bodyPr>
          <a:lstStyle/>
          <a:p>
            <a:r>
              <a:rPr lang="pl-PL" dirty="0">
                <a:latin typeface="Times New Roman"/>
                <a:cs typeface="Times New Roman"/>
              </a:rPr>
              <a:t>I </a:t>
            </a:r>
            <a:r>
              <a:rPr lang="pl-PL" dirty="0" err="1">
                <a:latin typeface="Times New Roman"/>
                <a:cs typeface="Times New Roman"/>
              </a:rPr>
              <a:t>i</a:t>
            </a:r>
            <a:r>
              <a:rPr lang="pl-PL" dirty="0">
                <a:latin typeface="Times New Roman"/>
                <a:cs typeface="Times New Roman"/>
              </a:rPr>
              <a:t> II prawo Kirchhoffa</a:t>
            </a:r>
            <a:endParaRPr lang="pl-PL">
              <a:latin typeface="Times New Roman"/>
              <a:cs typeface="Times New Roman"/>
            </a:endParaRPr>
          </a:p>
        </p:txBody>
      </p:sp>
      <p:sp>
        <p:nvSpPr>
          <p:cNvPr id="3" name="Symbol zastępczy zawartości 2">
            <a:extLst>
              <a:ext uri="{FF2B5EF4-FFF2-40B4-BE49-F238E27FC236}">
                <a16:creationId xmlns:a16="http://schemas.microsoft.com/office/drawing/2014/main" id="{3457E929-2890-F019-CFE9-F9BD14AB07B8}"/>
              </a:ext>
            </a:extLst>
          </p:cNvPr>
          <p:cNvSpPr>
            <a:spLocks noGrp="1"/>
          </p:cNvSpPr>
          <p:nvPr>
            <p:ph idx="1"/>
          </p:nvPr>
        </p:nvSpPr>
        <p:spPr>
          <a:xfrm>
            <a:off x="838200" y="1701800"/>
            <a:ext cx="10515600" cy="5151438"/>
          </a:xfrm>
        </p:spPr>
        <p:txBody>
          <a:bodyPr vert="horz" lIns="91440" tIns="45720" rIns="91440" bIns="45720" rtlCol="0" anchor="t">
            <a:normAutofit/>
          </a:bodyPr>
          <a:lstStyle/>
          <a:p>
            <a:pPr marL="0" indent="0">
              <a:buNone/>
            </a:pPr>
            <a:r>
              <a:rPr lang="pl-PL" sz="2400" b="1" dirty="0">
                <a:latin typeface="Times New Roman"/>
                <a:ea typeface="+mn-lt"/>
                <a:cs typeface="+mn-lt"/>
              </a:rPr>
              <a:t>Pierwsze prawo Kirchhoffa</a:t>
            </a:r>
            <a:r>
              <a:rPr lang="pl-PL" sz="2400" dirty="0">
                <a:latin typeface="Times New Roman"/>
                <a:ea typeface="+mn-lt"/>
                <a:cs typeface="+mn-lt"/>
              </a:rPr>
              <a:t> (znane również jako bilans natężeń prądów w węźle) jest konsekwencją zasady zachowania ładunku elektrycznego. Mówi ono, że algebraiczna suma natężeń prądów wpływających do węzła sieci elektrycznej i prądów z niego wypływających jest równa zeru. Prądy wpływające poprzedza się znakiem plus, a prądy wypływające znakiem minus. Matematycznie I prawo Kirchhoffa można zapisać w postaci:</a:t>
            </a:r>
            <a:endParaRPr lang="pl-PL" sz="2400" dirty="0">
              <a:latin typeface="Times New Roman"/>
              <a:ea typeface="+mn-lt"/>
              <a:cs typeface="Times New Roman"/>
            </a:endParaRPr>
          </a:p>
          <a:p>
            <a:pPr marL="0" indent="0">
              <a:buNone/>
            </a:pPr>
            <a:endParaRPr lang="pl-PL" sz="2400">
              <a:latin typeface="Times New Roman"/>
              <a:cs typeface="Times New Roman"/>
            </a:endParaRPr>
          </a:p>
          <a:p>
            <a:pPr marL="0" indent="0">
              <a:buNone/>
            </a:pPr>
            <a:endParaRPr lang="pl-PL" dirty="0">
              <a:latin typeface="Aptos" panose="020B0004020202020204"/>
              <a:cs typeface="Times New Roman"/>
            </a:endParaRPr>
          </a:p>
        </p:txBody>
      </p:sp>
      <p:pic>
        <p:nvPicPr>
          <p:cNvPr id="4" name="Obraz 3">
            <a:extLst>
              <a:ext uri="{FF2B5EF4-FFF2-40B4-BE49-F238E27FC236}">
                <a16:creationId xmlns:a16="http://schemas.microsoft.com/office/drawing/2014/main" id="{D07BB8EB-938D-5E00-1323-00157E7F1F9F}"/>
              </a:ext>
            </a:extLst>
          </p:cNvPr>
          <p:cNvPicPr>
            <a:picLocks noChangeAspect="1"/>
          </p:cNvPicPr>
          <p:nvPr/>
        </p:nvPicPr>
        <p:blipFill>
          <a:blip r:embed="rId2"/>
          <a:stretch>
            <a:fillRect/>
          </a:stretch>
        </p:blipFill>
        <p:spPr>
          <a:xfrm>
            <a:off x="5795963" y="3657600"/>
            <a:ext cx="1581150" cy="914400"/>
          </a:xfrm>
          <a:prstGeom prst="rect">
            <a:avLst/>
          </a:prstGeom>
        </p:spPr>
      </p:pic>
    </p:spTree>
    <p:extLst>
      <p:ext uri="{BB962C8B-B14F-4D97-AF65-F5344CB8AC3E}">
        <p14:creationId xmlns:p14="http://schemas.microsoft.com/office/powerpoint/2010/main" val="9136763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78556429-35E0-D3A1-EC46-2D9606FB28DB}"/>
              </a:ext>
            </a:extLst>
          </p:cNvPr>
          <p:cNvSpPr>
            <a:spLocks noGrp="1"/>
          </p:cNvSpPr>
          <p:nvPr>
            <p:ph idx="1"/>
          </p:nvPr>
        </p:nvSpPr>
        <p:spPr>
          <a:xfrm>
            <a:off x="838200" y="530225"/>
            <a:ext cx="10515600" cy="6227763"/>
          </a:xfrm>
        </p:spPr>
        <p:txBody>
          <a:bodyPr vert="horz" lIns="91440" tIns="45720" rIns="91440" bIns="45720" rtlCol="0" anchor="t">
            <a:normAutofit fontScale="92500"/>
          </a:bodyPr>
          <a:lstStyle/>
          <a:p>
            <a:pPr marL="0" indent="0">
              <a:buNone/>
            </a:pPr>
            <a:r>
              <a:rPr lang="pl-PL" sz="2400" b="1" dirty="0">
                <a:latin typeface="Times New Roman"/>
                <a:cs typeface="Times New Roman"/>
              </a:rPr>
              <a:t>Drugie prawo Kirchhoffa</a:t>
            </a:r>
            <a:r>
              <a:rPr lang="pl-PL" sz="2400" dirty="0">
                <a:latin typeface="Times New Roman"/>
                <a:cs typeface="Times New Roman"/>
              </a:rPr>
              <a:t> (znane również jako bilans napięć w zamkniętym obwodzie elektrycznym – oczku sieci) jest konsekwencją zasady zachowania energii. Drugie prawo Kirchhoffa mówi, że suma wartości chwilowych sił elektromotorycznych występujących w oczku sieci równa się sumie wartości chwilowych spadków napięć na elementach pasywnych (np. opornikach) tego obwodu. Matematycznie drugie prawo Kirchhoffa można zapisać jako:</a:t>
            </a:r>
          </a:p>
          <a:p>
            <a:pPr marL="0" indent="0">
              <a:buNone/>
            </a:pPr>
            <a:endParaRPr lang="pl-PL" sz="2400" dirty="0">
              <a:latin typeface="Times New Roman"/>
              <a:cs typeface="Times New Roman"/>
            </a:endParaRPr>
          </a:p>
          <a:p>
            <a:pPr marL="0" indent="0">
              <a:buNone/>
            </a:pPr>
            <a:endParaRPr lang="pl-PL" sz="2400" dirty="0">
              <a:latin typeface="Times New Roman"/>
              <a:cs typeface="Times New Roman"/>
            </a:endParaRPr>
          </a:p>
          <a:p>
            <a:pPr marL="0" indent="0">
              <a:buNone/>
            </a:pPr>
            <a:r>
              <a:rPr lang="pl-PL" sz="2400" dirty="0">
                <a:latin typeface="Times New Roman"/>
                <a:ea typeface="+mn-lt"/>
                <a:cs typeface="Times New Roman"/>
              </a:rPr>
              <a:t>Aby zapisać drugie prawo Kirchhoffa dla danego oczka sieci należy najpierw ustalić kierunek obchodzenia tego oczka. Jeżeli obchodząc oczko zgodnie z ruchem wskazówek zegara napotykamy źródło siły elektromotorycznej i mijamy go przechodząc od bieguna ujemnego do dodatniego (wzrost potencjału), to SEM tego źródła zapisujemy ze znakiem plus. Natomiast, jeśli przechodzimy od bieguna dodatniego do ujemnego (spadek potencjału) to SEM zapisujemy ze znakiem minus. Jeśli napotykamy opór elektryczny, np. w postaci rezystora, to (zgodnie z pierwszym prawem Ohma) iloczyn jego rezystancji (oporności) i natężenia prądu przez niego płynącego zapisujemy ze znakiem plus, gdy prąd płynie przeciwnie do kierunku obchodzenia oczka (wzrost potencjału), a ze znakiem minus, gdy zgodnie z kierunkiem wędrówki po oczku (spadek potencjału). Warto zwrócić uwagę, że drugie prawo Kirchhoffa dla połączenia równoległego dwóch oporników</a:t>
            </a:r>
            <a:endParaRPr lang="pl-PL" dirty="0"/>
          </a:p>
          <a:p>
            <a:pPr marL="0" indent="0">
              <a:buNone/>
            </a:pPr>
            <a:endParaRPr lang="pl-PL" sz="2400" dirty="0">
              <a:latin typeface="Times New Roman"/>
              <a:cs typeface="Times New Roman"/>
            </a:endParaRPr>
          </a:p>
        </p:txBody>
      </p:sp>
      <p:pic>
        <p:nvPicPr>
          <p:cNvPr id="4" name="Obraz 3">
            <a:extLst>
              <a:ext uri="{FF2B5EF4-FFF2-40B4-BE49-F238E27FC236}">
                <a16:creationId xmlns:a16="http://schemas.microsoft.com/office/drawing/2014/main" id="{F5FC9855-B924-FE2A-14C9-59166E5988B5}"/>
              </a:ext>
            </a:extLst>
          </p:cNvPr>
          <p:cNvPicPr>
            <a:picLocks noChangeAspect="1"/>
          </p:cNvPicPr>
          <p:nvPr/>
        </p:nvPicPr>
        <p:blipFill>
          <a:blip r:embed="rId2"/>
          <a:stretch>
            <a:fillRect/>
          </a:stretch>
        </p:blipFill>
        <p:spPr>
          <a:xfrm>
            <a:off x="2633663" y="2243138"/>
            <a:ext cx="3009900" cy="933450"/>
          </a:xfrm>
          <a:prstGeom prst="rect">
            <a:avLst/>
          </a:prstGeom>
        </p:spPr>
      </p:pic>
    </p:spTree>
    <p:extLst>
      <p:ext uri="{BB962C8B-B14F-4D97-AF65-F5344CB8AC3E}">
        <p14:creationId xmlns:p14="http://schemas.microsoft.com/office/powerpoint/2010/main" val="2116722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B16093E8-945C-043E-6283-0AA1AD9426C9}"/>
              </a:ext>
            </a:extLst>
          </p:cNvPr>
          <p:cNvSpPr>
            <a:spLocks noGrp="1"/>
          </p:cNvSpPr>
          <p:nvPr>
            <p:ph idx="1"/>
          </p:nvPr>
        </p:nvSpPr>
        <p:spPr>
          <a:xfrm>
            <a:off x="838200" y="901700"/>
            <a:ext cx="10515600" cy="4351338"/>
          </a:xfrm>
        </p:spPr>
        <p:txBody>
          <a:bodyPr vert="horz" lIns="91440" tIns="45720" rIns="91440" bIns="45720" rtlCol="0" anchor="t">
            <a:normAutofit/>
          </a:bodyPr>
          <a:lstStyle/>
          <a:p>
            <a:pPr marL="0" indent="0">
              <a:buNone/>
            </a:pPr>
            <a:r>
              <a:rPr lang="pl-PL" sz="2400" dirty="0">
                <a:latin typeface="Times New Roman"/>
                <a:ea typeface="+mn-lt"/>
                <a:cs typeface="+mn-lt"/>
              </a:rPr>
              <a:t>Prowadzi do użytecznego związku:</a:t>
            </a:r>
            <a:endParaRPr lang="pl-PL" sz="2400" dirty="0">
              <a:latin typeface="Times New Roman"/>
              <a:ea typeface="+mn-lt"/>
              <a:cs typeface="Times New Roman"/>
            </a:endParaRPr>
          </a:p>
          <a:p>
            <a:pPr marL="0" indent="0">
              <a:buNone/>
            </a:pPr>
            <a:endParaRPr lang="pl-PL" sz="2400" dirty="0">
              <a:latin typeface="Times New Roman"/>
              <a:ea typeface="+mn-lt"/>
              <a:cs typeface="+mn-lt"/>
            </a:endParaRPr>
          </a:p>
          <a:p>
            <a:pPr marL="0" indent="0">
              <a:buNone/>
            </a:pPr>
            <a:endParaRPr lang="pl-PL" sz="2400" dirty="0">
              <a:latin typeface="Times New Roman"/>
              <a:ea typeface="+mn-lt"/>
              <a:cs typeface="+mn-lt"/>
            </a:endParaRPr>
          </a:p>
          <a:p>
            <a:pPr marL="0" indent="0">
              <a:buNone/>
            </a:pPr>
            <a:r>
              <a:rPr lang="pl-PL" sz="2400" dirty="0">
                <a:latin typeface="Times New Roman"/>
                <a:ea typeface="+mn-lt"/>
                <a:cs typeface="+mn-lt"/>
              </a:rPr>
              <a:t>z którego wynika, że natężenia prądów płynących przez dwa oporniki połączone równolegle są odwrotnie proporcjonalne do wartości oporów tych oporników.</a:t>
            </a:r>
            <a:endParaRPr lang="pl-PL" sz="2400">
              <a:latin typeface="Times New Roman"/>
              <a:cs typeface="Times New Roman"/>
            </a:endParaRPr>
          </a:p>
        </p:txBody>
      </p:sp>
      <p:pic>
        <p:nvPicPr>
          <p:cNvPr id="6" name="Obraz 5">
            <a:extLst>
              <a:ext uri="{FF2B5EF4-FFF2-40B4-BE49-F238E27FC236}">
                <a16:creationId xmlns:a16="http://schemas.microsoft.com/office/drawing/2014/main" id="{E9E8BCA9-76D4-ED4A-AADF-115EFE47B1DA}"/>
              </a:ext>
            </a:extLst>
          </p:cNvPr>
          <p:cNvPicPr>
            <a:picLocks noChangeAspect="1"/>
          </p:cNvPicPr>
          <p:nvPr/>
        </p:nvPicPr>
        <p:blipFill>
          <a:blip r:embed="rId2"/>
          <a:stretch>
            <a:fillRect/>
          </a:stretch>
        </p:blipFill>
        <p:spPr>
          <a:xfrm>
            <a:off x="923925" y="233363"/>
            <a:ext cx="2552700" cy="666750"/>
          </a:xfrm>
          <a:prstGeom prst="rect">
            <a:avLst/>
          </a:prstGeom>
        </p:spPr>
      </p:pic>
      <p:pic>
        <p:nvPicPr>
          <p:cNvPr id="7" name="Obraz 6">
            <a:extLst>
              <a:ext uri="{FF2B5EF4-FFF2-40B4-BE49-F238E27FC236}">
                <a16:creationId xmlns:a16="http://schemas.microsoft.com/office/drawing/2014/main" id="{E8BF6076-D4A9-D55E-FD1C-5E2B0624C337}"/>
              </a:ext>
            </a:extLst>
          </p:cNvPr>
          <p:cNvPicPr>
            <a:picLocks noChangeAspect="1"/>
          </p:cNvPicPr>
          <p:nvPr/>
        </p:nvPicPr>
        <p:blipFill>
          <a:blip r:embed="rId3"/>
          <a:stretch>
            <a:fillRect/>
          </a:stretch>
        </p:blipFill>
        <p:spPr>
          <a:xfrm>
            <a:off x="919163" y="1328738"/>
            <a:ext cx="1600200" cy="990600"/>
          </a:xfrm>
          <a:prstGeom prst="rect">
            <a:avLst/>
          </a:prstGeom>
        </p:spPr>
      </p:pic>
    </p:spTree>
    <p:extLst>
      <p:ext uri="{BB962C8B-B14F-4D97-AF65-F5344CB8AC3E}">
        <p14:creationId xmlns:p14="http://schemas.microsoft.com/office/powerpoint/2010/main" val="25204419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7410DCE-42F4-3184-59FC-F5B8353EC8C3}"/>
              </a:ext>
            </a:extLst>
          </p:cNvPr>
          <p:cNvSpPr>
            <a:spLocks noGrp="1"/>
          </p:cNvSpPr>
          <p:nvPr>
            <p:ph type="title"/>
          </p:nvPr>
        </p:nvSpPr>
        <p:spPr/>
        <p:txBody>
          <a:bodyPr>
            <a:normAutofit/>
          </a:bodyPr>
          <a:lstStyle/>
          <a:p>
            <a:r>
              <a:rPr lang="pl-PL" dirty="0">
                <a:latin typeface="Times New Roman"/>
                <a:cs typeface="Times New Roman"/>
              </a:rPr>
              <a:t>Praca i moc prądu</a:t>
            </a:r>
          </a:p>
        </p:txBody>
      </p:sp>
      <p:sp>
        <p:nvSpPr>
          <p:cNvPr id="3" name="Symbol zastępczy zawartości 2">
            <a:extLst>
              <a:ext uri="{FF2B5EF4-FFF2-40B4-BE49-F238E27FC236}">
                <a16:creationId xmlns:a16="http://schemas.microsoft.com/office/drawing/2014/main" id="{82FBC424-AE3F-25D2-F750-78574219AE1F}"/>
              </a:ext>
            </a:extLst>
          </p:cNvPr>
          <p:cNvSpPr>
            <a:spLocks noGrp="1"/>
          </p:cNvSpPr>
          <p:nvPr>
            <p:ph idx="1"/>
          </p:nvPr>
        </p:nvSpPr>
        <p:spPr>
          <a:xfrm>
            <a:off x="838200" y="1530350"/>
            <a:ext cx="10515600" cy="4351338"/>
          </a:xfrm>
        </p:spPr>
        <p:txBody>
          <a:bodyPr vert="horz" lIns="91440" tIns="45720" rIns="91440" bIns="45720" rtlCol="0" anchor="t">
            <a:normAutofit/>
          </a:bodyPr>
          <a:lstStyle/>
          <a:p>
            <a:pPr marL="0" indent="0">
              <a:buNone/>
            </a:pPr>
            <a:r>
              <a:rPr lang="pl-PL" sz="2400" b="1" dirty="0">
                <a:solidFill>
                  <a:srgbClr val="000000"/>
                </a:solidFill>
                <a:latin typeface="Times New Roman"/>
                <a:cs typeface="Helvetica"/>
              </a:rPr>
              <a:t>Praca prądu elektrycznego</a:t>
            </a:r>
            <a:r>
              <a:rPr lang="pl-PL" sz="2400" dirty="0">
                <a:solidFill>
                  <a:srgbClr val="000000"/>
                </a:solidFill>
                <a:latin typeface="Times New Roman"/>
                <a:cs typeface="Helvetica"/>
              </a:rPr>
              <a:t> w obwodzie elektrycznym jest wykonywana na przemieszczenie elektronów w przewodniku, pokonując opór przewodnika. </a:t>
            </a:r>
            <a:r>
              <a:rPr lang="pl-PL" sz="2400" dirty="0">
                <a:solidFill>
                  <a:srgbClr val="000000"/>
                </a:solidFill>
                <a:latin typeface="Times New Roman"/>
                <a:cs typeface="Times New Roman"/>
              </a:rPr>
              <a:t>Pracę prądu elektrycznego czyli wykorzystaną energię elektryczną możemy wyliczyć ze wzoru: W = U * I * t, , gdzie W – praca, U – napięcie, I – natężenie, t – czas przepływu prądu. Jednostką pracy prądu jest J (dżul). [J] = [V] * [A] * [s].</a:t>
            </a:r>
            <a:endParaRPr lang="pl-PL" sz="2400">
              <a:solidFill>
                <a:srgbClr val="000000"/>
              </a:solidFill>
              <a:latin typeface="Times New Roman"/>
              <a:cs typeface="Times New Roman"/>
            </a:endParaRPr>
          </a:p>
          <a:p>
            <a:pPr marL="0" indent="0">
              <a:buNone/>
            </a:pPr>
            <a:r>
              <a:rPr lang="pl-PL" sz="2400" b="1" dirty="0">
                <a:solidFill>
                  <a:srgbClr val="000000"/>
                </a:solidFill>
                <a:latin typeface="Times New Roman"/>
                <a:ea typeface="+mn-lt"/>
                <a:cs typeface="Times New Roman"/>
              </a:rPr>
              <a:t>Moc prądu</a:t>
            </a:r>
            <a:r>
              <a:rPr lang="pl-PL" sz="2400" dirty="0">
                <a:solidFill>
                  <a:srgbClr val="000000"/>
                </a:solidFill>
                <a:latin typeface="Times New Roman"/>
                <a:ea typeface="+mn-lt"/>
                <a:cs typeface="Times New Roman"/>
              </a:rPr>
              <a:t>– praca jaką wykonuje energia elektryczna w jednostce czasu. Jednostką mocy w układzie SI jest wat. W obwodach elektrycznych prądu stałego, w których odbiornikiem energii jest rezystancja, moc elektryczną można wyznaczyć ze wzoru</a:t>
            </a:r>
            <a:endParaRPr lang="pl-PL" sz="2400">
              <a:solidFill>
                <a:srgbClr val="000000"/>
              </a:solidFill>
              <a:latin typeface="Times New Roman"/>
              <a:ea typeface="+mn-lt"/>
              <a:cs typeface="Times New Roman"/>
            </a:endParaRPr>
          </a:p>
          <a:p>
            <a:pPr marL="0" indent="0">
              <a:buNone/>
            </a:pPr>
            <a:r>
              <a:rPr lang="pl-PL" sz="2400" dirty="0">
                <a:solidFill>
                  <a:srgbClr val="000000"/>
                </a:solidFill>
                <a:latin typeface="Times New Roman"/>
                <a:ea typeface="+mn-lt"/>
                <a:cs typeface="Times New Roman"/>
              </a:rPr>
              <a:t>P=U *I, gdzie P - moc, U - napięcie elektryczne, I - natężenie prądu elektrycznego. Wykorzystując prawo Ohma (U=IR) wzór na moc elektryczną można przedstawić również jako P=I</a:t>
            </a:r>
            <a:r>
              <a:rPr lang="pl-PL" sz="2400" baseline="30000" dirty="0">
                <a:solidFill>
                  <a:srgbClr val="000000"/>
                </a:solidFill>
                <a:latin typeface="Times New Roman"/>
                <a:ea typeface="+mn-lt"/>
                <a:cs typeface="Times New Roman"/>
              </a:rPr>
              <a:t>2 * </a:t>
            </a:r>
            <a:r>
              <a:rPr lang="pl-PL" sz="2400" dirty="0">
                <a:solidFill>
                  <a:srgbClr val="000000"/>
                </a:solidFill>
                <a:latin typeface="Times New Roman"/>
                <a:ea typeface="+mn-lt"/>
                <a:cs typeface="Times New Roman"/>
              </a:rPr>
              <a:t>R  = U</a:t>
            </a:r>
            <a:r>
              <a:rPr lang="pl-PL" sz="2400" baseline="30000" dirty="0">
                <a:solidFill>
                  <a:srgbClr val="000000"/>
                </a:solidFill>
                <a:latin typeface="Times New Roman"/>
                <a:ea typeface="+mn-lt"/>
                <a:cs typeface="Times New Roman"/>
              </a:rPr>
              <a:t>2 </a:t>
            </a:r>
            <a:r>
              <a:rPr lang="pl-PL" sz="2400" dirty="0">
                <a:solidFill>
                  <a:srgbClr val="000000"/>
                </a:solidFill>
                <a:latin typeface="Times New Roman"/>
                <a:ea typeface="+mn-lt"/>
                <a:cs typeface="Times New Roman"/>
              </a:rPr>
              <a:t>/ R.</a:t>
            </a:r>
            <a:endParaRPr lang="pl-PL" sz="2400" baseline="30000">
              <a:solidFill>
                <a:srgbClr val="000000"/>
              </a:solidFill>
              <a:latin typeface="Times New Roman"/>
              <a:ea typeface="+mn-lt"/>
              <a:cs typeface="Times New Roman"/>
            </a:endParaRPr>
          </a:p>
          <a:p>
            <a:pPr marL="0" indent="0">
              <a:buNone/>
            </a:pPr>
            <a:endParaRPr lang="pl-PL" sz="2400" dirty="0">
              <a:latin typeface="Times New Roman"/>
              <a:cs typeface="Times New Roman"/>
            </a:endParaRPr>
          </a:p>
        </p:txBody>
      </p:sp>
    </p:spTree>
    <p:extLst>
      <p:ext uri="{BB962C8B-B14F-4D97-AF65-F5344CB8AC3E}">
        <p14:creationId xmlns:p14="http://schemas.microsoft.com/office/powerpoint/2010/main" val="2231562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A0B5E-1AE4-2162-E36A-4C8D835D4007}"/>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F76B7609-3378-3A14-6679-2CAC85D7BE74}"/>
              </a:ext>
            </a:extLst>
          </p:cNvPr>
          <p:cNvSpPr>
            <a:spLocks noGrp="1"/>
          </p:cNvSpPr>
          <p:nvPr>
            <p:ph type="ctrTitle"/>
          </p:nvPr>
        </p:nvSpPr>
        <p:spPr>
          <a:xfrm>
            <a:off x="1524000" y="237899"/>
            <a:ext cx="9144000" cy="882650"/>
          </a:xfrm>
        </p:spPr>
        <p:txBody>
          <a:bodyPr>
            <a:normAutofit/>
          </a:bodyPr>
          <a:lstStyle/>
          <a:p>
            <a:r>
              <a:rPr lang="pl-PL" sz="4400" dirty="0">
                <a:latin typeface="Times New Roman"/>
                <a:cs typeface="Times New Roman"/>
              </a:rPr>
              <a:t>Zagadnienie nr 29</a:t>
            </a:r>
          </a:p>
        </p:txBody>
      </p:sp>
      <p:sp>
        <p:nvSpPr>
          <p:cNvPr id="3" name="Podtytuł 2">
            <a:extLst>
              <a:ext uri="{FF2B5EF4-FFF2-40B4-BE49-F238E27FC236}">
                <a16:creationId xmlns:a16="http://schemas.microsoft.com/office/drawing/2014/main" id="{73A80F6D-A127-9805-B775-3AABF4AC4F88}"/>
              </a:ext>
            </a:extLst>
          </p:cNvPr>
          <p:cNvSpPr>
            <a:spLocks noGrp="1"/>
          </p:cNvSpPr>
          <p:nvPr>
            <p:ph type="subTitle" idx="1"/>
          </p:nvPr>
        </p:nvSpPr>
        <p:spPr>
          <a:xfrm>
            <a:off x="1524000" y="2601913"/>
            <a:ext cx="9144000" cy="1655762"/>
          </a:xfrm>
        </p:spPr>
        <p:txBody>
          <a:bodyPr vert="horz" lIns="91440" tIns="45720" rIns="91440" bIns="45720" rtlCol="0" anchor="t">
            <a:normAutofit lnSpcReduction="10000"/>
          </a:bodyPr>
          <a:lstStyle/>
          <a:p>
            <a:r>
              <a:rPr lang="pl-PL">
                <a:latin typeface="Times New Roman"/>
                <a:ea typeface="+mn-lt"/>
                <a:cs typeface="Times New Roman"/>
              </a:rPr>
              <a:t>Wyznaczniki - definicja, własności, metody obliczania (</a:t>
            </a:r>
            <a:r>
              <a:rPr lang="pl-PL" err="1">
                <a:latin typeface="Times New Roman"/>
                <a:ea typeface="+mn-lt"/>
                <a:cs typeface="Times New Roman"/>
              </a:rPr>
              <a:t>tw</a:t>
            </a:r>
            <a:r>
              <a:rPr lang="pl-PL" dirty="0">
                <a:latin typeface="Times New Roman"/>
                <a:ea typeface="+mn-lt"/>
                <a:cs typeface="Times New Roman"/>
              </a:rPr>
              <a:t>. Laplace'a, minor i dopełnienie algebraiczne elementu macierzowego, macierz odwrotna i warunek jej istnienia, wyznacznik dla macierzy zmodyfikowanej przez określone operacje [transpozycja, mnożenie, …], </a:t>
            </a:r>
            <a:r>
              <a:rPr lang="pl-PL" err="1">
                <a:latin typeface="Times New Roman"/>
                <a:ea typeface="+mn-lt"/>
                <a:cs typeface="Times New Roman"/>
              </a:rPr>
              <a:t>tw</a:t>
            </a:r>
            <a:r>
              <a:rPr lang="pl-PL" dirty="0">
                <a:latin typeface="Times New Roman"/>
                <a:ea typeface="+mn-lt"/>
                <a:cs typeface="Times New Roman"/>
              </a:rPr>
              <a:t>. </a:t>
            </a:r>
            <a:r>
              <a:rPr lang="pl-PL" err="1">
                <a:latin typeface="Times New Roman"/>
                <a:ea typeface="+mn-lt"/>
                <a:cs typeface="Times New Roman"/>
              </a:rPr>
              <a:t>Cauchy’ego</a:t>
            </a:r>
            <a:r>
              <a:rPr lang="pl-PL" dirty="0">
                <a:latin typeface="Times New Roman"/>
                <a:ea typeface="+mn-lt"/>
                <a:cs typeface="Times New Roman"/>
              </a:rPr>
              <a:t>, reguła </a:t>
            </a:r>
            <a:r>
              <a:rPr lang="pl-PL" err="1">
                <a:latin typeface="Times New Roman"/>
                <a:ea typeface="+mn-lt"/>
                <a:cs typeface="Times New Roman"/>
              </a:rPr>
              <a:t>Sarusa</a:t>
            </a:r>
            <a:r>
              <a:rPr lang="pl-PL" dirty="0">
                <a:latin typeface="Times New Roman"/>
                <a:ea typeface="+mn-lt"/>
                <a:cs typeface="Times New Roman"/>
              </a:rPr>
              <a:t>, algorytm eliminacji Gaussa)</a:t>
            </a:r>
            <a:endParaRPr lang="pl-PL">
              <a:latin typeface="Times New Roman"/>
              <a:cs typeface="Times New Roman"/>
            </a:endParaRPr>
          </a:p>
        </p:txBody>
      </p:sp>
    </p:spTree>
    <p:extLst>
      <p:ext uri="{BB962C8B-B14F-4D97-AF65-F5344CB8AC3E}">
        <p14:creationId xmlns:p14="http://schemas.microsoft.com/office/powerpoint/2010/main" val="19614112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F3EAF34-CC86-6BBF-534E-3D0121B95F54}"/>
              </a:ext>
            </a:extLst>
          </p:cNvPr>
          <p:cNvSpPr>
            <a:spLocks noGrp="1"/>
          </p:cNvSpPr>
          <p:nvPr>
            <p:ph type="title"/>
          </p:nvPr>
        </p:nvSpPr>
        <p:spPr/>
        <p:txBody>
          <a:bodyPr/>
          <a:lstStyle/>
          <a:p>
            <a:r>
              <a:rPr lang="pl-PL" dirty="0">
                <a:latin typeface="Times New Roman"/>
                <a:cs typeface="Times New Roman"/>
              </a:rPr>
              <a:t>Czym jest macierz?</a:t>
            </a:r>
            <a:endParaRPr lang="pl-PL" dirty="0"/>
          </a:p>
        </p:txBody>
      </p:sp>
      <p:sp>
        <p:nvSpPr>
          <p:cNvPr id="3" name="Symbol zastępczy zawartości 2">
            <a:extLst>
              <a:ext uri="{FF2B5EF4-FFF2-40B4-BE49-F238E27FC236}">
                <a16:creationId xmlns:a16="http://schemas.microsoft.com/office/drawing/2014/main" id="{4391D72B-A38F-7901-4230-326D59056D12}"/>
              </a:ext>
            </a:extLst>
          </p:cNvPr>
          <p:cNvSpPr>
            <a:spLocks noGrp="1"/>
          </p:cNvSpPr>
          <p:nvPr>
            <p:ph idx="1"/>
          </p:nvPr>
        </p:nvSpPr>
        <p:spPr>
          <a:xfrm>
            <a:off x="838200" y="1689926"/>
            <a:ext cx="10515600" cy="4351338"/>
          </a:xfrm>
        </p:spPr>
        <p:txBody>
          <a:bodyPr vert="horz" lIns="91440" tIns="45720" rIns="91440" bIns="45720" rtlCol="0" anchor="t">
            <a:normAutofit/>
          </a:bodyPr>
          <a:lstStyle/>
          <a:p>
            <a:pPr marL="0" indent="0">
              <a:buNone/>
            </a:pPr>
            <a:r>
              <a:rPr lang="pl-PL" sz="2000" dirty="0">
                <a:solidFill>
                  <a:srgbClr val="000000"/>
                </a:solidFill>
                <a:latin typeface="Times New Roman"/>
                <a:ea typeface="+mn-lt"/>
                <a:cs typeface="Times New Roman"/>
              </a:rPr>
              <a:t>W matematyce macierz to układ liczb, symboli lub wyrażeń zapisanych w postaci prostokątnej tablicy. W algebrze liniowej macierze wprowadza się często jako sposób skondensowanego zapisu układów równań liniowych, co ma na celu wyeliminowanie powtarzających się elementów standardowej notacji układów równań tego rodzaju z wieloma niewiadomymi.</a:t>
            </a:r>
            <a:endParaRPr lang="pl-PL" sz="2000">
              <a:latin typeface="Times New Roman"/>
              <a:cs typeface="Times New Roman"/>
            </a:endParaRPr>
          </a:p>
          <a:p>
            <a:pPr marL="0" indent="0">
              <a:buNone/>
            </a:pPr>
            <a:endParaRPr lang="pl-PL" sz="2000" dirty="0">
              <a:solidFill>
                <a:srgbClr val="000000"/>
              </a:solidFill>
              <a:latin typeface="Times New Roman"/>
              <a:ea typeface="+mn-lt"/>
              <a:cs typeface="+mn-lt"/>
            </a:endParaRPr>
          </a:p>
        </p:txBody>
      </p:sp>
      <p:pic>
        <p:nvPicPr>
          <p:cNvPr id="4" name="Obraz 3" descr="undefined">
            <a:extLst>
              <a:ext uri="{FF2B5EF4-FFF2-40B4-BE49-F238E27FC236}">
                <a16:creationId xmlns:a16="http://schemas.microsoft.com/office/drawing/2014/main" id="{CD6AFA7A-2F46-D9F5-CE65-AA72CB6F9ABA}"/>
              </a:ext>
            </a:extLst>
          </p:cNvPr>
          <p:cNvPicPr>
            <a:picLocks noChangeAspect="1"/>
          </p:cNvPicPr>
          <p:nvPr/>
        </p:nvPicPr>
        <p:blipFill>
          <a:blip r:embed="rId2"/>
          <a:stretch>
            <a:fillRect/>
          </a:stretch>
        </p:blipFill>
        <p:spPr>
          <a:xfrm>
            <a:off x="7787542" y="3620891"/>
            <a:ext cx="3568861" cy="2424134"/>
          </a:xfrm>
          <a:prstGeom prst="rect">
            <a:avLst/>
          </a:prstGeom>
        </p:spPr>
      </p:pic>
    </p:spTree>
    <p:extLst>
      <p:ext uri="{BB962C8B-B14F-4D97-AF65-F5344CB8AC3E}">
        <p14:creationId xmlns:p14="http://schemas.microsoft.com/office/powerpoint/2010/main" val="13682255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5E26873-0718-BF03-34C2-597BE92CE268}"/>
              </a:ext>
            </a:extLst>
          </p:cNvPr>
          <p:cNvSpPr>
            <a:spLocks noGrp="1"/>
          </p:cNvSpPr>
          <p:nvPr>
            <p:ph type="title"/>
          </p:nvPr>
        </p:nvSpPr>
        <p:spPr/>
        <p:txBody>
          <a:bodyPr/>
          <a:lstStyle/>
          <a:p>
            <a:r>
              <a:rPr lang="pl-PL" dirty="0"/>
              <a:t>Wyznaczniki</a:t>
            </a:r>
          </a:p>
        </p:txBody>
      </p:sp>
      <p:sp>
        <p:nvSpPr>
          <p:cNvPr id="3" name="Symbol zastępczy zawartości 2">
            <a:extLst>
              <a:ext uri="{FF2B5EF4-FFF2-40B4-BE49-F238E27FC236}">
                <a16:creationId xmlns:a16="http://schemas.microsoft.com/office/drawing/2014/main" id="{11FC65A1-97AB-6579-1852-5E3436C4A629}"/>
              </a:ext>
            </a:extLst>
          </p:cNvPr>
          <p:cNvSpPr>
            <a:spLocks noGrp="1"/>
          </p:cNvSpPr>
          <p:nvPr>
            <p:ph idx="1"/>
          </p:nvPr>
        </p:nvSpPr>
        <p:spPr/>
        <p:txBody>
          <a:bodyPr vert="horz" lIns="91440" tIns="45720" rIns="91440" bIns="45720" rtlCol="0" anchor="t">
            <a:normAutofit/>
          </a:bodyPr>
          <a:lstStyle/>
          <a:p>
            <a:pPr marL="0" indent="0">
              <a:buNone/>
            </a:pPr>
            <a:r>
              <a:rPr lang="pl-PL" sz="2400" dirty="0">
                <a:latin typeface="Times New Roman"/>
                <a:ea typeface="+mn-lt"/>
                <a:cs typeface="+mn-lt"/>
              </a:rPr>
              <a:t>Wyznacznik macierzy to pojedyncza wartość liczbowa, która jest wykorzystywana przy obliczaniu macierzy odwrotnej lub przy rozwiązywaniu układów równań liniowych. Wyznacznik macierzy A jest oznaczony |</a:t>
            </a:r>
            <a:r>
              <a:rPr lang="pl-PL" sz="2400" dirty="0">
                <a:solidFill>
                  <a:srgbClr val="000000"/>
                </a:solidFill>
                <a:latin typeface="Times New Roman"/>
                <a:ea typeface="+mn-lt"/>
                <a:cs typeface="+mn-lt"/>
              </a:rPr>
              <a:t>A|</a:t>
            </a:r>
            <a:r>
              <a:rPr lang="pl-PL" sz="2400" dirty="0">
                <a:latin typeface="Times New Roman"/>
                <a:ea typeface="+mn-lt"/>
                <a:cs typeface="+mn-lt"/>
              </a:rPr>
              <a:t> lub </a:t>
            </a:r>
            <a:r>
              <a:rPr lang="pl-PL" sz="2400" dirty="0" err="1">
                <a:solidFill>
                  <a:srgbClr val="000000"/>
                </a:solidFill>
                <a:latin typeface="Times New Roman"/>
                <a:ea typeface="+mn-lt"/>
                <a:cs typeface="+mn-lt"/>
              </a:rPr>
              <a:t>det</a:t>
            </a:r>
            <a:r>
              <a:rPr lang="pl-PL" sz="2400" dirty="0">
                <a:solidFill>
                  <a:srgbClr val="000000"/>
                </a:solidFill>
                <a:latin typeface="Times New Roman"/>
                <a:ea typeface="+mn-lt"/>
                <a:cs typeface="+mn-lt"/>
              </a:rPr>
              <a:t>(A). </a:t>
            </a:r>
            <a:r>
              <a:rPr lang="pl-PL" sz="2400" dirty="0">
                <a:latin typeface="Times New Roman"/>
                <a:ea typeface="+mn-lt"/>
                <a:cs typeface="+mn-lt"/>
              </a:rPr>
              <a:t>Wyznacznik jest </a:t>
            </a:r>
            <a:r>
              <a:rPr lang="pl-PL" sz="2400">
                <a:latin typeface="Times New Roman"/>
                <a:ea typeface="+mn-lt"/>
                <a:cs typeface="+mn-lt"/>
              </a:rPr>
              <a:t>zdefiniowany tylko dla macierzy kwadratowych. Macierz nazywamy osobliwą, </a:t>
            </a:r>
            <a:r>
              <a:rPr lang="pl-PL" sz="2400" dirty="0">
                <a:latin typeface="Times New Roman"/>
                <a:ea typeface="+mn-lt"/>
                <a:cs typeface="+mn-lt"/>
              </a:rPr>
              <a:t>jeżeli jej wyznacznik jest równy zero.</a:t>
            </a:r>
            <a:endParaRPr lang="pl-PL" sz="2400" dirty="0">
              <a:latin typeface="Times New Roman"/>
              <a:cs typeface="Times New Roman"/>
            </a:endParaRPr>
          </a:p>
          <a:p>
            <a:pPr marL="0" indent="0">
              <a:buNone/>
            </a:pPr>
            <a:endParaRPr lang="pl-PL" sz="2400" dirty="0">
              <a:latin typeface="Times New Roman"/>
              <a:cs typeface="Times New Roman"/>
            </a:endParaRPr>
          </a:p>
        </p:txBody>
      </p:sp>
    </p:spTree>
    <p:extLst>
      <p:ext uri="{BB962C8B-B14F-4D97-AF65-F5344CB8AC3E}">
        <p14:creationId xmlns:p14="http://schemas.microsoft.com/office/powerpoint/2010/main" val="35138567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D618135-7C0E-7CFE-2E7C-54BCB2A75407}"/>
              </a:ext>
            </a:extLst>
          </p:cNvPr>
          <p:cNvSpPr>
            <a:spLocks noGrp="1"/>
          </p:cNvSpPr>
          <p:nvPr>
            <p:ph type="title"/>
          </p:nvPr>
        </p:nvSpPr>
        <p:spPr/>
        <p:txBody>
          <a:bodyPr/>
          <a:lstStyle/>
          <a:p>
            <a:r>
              <a:rPr lang="pl-PL" dirty="0"/>
              <a:t>Własności wyznaczników</a:t>
            </a:r>
          </a:p>
        </p:txBody>
      </p:sp>
      <p:sp>
        <p:nvSpPr>
          <p:cNvPr id="3" name="Symbol zastępczy zawartości 2">
            <a:extLst>
              <a:ext uri="{FF2B5EF4-FFF2-40B4-BE49-F238E27FC236}">
                <a16:creationId xmlns:a16="http://schemas.microsoft.com/office/drawing/2014/main" id="{E8DB0B01-BEDF-D71B-B663-CDFC0EA4A01F}"/>
              </a:ext>
            </a:extLst>
          </p:cNvPr>
          <p:cNvSpPr>
            <a:spLocks noGrp="1"/>
          </p:cNvSpPr>
          <p:nvPr>
            <p:ph idx="1"/>
          </p:nvPr>
        </p:nvSpPr>
        <p:spPr/>
        <p:txBody>
          <a:bodyPr vert="horz" lIns="91440" tIns="45720" rIns="91440" bIns="45720" rtlCol="0" anchor="t">
            <a:normAutofit/>
          </a:bodyPr>
          <a:lstStyle/>
          <a:p>
            <a:pPr>
              <a:lnSpc>
                <a:spcPct val="70000"/>
              </a:lnSpc>
            </a:pPr>
            <a:r>
              <a:rPr lang="pl-PL" sz="2400" err="1">
                <a:latin typeface="Times New Roman"/>
                <a:cs typeface="Times New Roman"/>
              </a:rPr>
              <a:t>det</a:t>
            </a:r>
            <a:r>
              <a:rPr lang="pl-PL" sz="2400" dirty="0">
                <a:latin typeface="Times New Roman"/>
                <a:cs typeface="Times New Roman"/>
              </a:rPr>
              <a:t>(A)=0 oznacza, że macierz jest osobliwa (nieodwracalna)</a:t>
            </a:r>
          </a:p>
          <a:p>
            <a:pPr>
              <a:lnSpc>
                <a:spcPct val="70000"/>
              </a:lnSpc>
            </a:pPr>
            <a:r>
              <a:rPr lang="pl-PL" sz="2400" dirty="0" err="1">
                <a:latin typeface="Times New Roman"/>
                <a:cs typeface="Times New Roman"/>
              </a:rPr>
              <a:t>det</a:t>
            </a:r>
            <a:r>
              <a:rPr lang="pl-PL" sz="2400" dirty="0">
                <a:latin typeface="Times New Roman"/>
                <a:cs typeface="Times New Roman"/>
              </a:rPr>
              <a:t>⁡(A⋅B)=</a:t>
            </a:r>
            <a:r>
              <a:rPr lang="pl-PL" sz="2400" dirty="0" err="1">
                <a:latin typeface="Times New Roman"/>
                <a:cs typeface="Times New Roman"/>
              </a:rPr>
              <a:t>det</a:t>
            </a:r>
            <a:r>
              <a:rPr lang="pl-PL" sz="2400" dirty="0">
                <a:latin typeface="Times New Roman"/>
                <a:cs typeface="Times New Roman"/>
              </a:rPr>
              <a:t>⁡(A)⋅</a:t>
            </a:r>
            <a:r>
              <a:rPr lang="pl-PL" sz="2400" dirty="0" err="1">
                <a:latin typeface="Times New Roman"/>
                <a:cs typeface="Times New Roman"/>
              </a:rPr>
              <a:t>det</a:t>
            </a:r>
            <a:r>
              <a:rPr lang="pl-PL" sz="2400" dirty="0">
                <a:latin typeface="Times New Roman"/>
                <a:cs typeface="Times New Roman"/>
              </a:rPr>
              <a:t>⁡(B)</a:t>
            </a:r>
          </a:p>
          <a:p>
            <a:pPr>
              <a:lnSpc>
                <a:spcPct val="70000"/>
              </a:lnSpc>
            </a:pPr>
            <a:r>
              <a:rPr lang="pl-PL" sz="2400" err="1">
                <a:latin typeface="Times New Roman"/>
                <a:cs typeface="Times New Roman"/>
              </a:rPr>
              <a:t>det</a:t>
            </a:r>
            <a:r>
              <a:rPr lang="pl-PL" sz="2400" dirty="0">
                <a:latin typeface="Times New Roman"/>
                <a:cs typeface="Times New Roman"/>
              </a:rPr>
              <a:t>(A</a:t>
            </a:r>
            <a:r>
              <a:rPr lang="pl-PL" sz="2400" baseline="30000" dirty="0">
                <a:latin typeface="Times New Roman"/>
                <a:cs typeface="Times New Roman"/>
              </a:rPr>
              <a:t>T</a:t>
            </a:r>
            <a:r>
              <a:rPr lang="pl-PL" sz="2400" dirty="0">
                <a:latin typeface="Times New Roman"/>
                <a:cs typeface="Times New Roman"/>
              </a:rPr>
              <a:t>)=</a:t>
            </a:r>
            <a:r>
              <a:rPr lang="pl-PL" sz="2400" err="1">
                <a:latin typeface="Times New Roman"/>
                <a:cs typeface="Times New Roman"/>
              </a:rPr>
              <a:t>det</a:t>
            </a:r>
            <a:r>
              <a:rPr lang="pl-PL" sz="2400" dirty="0">
                <a:latin typeface="Times New Roman"/>
                <a:cs typeface="Times New Roman"/>
              </a:rPr>
              <a:t>(A) (wyznacznik nie zmienia się przy transpozycji)</a:t>
            </a:r>
          </a:p>
          <a:p>
            <a:pPr marL="0" indent="0">
              <a:lnSpc>
                <a:spcPct val="70000"/>
              </a:lnSpc>
              <a:buNone/>
            </a:pPr>
            <a:endParaRPr lang="pl-PL" sz="2400" dirty="0">
              <a:latin typeface="Times New Roman"/>
              <a:cs typeface="Times New Roman"/>
            </a:endParaRPr>
          </a:p>
          <a:p>
            <a:pPr marL="0" indent="0">
              <a:lnSpc>
                <a:spcPct val="70000"/>
              </a:lnSpc>
              <a:buNone/>
            </a:pPr>
            <a:r>
              <a:rPr lang="pl-PL" sz="2400" dirty="0">
                <a:latin typeface="Times New Roman"/>
                <a:cs typeface="Times New Roman"/>
              </a:rPr>
              <a:t>Wpływ operacji elementarnych na wyznacznik:</a:t>
            </a:r>
          </a:p>
          <a:p>
            <a:pPr>
              <a:lnSpc>
                <a:spcPct val="70000"/>
              </a:lnSpc>
            </a:pPr>
            <a:r>
              <a:rPr lang="pl-PL" sz="2400" dirty="0">
                <a:latin typeface="Times New Roman"/>
                <a:cs typeface="Times New Roman"/>
              </a:rPr>
              <a:t>Zamiana dwóch wierszy/kolumn zmienia znak wyznacznika</a:t>
            </a:r>
          </a:p>
          <a:p>
            <a:pPr>
              <a:lnSpc>
                <a:spcPct val="70000"/>
              </a:lnSpc>
            </a:pPr>
            <a:r>
              <a:rPr lang="pl-PL" sz="2400" dirty="0">
                <a:latin typeface="Times New Roman"/>
                <a:cs typeface="Times New Roman"/>
              </a:rPr>
              <a:t>Mnożenie wiersza/kolumny przez skalar mnoży wyznacznik przez ten skalar</a:t>
            </a:r>
          </a:p>
          <a:p>
            <a:pPr>
              <a:lnSpc>
                <a:spcPct val="70000"/>
              </a:lnSpc>
            </a:pPr>
            <a:r>
              <a:rPr lang="pl-PL" sz="2400" dirty="0">
                <a:latin typeface="Times New Roman"/>
                <a:cs typeface="Times New Roman"/>
              </a:rPr>
              <a:t>Dodanie wielokrotności jednego wiersza do innego nie zmienia wyznacznika</a:t>
            </a:r>
          </a:p>
          <a:p>
            <a:endParaRPr lang="pl-PL" sz="2400" dirty="0">
              <a:latin typeface="Times New Roman"/>
              <a:cs typeface="Times New Roman"/>
            </a:endParaRPr>
          </a:p>
        </p:txBody>
      </p:sp>
    </p:spTree>
    <p:extLst>
      <p:ext uri="{BB962C8B-B14F-4D97-AF65-F5344CB8AC3E}">
        <p14:creationId xmlns:p14="http://schemas.microsoft.com/office/powerpoint/2010/main" val="14452108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5900A4D-BEF6-C037-AB0B-F4A89A9285A5}"/>
              </a:ext>
            </a:extLst>
          </p:cNvPr>
          <p:cNvSpPr>
            <a:spLocks noGrp="1"/>
          </p:cNvSpPr>
          <p:nvPr>
            <p:ph type="title"/>
          </p:nvPr>
        </p:nvSpPr>
        <p:spPr/>
        <p:txBody>
          <a:bodyPr/>
          <a:lstStyle/>
          <a:p>
            <a:r>
              <a:rPr lang="pl-PL" dirty="0">
                <a:latin typeface="Times New Roman"/>
                <a:cs typeface="Times New Roman"/>
              </a:rPr>
              <a:t>Wyznacznik</a:t>
            </a:r>
            <a:r>
              <a:rPr lang="pl-PL" dirty="0"/>
              <a:t> macierzy 2x2</a:t>
            </a:r>
          </a:p>
        </p:txBody>
      </p:sp>
      <p:sp>
        <p:nvSpPr>
          <p:cNvPr id="3" name="Symbol zastępczy zawartości 2">
            <a:extLst>
              <a:ext uri="{FF2B5EF4-FFF2-40B4-BE49-F238E27FC236}">
                <a16:creationId xmlns:a16="http://schemas.microsoft.com/office/drawing/2014/main" id="{B9E03BB7-80A3-7D94-8730-98E725752982}"/>
              </a:ext>
            </a:extLst>
          </p:cNvPr>
          <p:cNvSpPr>
            <a:spLocks noGrp="1"/>
          </p:cNvSpPr>
          <p:nvPr>
            <p:ph idx="1"/>
          </p:nvPr>
        </p:nvSpPr>
        <p:spPr>
          <a:xfrm>
            <a:off x="838200" y="1701800"/>
            <a:ext cx="10515600" cy="4351338"/>
          </a:xfrm>
        </p:spPr>
        <p:txBody>
          <a:bodyPr vert="horz" lIns="91440" tIns="45720" rIns="91440" bIns="45720" rtlCol="0" anchor="t">
            <a:normAutofit/>
          </a:bodyPr>
          <a:lstStyle/>
          <a:p>
            <a:pPr marL="0" indent="0">
              <a:buNone/>
            </a:pPr>
            <a:r>
              <a:rPr lang="pl-PL" sz="2400" dirty="0">
                <a:solidFill>
                  <a:srgbClr val="000000"/>
                </a:solidFill>
                <a:latin typeface="Times New Roman"/>
                <a:ea typeface="+mn-lt"/>
                <a:cs typeface="+mn-lt"/>
              </a:rPr>
              <a:t>Wyznacznik drugiego stopnia obliczamy według łatwego wzoru, wynikającego wprost z definicji permutacyjnej wyznacznika:</a:t>
            </a:r>
            <a:endParaRPr lang="pl-PL" sz="2400">
              <a:solidFill>
                <a:srgbClr val="000000"/>
              </a:solidFill>
              <a:latin typeface="Times New Roman"/>
              <a:cs typeface="Times New Roman"/>
            </a:endParaRPr>
          </a:p>
          <a:p>
            <a:pPr marL="0" indent="0">
              <a:buNone/>
            </a:pPr>
            <a:br>
              <a:rPr lang="en-US" dirty="0"/>
            </a:br>
            <a:endParaRPr lang="en-US" sz="2400">
              <a:latin typeface="Times New Roman"/>
              <a:cs typeface="Times New Roman"/>
            </a:endParaRPr>
          </a:p>
          <a:p>
            <a:pPr marL="0" indent="0">
              <a:buNone/>
            </a:pPr>
            <a:endParaRPr lang="pl-PL" sz="2400" dirty="0">
              <a:latin typeface="Times New Roman"/>
              <a:cs typeface="Times New Roman"/>
            </a:endParaRPr>
          </a:p>
        </p:txBody>
      </p:sp>
      <p:pic>
        <p:nvPicPr>
          <p:cNvPr id="4" name="Obraz 3" descr="Obraz zawierający Czcionka, tekst, biały, linia&#10;&#10;Zawartość wygenerowana przez sztuczną inteligencję może być niepoprawna.">
            <a:extLst>
              <a:ext uri="{FF2B5EF4-FFF2-40B4-BE49-F238E27FC236}">
                <a16:creationId xmlns:a16="http://schemas.microsoft.com/office/drawing/2014/main" id="{48CB0044-D7C5-5E8F-2C58-4AC83F8BFCC6}"/>
              </a:ext>
            </a:extLst>
          </p:cNvPr>
          <p:cNvPicPr>
            <a:picLocks noChangeAspect="1"/>
          </p:cNvPicPr>
          <p:nvPr/>
        </p:nvPicPr>
        <p:blipFill>
          <a:blip r:embed="rId2"/>
          <a:stretch>
            <a:fillRect/>
          </a:stretch>
        </p:blipFill>
        <p:spPr>
          <a:xfrm>
            <a:off x="838200" y="2709863"/>
            <a:ext cx="4772025" cy="714375"/>
          </a:xfrm>
          <a:prstGeom prst="rect">
            <a:avLst/>
          </a:prstGeom>
        </p:spPr>
      </p:pic>
    </p:spTree>
    <p:extLst>
      <p:ext uri="{BB962C8B-B14F-4D97-AF65-F5344CB8AC3E}">
        <p14:creationId xmlns:p14="http://schemas.microsoft.com/office/powerpoint/2010/main" val="15159693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1AB26A3-1AD2-FA25-E824-9868DA73E75F}"/>
              </a:ext>
            </a:extLst>
          </p:cNvPr>
          <p:cNvSpPr>
            <a:spLocks noGrp="1"/>
          </p:cNvSpPr>
          <p:nvPr>
            <p:ph type="title"/>
          </p:nvPr>
        </p:nvSpPr>
        <p:spPr/>
        <p:txBody>
          <a:bodyPr/>
          <a:lstStyle/>
          <a:p>
            <a:r>
              <a:rPr lang="pl-PL" dirty="0">
                <a:latin typeface="Times New Roman"/>
                <a:cs typeface="Times New Roman"/>
              </a:rPr>
              <a:t>Wyznacznik macierzy 3x3 i większych</a:t>
            </a:r>
          </a:p>
        </p:txBody>
      </p:sp>
      <p:sp>
        <p:nvSpPr>
          <p:cNvPr id="3" name="Symbol zastępczy zawartości 2">
            <a:extLst>
              <a:ext uri="{FF2B5EF4-FFF2-40B4-BE49-F238E27FC236}">
                <a16:creationId xmlns:a16="http://schemas.microsoft.com/office/drawing/2014/main" id="{DE9C251C-F667-52FE-4990-D953BC5E378B}"/>
              </a:ext>
            </a:extLst>
          </p:cNvPr>
          <p:cNvSpPr>
            <a:spLocks noGrp="1"/>
          </p:cNvSpPr>
          <p:nvPr>
            <p:ph idx="1"/>
          </p:nvPr>
        </p:nvSpPr>
        <p:spPr>
          <a:xfrm>
            <a:off x="838200" y="1689926"/>
            <a:ext cx="10515600" cy="4351338"/>
          </a:xfrm>
        </p:spPr>
        <p:txBody>
          <a:bodyPr vert="horz" lIns="91440" tIns="45720" rIns="91440" bIns="45720" rtlCol="0" anchor="t">
            <a:normAutofit/>
          </a:bodyPr>
          <a:lstStyle/>
          <a:p>
            <a:r>
              <a:rPr lang="pl-PL" sz="2400" dirty="0">
                <a:solidFill>
                  <a:srgbClr val="000000"/>
                </a:solidFill>
                <a:latin typeface="Times New Roman"/>
                <a:ea typeface="+mn-lt"/>
                <a:cs typeface="+mn-lt"/>
              </a:rPr>
              <a:t>Twierdzenie Laplace’a,</a:t>
            </a:r>
            <a:endParaRPr lang="pl-PL" sz="2400" dirty="0">
              <a:latin typeface="Times New Roman"/>
              <a:cs typeface="Times New Roman"/>
            </a:endParaRPr>
          </a:p>
          <a:p>
            <a:r>
              <a:rPr lang="pl-PL" sz="2400" dirty="0">
                <a:solidFill>
                  <a:srgbClr val="000000"/>
                </a:solidFill>
                <a:latin typeface="Times New Roman"/>
                <a:ea typeface="+mn-lt"/>
                <a:cs typeface="+mn-lt"/>
              </a:rPr>
              <a:t>Reguła </a:t>
            </a:r>
            <a:r>
              <a:rPr lang="pl-PL" sz="2400" err="1">
                <a:solidFill>
                  <a:srgbClr val="000000"/>
                </a:solidFill>
                <a:latin typeface="Times New Roman"/>
                <a:ea typeface="+mn-lt"/>
                <a:cs typeface="+mn-lt"/>
              </a:rPr>
              <a:t>Sarrusa</a:t>
            </a:r>
            <a:r>
              <a:rPr lang="pl-PL" sz="2400" dirty="0">
                <a:solidFill>
                  <a:srgbClr val="000000"/>
                </a:solidFill>
                <a:latin typeface="Times New Roman"/>
                <a:ea typeface="+mn-lt"/>
                <a:cs typeface="+mn-lt"/>
              </a:rPr>
              <a:t>,</a:t>
            </a:r>
          </a:p>
          <a:p>
            <a:r>
              <a:rPr lang="pl-PL" sz="2400" dirty="0">
                <a:latin typeface="Times New Roman"/>
                <a:cs typeface="Times New Roman"/>
              </a:rPr>
              <a:t>Metoda eliminacji Gaussa.</a:t>
            </a:r>
            <a:endParaRPr lang="pl-PL" sz="2400">
              <a:solidFill>
                <a:srgbClr val="000000"/>
              </a:solidFill>
              <a:latin typeface="Times New Roman"/>
              <a:ea typeface="+mn-lt"/>
              <a:cs typeface="Times New Roman"/>
            </a:endParaRPr>
          </a:p>
          <a:p>
            <a:endParaRPr lang="pl-PL" sz="2400" dirty="0">
              <a:solidFill>
                <a:srgbClr val="000000"/>
              </a:solidFill>
              <a:latin typeface="Times New Roman"/>
              <a:ea typeface="+mn-lt"/>
              <a:cs typeface="+mn-lt"/>
            </a:endParaRPr>
          </a:p>
        </p:txBody>
      </p:sp>
    </p:spTree>
    <p:extLst>
      <p:ext uri="{BB962C8B-B14F-4D97-AF65-F5344CB8AC3E}">
        <p14:creationId xmlns:p14="http://schemas.microsoft.com/office/powerpoint/2010/main" val="34622788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CFBE2C8-CA51-A9E2-8389-954BACA9A1C6}"/>
              </a:ext>
            </a:extLst>
          </p:cNvPr>
          <p:cNvSpPr>
            <a:spLocks noGrp="1"/>
          </p:cNvSpPr>
          <p:nvPr>
            <p:ph type="title"/>
          </p:nvPr>
        </p:nvSpPr>
        <p:spPr/>
        <p:txBody>
          <a:bodyPr/>
          <a:lstStyle/>
          <a:p>
            <a:r>
              <a:rPr lang="pl-PL" dirty="0">
                <a:latin typeface="Times New Roman"/>
                <a:cs typeface="Times New Roman"/>
              </a:rPr>
              <a:t>Twierdzenie Laplace’a,</a:t>
            </a:r>
          </a:p>
          <a:p>
            <a:endParaRPr lang="pl-PL" dirty="0">
              <a:latin typeface="Times New Roman"/>
              <a:cs typeface="Times New Roman"/>
            </a:endParaRPr>
          </a:p>
        </p:txBody>
      </p:sp>
      <p:sp>
        <p:nvSpPr>
          <p:cNvPr id="3" name="Symbol zastępczy zawartości 2">
            <a:extLst>
              <a:ext uri="{FF2B5EF4-FFF2-40B4-BE49-F238E27FC236}">
                <a16:creationId xmlns:a16="http://schemas.microsoft.com/office/drawing/2014/main" id="{D9A030B7-DA07-E3AC-0F3D-06B9F3413097}"/>
              </a:ext>
            </a:extLst>
          </p:cNvPr>
          <p:cNvSpPr>
            <a:spLocks noGrp="1"/>
          </p:cNvSpPr>
          <p:nvPr>
            <p:ph idx="1"/>
          </p:nvPr>
        </p:nvSpPr>
        <p:spPr>
          <a:xfrm>
            <a:off x="838200" y="1251515"/>
            <a:ext cx="10515600" cy="4351338"/>
          </a:xfrm>
        </p:spPr>
        <p:txBody>
          <a:bodyPr vert="horz" lIns="91440" tIns="45720" rIns="91440" bIns="45720" rtlCol="0" anchor="t">
            <a:normAutofit/>
          </a:bodyPr>
          <a:lstStyle/>
          <a:p>
            <a:pPr marL="0" indent="0">
              <a:buNone/>
            </a:pPr>
            <a:r>
              <a:rPr lang="pl-PL" sz="2400" b="1" dirty="0">
                <a:solidFill>
                  <a:srgbClr val="000000"/>
                </a:solidFill>
                <a:latin typeface="Times New Roman"/>
                <a:ea typeface="+mn-lt"/>
                <a:cs typeface="+mn-lt"/>
              </a:rPr>
              <a:t>Minor </a:t>
            </a:r>
            <a:r>
              <a:rPr lang="pl-PL" sz="2400" dirty="0">
                <a:solidFill>
                  <a:srgbClr val="000000"/>
                </a:solidFill>
                <a:latin typeface="Times New Roman"/>
                <a:ea typeface="+mn-lt"/>
                <a:cs typeface="+mn-lt"/>
              </a:rPr>
              <a:t>– wyznacznik macierzy kwadratowej powstałej z danej macierzy przez skreślenie pewnej liczby jej wierszy i kolumn. Minor główny to minor, w którym przy wykreślaniu pozostawiono wiersze i kolumny o równych indeksach, z kolei wiodący minor główny to minor główny, w którym wykreślono kolejno ostatnie wiersze i kolumny.</a:t>
            </a:r>
            <a:endParaRPr lang="pl-PL" sz="2400" dirty="0">
              <a:solidFill>
                <a:srgbClr val="000000"/>
              </a:solidFill>
              <a:latin typeface="Times New Roman"/>
              <a:ea typeface="+mn-lt"/>
              <a:cs typeface="Times New Roman"/>
            </a:endParaRPr>
          </a:p>
          <a:p>
            <a:pPr marL="0" indent="0">
              <a:buNone/>
            </a:pPr>
            <a:r>
              <a:rPr lang="pl-PL" sz="2400" dirty="0">
                <a:latin typeface="Times New Roman"/>
                <a:cs typeface="Times New Roman"/>
              </a:rPr>
              <a:t>Twierdzenie Laplace`a mówi, że wyznacznik macierzy można rozwijać względem dowolnego wiersza lub kolumny.</a:t>
            </a:r>
          </a:p>
        </p:txBody>
      </p:sp>
      <p:pic>
        <p:nvPicPr>
          <p:cNvPr id="4" name="Obraz 3" descr="Obraz zawierający tekst, zrzut ekranu, Czcionka, linia&#10;&#10;Zawartość wygenerowana przez sztuczną inteligencję może być niepoprawna.">
            <a:extLst>
              <a:ext uri="{FF2B5EF4-FFF2-40B4-BE49-F238E27FC236}">
                <a16:creationId xmlns:a16="http://schemas.microsoft.com/office/drawing/2014/main" id="{5B406CB7-0626-4D3A-53F7-4F1BB2C0F5E7}"/>
              </a:ext>
            </a:extLst>
          </p:cNvPr>
          <p:cNvPicPr>
            <a:picLocks noChangeAspect="1"/>
          </p:cNvPicPr>
          <p:nvPr/>
        </p:nvPicPr>
        <p:blipFill>
          <a:blip r:embed="rId2"/>
          <a:stretch>
            <a:fillRect/>
          </a:stretch>
        </p:blipFill>
        <p:spPr>
          <a:xfrm>
            <a:off x="836113" y="3960508"/>
            <a:ext cx="5592871" cy="2767860"/>
          </a:xfrm>
          <a:prstGeom prst="rect">
            <a:avLst/>
          </a:prstGeom>
        </p:spPr>
      </p:pic>
    </p:spTree>
    <p:extLst>
      <p:ext uri="{BB962C8B-B14F-4D97-AF65-F5344CB8AC3E}">
        <p14:creationId xmlns:p14="http://schemas.microsoft.com/office/powerpoint/2010/main" val="32886934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985D035-D6A4-9EED-EB80-3F579A809954}"/>
              </a:ext>
            </a:extLst>
          </p:cNvPr>
          <p:cNvSpPr>
            <a:spLocks noGrp="1"/>
          </p:cNvSpPr>
          <p:nvPr>
            <p:ph type="title"/>
          </p:nvPr>
        </p:nvSpPr>
        <p:spPr>
          <a:xfrm>
            <a:off x="838200" y="-217"/>
            <a:ext cx="10515600" cy="1325563"/>
          </a:xfrm>
        </p:spPr>
        <p:txBody>
          <a:bodyPr>
            <a:normAutofit/>
          </a:bodyPr>
          <a:lstStyle/>
          <a:p>
            <a:r>
              <a:rPr lang="pl-PL" dirty="0">
                <a:latin typeface="Times New Roman"/>
                <a:cs typeface="Times New Roman"/>
              </a:rPr>
              <a:t>Reguła </a:t>
            </a:r>
            <a:r>
              <a:rPr lang="pl-PL" dirty="0" err="1">
                <a:latin typeface="Times New Roman"/>
                <a:cs typeface="Times New Roman"/>
              </a:rPr>
              <a:t>Sarrusa</a:t>
            </a:r>
            <a:endParaRPr lang="pl-PL" dirty="0">
              <a:latin typeface="Times New Roman"/>
              <a:cs typeface="Times New Roman"/>
            </a:endParaRPr>
          </a:p>
        </p:txBody>
      </p:sp>
      <p:sp>
        <p:nvSpPr>
          <p:cNvPr id="3" name="Symbol zastępczy zawartości 2">
            <a:extLst>
              <a:ext uri="{FF2B5EF4-FFF2-40B4-BE49-F238E27FC236}">
                <a16:creationId xmlns:a16="http://schemas.microsoft.com/office/drawing/2014/main" id="{10C0588C-F012-8C20-C33A-D71AF0C6123C}"/>
              </a:ext>
            </a:extLst>
          </p:cNvPr>
          <p:cNvSpPr>
            <a:spLocks noGrp="1"/>
          </p:cNvSpPr>
          <p:nvPr>
            <p:ph idx="1"/>
          </p:nvPr>
        </p:nvSpPr>
        <p:spPr>
          <a:xfrm>
            <a:off x="838200" y="1324584"/>
            <a:ext cx="10515600" cy="4351338"/>
          </a:xfrm>
        </p:spPr>
        <p:txBody>
          <a:bodyPr vert="horz" lIns="91440" tIns="45720" rIns="91440" bIns="45720" rtlCol="0" anchor="t">
            <a:normAutofit/>
          </a:bodyPr>
          <a:lstStyle/>
          <a:p>
            <a:pPr marL="0" indent="0">
              <a:buNone/>
            </a:pPr>
            <a:r>
              <a:rPr lang="pl-PL" sz="2400" dirty="0">
                <a:solidFill>
                  <a:srgbClr val="000000"/>
                </a:solidFill>
                <a:latin typeface="Times New Roman"/>
                <a:ea typeface="+mn-lt"/>
                <a:cs typeface="+mn-lt"/>
              </a:rPr>
              <a:t>Reguła </a:t>
            </a:r>
            <a:r>
              <a:rPr lang="pl-PL" sz="2400" dirty="0" err="1">
                <a:solidFill>
                  <a:srgbClr val="000000"/>
                </a:solidFill>
                <a:latin typeface="Times New Roman"/>
                <a:ea typeface="+mn-lt"/>
                <a:cs typeface="+mn-lt"/>
              </a:rPr>
              <a:t>Sarrusa</a:t>
            </a:r>
            <a:r>
              <a:rPr lang="pl-PL" sz="2400" dirty="0">
                <a:solidFill>
                  <a:srgbClr val="000000"/>
                </a:solidFill>
                <a:latin typeface="Times New Roman"/>
                <a:ea typeface="+mn-lt"/>
                <a:cs typeface="+mn-lt"/>
              </a:rPr>
              <a:t> - praktyczny sposób obliczania </a:t>
            </a:r>
            <a:r>
              <a:rPr lang="pl-PL" sz="2400" dirty="0">
                <a:latin typeface="Times New Roman"/>
                <a:ea typeface="+mn-lt"/>
                <a:cs typeface="+mn-lt"/>
              </a:rPr>
              <a:t>wyznacznika</a:t>
            </a:r>
            <a:r>
              <a:rPr lang="pl-PL" sz="2400" dirty="0">
                <a:solidFill>
                  <a:srgbClr val="000000"/>
                </a:solidFill>
                <a:latin typeface="Times New Roman"/>
                <a:ea typeface="+mn-lt"/>
                <a:cs typeface="+mn-lt"/>
              </a:rPr>
              <a:t> stopnia 3, gdzie skorzystanie z </a:t>
            </a:r>
            <a:r>
              <a:rPr lang="pl-PL" sz="2400" dirty="0">
                <a:latin typeface="Times New Roman"/>
                <a:ea typeface="+mn-lt"/>
                <a:cs typeface="+mn-lt"/>
              </a:rPr>
              <a:t>rozwinięcia Laplace'a</a:t>
            </a:r>
            <a:r>
              <a:rPr lang="pl-PL" sz="2400" dirty="0">
                <a:solidFill>
                  <a:srgbClr val="000000"/>
                </a:solidFill>
                <a:latin typeface="Times New Roman"/>
                <a:ea typeface="+mn-lt"/>
                <a:cs typeface="+mn-lt"/>
              </a:rPr>
              <a:t> może być niewygodne. Algorytm ten został odkryty przez francuskiego matematyka </a:t>
            </a:r>
            <a:r>
              <a:rPr lang="pl-PL" sz="2400" dirty="0">
                <a:latin typeface="Times New Roman"/>
                <a:ea typeface="+mn-lt"/>
                <a:cs typeface="+mn-lt"/>
              </a:rPr>
              <a:t>Pierre'a </a:t>
            </a:r>
            <a:r>
              <a:rPr lang="pl-PL" sz="2400" dirty="0" err="1">
                <a:latin typeface="Times New Roman"/>
                <a:ea typeface="+mn-lt"/>
                <a:cs typeface="+mn-lt"/>
              </a:rPr>
              <a:t>Sarrusa</a:t>
            </a:r>
            <a:r>
              <a:rPr lang="pl-PL" sz="2400" dirty="0">
                <a:solidFill>
                  <a:srgbClr val="000000"/>
                </a:solidFill>
                <a:latin typeface="Times New Roman"/>
                <a:ea typeface="+mn-lt"/>
                <a:cs typeface="+mn-lt"/>
              </a:rPr>
              <a:t>.</a:t>
            </a:r>
            <a:endParaRPr lang="pl-PL" sz="2400">
              <a:solidFill>
                <a:srgbClr val="000000"/>
              </a:solidFill>
              <a:latin typeface="Times New Roman"/>
              <a:cs typeface="Times New Roman"/>
            </a:endParaRPr>
          </a:p>
        </p:txBody>
      </p:sp>
      <p:pic>
        <p:nvPicPr>
          <p:cNvPr id="4" name="Obraz 3" descr="Obraz zawierający tekst, zrzut ekranu, Czcionka, linia&#10;&#10;Zawartość wygenerowana przez sztuczną inteligencję może być niepoprawna.">
            <a:extLst>
              <a:ext uri="{FF2B5EF4-FFF2-40B4-BE49-F238E27FC236}">
                <a16:creationId xmlns:a16="http://schemas.microsoft.com/office/drawing/2014/main" id="{F1CCD471-0D5E-A79A-CEC1-8125CB981238}"/>
              </a:ext>
            </a:extLst>
          </p:cNvPr>
          <p:cNvPicPr>
            <a:picLocks noChangeAspect="1"/>
          </p:cNvPicPr>
          <p:nvPr/>
        </p:nvPicPr>
        <p:blipFill>
          <a:blip r:embed="rId2"/>
          <a:stretch>
            <a:fillRect/>
          </a:stretch>
        </p:blipFill>
        <p:spPr>
          <a:xfrm>
            <a:off x="838461" y="2715996"/>
            <a:ext cx="8343900" cy="2219325"/>
          </a:xfrm>
          <a:prstGeom prst="rect">
            <a:avLst/>
          </a:prstGeom>
        </p:spPr>
      </p:pic>
    </p:spTree>
    <p:extLst>
      <p:ext uri="{BB962C8B-B14F-4D97-AF65-F5344CB8AC3E}">
        <p14:creationId xmlns:p14="http://schemas.microsoft.com/office/powerpoint/2010/main" val="22939195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3420765-39A4-2395-80FE-3EFB6851100C}"/>
              </a:ext>
            </a:extLst>
          </p:cNvPr>
          <p:cNvSpPr>
            <a:spLocks noGrp="1"/>
          </p:cNvSpPr>
          <p:nvPr>
            <p:ph type="title"/>
          </p:nvPr>
        </p:nvSpPr>
        <p:spPr/>
        <p:txBody>
          <a:bodyPr/>
          <a:lstStyle/>
          <a:p>
            <a:r>
              <a:rPr lang="pl-PL" dirty="0">
                <a:latin typeface="Times New Roman"/>
                <a:cs typeface="Times New Roman"/>
              </a:rPr>
              <a:t>Metoda eliminacji Gaussa.</a:t>
            </a:r>
          </a:p>
        </p:txBody>
      </p:sp>
      <p:sp>
        <p:nvSpPr>
          <p:cNvPr id="3" name="Symbol zastępczy zawartości 2">
            <a:extLst>
              <a:ext uri="{FF2B5EF4-FFF2-40B4-BE49-F238E27FC236}">
                <a16:creationId xmlns:a16="http://schemas.microsoft.com/office/drawing/2014/main" id="{B2998087-FD12-CDB1-6EAC-EFE303DDE3D2}"/>
              </a:ext>
            </a:extLst>
          </p:cNvPr>
          <p:cNvSpPr>
            <a:spLocks noGrp="1"/>
          </p:cNvSpPr>
          <p:nvPr>
            <p:ph idx="1"/>
          </p:nvPr>
        </p:nvSpPr>
        <p:spPr/>
        <p:txBody>
          <a:bodyPr vert="horz" lIns="91440" tIns="45720" rIns="91440" bIns="45720" rtlCol="0" anchor="t">
            <a:normAutofit/>
          </a:bodyPr>
          <a:lstStyle/>
          <a:p>
            <a:r>
              <a:rPr lang="pl-PL" sz="2400" dirty="0">
                <a:latin typeface="Times New Roman"/>
                <a:cs typeface="Times New Roman"/>
              </a:rPr>
              <a:t>Metoda eliminacji Gaussa – wspólna nazwa kilku algorytmów używanych w algebrze liniowej, wykorzystujących operacje elementarne na macierzach. Są to metody:</a:t>
            </a:r>
          </a:p>
          <a:p>
            <a:r>
              <a:rPr lang="pl-PL" sz="2400" dirty="0">
                <a:latin typeface="Times New Roman"/>
                <a:cs typeface="Times New Roman"/>
              </a:rPr>
              <a:t>obliczania rzędu macierzy,</a:t>
            </a:r>
          </a:p>
          <a:p>
            <a:r>
              <a:rPr lang="pl-PL" sz="2400" dirty="0">
                <a:latin typeface="Times New Roman"/>
                <a:cs typeface="Times New Roman"/>
              </a:rPr>
              <a:t>obliczania wartości wyznacznika,</a:t>
            </a:r>
          </a:p>
          <a:p>
            <a:r>
              <a:rPr lang="pl-PL" sz="2400" dirty="0">
                <a:latin typeface="Times New Roman"/>
                <a:cs typeface="Times New Roman"/>
              </a:rPr>
              <a:t>rozwiązywania układów równań liniowych,</a:t>
            </a:r>
          </a:p>
          <a:p>
            <a:r>
              <a:rPr lang="pl-PL" sz="2400" dirty="0">
                <a:latin typeface="Times New Roman"/>
                <a:cs typeface="Times New Roman"/>
              </a:rPr>
              <a:t>obliczania macierzy odwrotnej,</a:t>
            </a:r>
          </a:p>
          <a:p>
            <a:r>
              <a:rPr lang="pl-PL" sz="2400" dirty="0">
                <a:latin typeface="Times New Roman"/>
                <a:cs typeface="Times New Roman"/>
              </a:rPr>
              <a:t>wyznaczenia rozkładu LU.</a:t>
            </a:r>
          </a:p>
          <a:p>
            <a:endParaRPr lang="pl-PL" sz="2400" dirty="0">
              <a:latin typeface="Times New Roman"/>
              <a:cs typeface="Times New Roman"/>
            </a:endParaRPr>
          </a:p>
        </p:txBody>
      </p:sp>
    </p:spTree>
    <p:extLst>
      <p:ext uri="{BB962C8B-B14F-4D97-AF65-F5344CB8AC3E}">
        <p14:creationId xmlns:p14="http://schemas.microsoft.com/office/powerpoint/2010/main" val="23455513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9890445-34FD-CDB5-C166-05F286C66FB6}"/>
              </a:ext>
            </a:extLst>
          </p:cNvPr>
          <p:cNvSpPr>
            <a:spLocks noGrp="1"/>
          </p:cNvSpPr>
          <p:nvPr>
            <p:ph type="title"/>
          </p:nvPr>
        </p:nvSpPr>
        <p:spPr/>
        <p:txBody>
          <a:bodyPr/>
          <a:lstStyle/>
          <a:p>
            <a:r>
              <a:rPr lang="pl-PL" dirty="0">
                <a:latin typeface="Times New Roman"/>
                <a:cs typeface="Times New Roman"/>
              </a:rPr>
              <a:t>Macierz transponowana</a:t>
            </a:r>
          </a:p>
        </p:txBody>
      </p:sp>
      <p:sp>
        <p:nvSpPr>
          <p:cNvPr id="3" name="Symbol zastępczy zawartości 2">
            <a:extLst>
              <a:ext uri="{FF2B5EF4-FFF2-40B4-BE49-F238E27FC236}">
                <a16:creationId xmlns:a16="http://schemas.microsoft.com/office/drawing/2014/main" id="{1389B1EC-6A8A-CE7D-6B24-FBC193022547}"/>
              </a:ext>
            </a:extLst>
          </p:cNvPr>
          <p:cNvSpPr>
            <a:spLocks noGrp="1"/>
          </p:cNvSpPr>
          <p:nvPr>
            <p:ph idx="1"/>
          </p:nvPr>
        </p:nvSpPr>
        <p:spPr/>
        <p:txBody>
          <a:bodyPr vert="horz" lIns="91440" tIns="45720" rIns="91440" bIns="45720" rtlCol="0" anchor="t">
            <a:normAutofit/>
          </a:bodyPr>
          <a:lstStyle/>
          <a:p>
            <a:r>
              <a:rPr lang="pl-PL" sz="2400" dirty="0">
                <a:latin typeface="Times New Roman"/>
                <a:ea typeface="+mn-lt"/>
                <a:cs typeface="+mn-lt"/>
              </a:rPr>
              <a:t>Macierzą transponowaną macierzy A = [</a:t>
            </a:r>
            <a:r>
              <a:rPr lang="pl-PL" sz="2400" err="1">
                <a:latin typeface="Times New Roman"/>
                <a:ea typeface="+mn-lt"/>
                <a:cs typeface="+mn-lt"/>
              </a:rPr>
              <a:t>a</a:t>
            </a:r>
            <a:r>
              <a:rPr lang="pl-PL" sz="2400" baseline="-25000" err="1">
                <a:latin typeface="Times New Roman"/>
                <a:ea typeface="+mn-lt"/>
                <a:cs typeface="+mn-lt"/>
              </a:rPr>
              <a:t>ij</a:t>
            </a:r>
            <a:r>
              <a:rPr lang="pl-PL" sz="2400" dirty="0">
                <a:latin typeface="Times New Roman"/>
                <a:ea typeface="+mn-lt"/>
                <a:cs typeface="+mn-lt"/>
              </a:rPr>
              <a:t>] </a:t>
            </a:r>
            <a:r>
              <a:rPr lang="pl-PL" sz="2400" err="1">
                <a:latin typeface="Times New Roman"/>
                <a:ea typeface="+mn-lt"/>
                <a:cs typeface="+mn-lt"/>
              </a:rPr>
              <a:t>mxn</a:t>
            </a:r>
            <a:r>
              <a:rPr lang="pl-PL" sz="2400" dirty="0">
                <a:latin typeface="Times New Roman"/>
                <a:ea typeface="+mn-lt"/>
                <a:cs typeface="+mn-lt"/>
              </a:rPr>
              <a:t> nazywamy taką macierz B = [</a:t>
            </a:r>
            <a:r>
              <a:rPr lang="pl-PL" sz="2400" err="1">
                <a:latin typeface="Times New Roman"/>
                <a:ea typeface="+mn-lt"/>
                <a:cs typeface="+mn-lt"/>
              </a:rPr>
              <a:t>b</a:t>
            </a:r>
            <a:r>
              <a:rPr lang="pl-PL" sz="2400" baseline="-25000" err="1">
                <a:latin typeface="Times New Roman"/>
                <a:ea typeface="+mn-lt"/>
                <a:cs typeface="+mn-lt"/>
              </a:rPr>
              <a:t>kl</a:t>
            </a:r>
            <a:r>
              <a:rPr lang="pl-PL" sz="2400" dirty="0">
                <a:latin typeface="Times New Roman"/>
                <a:ea typeface="+mn-lt"/>
                <a:cs typeface="+mn-lt"/>
              </a:rPr>
              <a:t>] </a:t>
            </a:r>
            <a:r>
              <a:rPr lang="pl-PL" sz="2400" err="1">
                <a:latin typeface="Times New Roman"/>
                <a:ea typeface="+mn-lt"/>
                <a:cs typeface="+mn-lt"/>
              </a:rPr>
              <a:t>nxm</a:t>
            </a:r>
            <a:r>
              <a:rPr lang="pl-PL" sz="2400" dirty="0">
                <a:latin typeface="Times New Roman"/>
                <a:ea typeface="+mn-lt"/>
                <a:cs typeface="+mn-lt"/>
              </a:rPr>
              <a:t>, dla której zachodzi równość </a:t>
            </a:r>
            <a:r>
              <a:rPr lang="pl-PL" sz="2400" err="1">
                <a:latin typeface="Times New Roman"/>
                <a:ea typeface="+mn-lt"/>
                <a:cs typeface="+mn-lt"/>
              </a:rPr>
              <a:t>b</a:t>
            </a:r>
            <a:r>
              <a:rPr lang="pl-PL" sz="2400" baseline="-25000" err="1">
                <a:latin typeface="Times New Roman"/>
                <a:ea typeface="+mn-lt"/>
                <a:cs typeface="+mn-lt"/>
              </a:rPr>
              <a:t>kl</a:t>
            </a:r>
            <a:r>
              <a:rPr lang="pl-PL" sz="2400" dirty="0">
                <a:latin typeface="Times New Roman"/>
                <a:ea typeface="+mn-lt"/>
                <a:cs typeface="+mn-lt"/>
              </a:rPr>
              <a:t> = a</a:t>
            </a:r>
            <a:r>
              <a:rPr lang="pl-PL" sz="2400" baseline="-25000" dirty="0">
                <a:latin typeface="Times New Roman"/>
                <a:ea typeface="+mn-lt"/>
                <a:cs typeface="+mn-lt"/>
              </a:rPr>
              <a:t>lk</a:t>
            </a:r>
            <a:r>
              <a:rPr lang="pl-PL" sz="2400" dirty="0">
                <a:latin typeface="Times New Roman"/>
                <a:ea typeface="+mn-lt"/>
                <a:cs typeface="+mn-lt"/>
              </a:rPr>
              <a:t> dla każdej pary indeksów 1 ≤ k ≤ n, 1 ≤ l ≤ m. </a:t>
            </a:r>
            <a:r>
              <a:rPr lang="pl-PL" sz="2400" err="1">
                <a:latin typeface="Times New Roman"/>
                <a:ea typeface="+mn-lt"/>
                <a:cs typeface="+mn-lt"/>
              </a:rPr>
              <a:t>Ozn</a:t>
            </a:r>
            <a:r>
              <a:rPr lang="pl-PL" sz="2400" dirty="0">
                <a:latin typeface="Times New Roman"/>
                <a:ea typeface="+mn-lt"/>
                <a:cs typeface="+mn-lt"/>
              </a:rPr>
              <a:t>. B = A</a:t>
            </a:r>
            <a:r>
              <a:rPr lang="pl-PL" sz="2400" baseline="30000" dirty="0">
                <a:latin typeface="Times New Roman"/>
                <a:ea typeface="+mn-lt"/>
                <a:cs typeface="+mn-lt"/>
              </a:rPr>
              <a:t>T</a:t>
            </a:r>
            <a:r>
              <a:rPr lang="pl-PL" sz="2400" dirty="0">
                <a:latin typeface="Times New Roman"/>
                <a:ea typeface="+mn-lt"/>
                <a:cs typeface="+mn-lt"/>
              </a:rPr>
              <a:t>.</a:t>
            </a:r>
            <a:endParaRPr lang="pl-PL" sz="2400">
              <a:latin typeface="Times New Roman"/>
              <a:cs typeface="Times New Roman"/>
            </a:endParaRPr>
          </a:p>
        </p:txBody>
      </p:sp>
      <p:pic>
        <p:nvPicPr>
          <p:cNvPr id="4" name="Obraz 3" descr="Obraz zawierający tekst, zrzut ekranu, Czcionka, numer&#10;&#10;Zawartość wygenerowana przez sztuczną inteligencję może być niepoprawna.">
            <a:extLst>
              <a:ext uri="{FF2B5EF4-FFF2-40B4-BE49-F238E27FC236}">
                <a16:creationId xmlns:a16="http://schemas.microsoft.com/office/drawing/2014/main" id="{CF26B688-D662-BF57-6F79-EA70906C638B}"/>
              </a:ext>
            </a:extLst>
          </p:cNvPr>
          <p:cNvPicPr>
            <a:picLocks noChangeAspect="1"/>
          </p:cNvPicPr>
          <p:nvPr/>
        </p:nvPicPr>
        <p:blipFill>
          <a:blip r:embed="rId2"/>
          <a:stretch>
            <a:fillRect/>
          </a:stretch>
        </p:blipFill>
        <p:spPr>
          <a:xfrm>
            <a:off x="1140587" y="3213057"/>
            <a:ext cx="8658225" cy="1809750"/>
          </a:xfrm>
          <a:prstGeom prst="rect">
            <a:avLst/>
          </a:prstGeom>
        </p:spPr>
      </p:pic>
    </p:spTree>
    <p:extLst>
      <p:ext uri="{BB962C8B-B14F-4D97-AF65-F5344CB8AC3E}">
        <p14:creationId xmlns:p14="http://schemas.microsoft.com/office/powerpoint/2010/main" val="13223103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A408A34-4B80-1A4D-BC73-D7D6C6F0D0A4}"/>
              </a:ext>
            </a:extLst>
          </p:cNvPr>
          <p:cNvSpPr>
            <a:spLocks noGrp="1"/>
          </p:cNvSpPr>
          <p:nvPr>
            <p:ph type="title"/>
          </p:nvPr>
        </p:nvSpPr>
        <p:spPr/>
        <p:txBody>
          <a:bodyPr/>
          <a:lstStyle/>
          <a:p>
            <a:r>
              <a:rPr lang="pl-PL" dirty="0"/>
              <a:t>Twierdzenie </a:t>
            </a:r>
            <a:r>
              <a:rPr lang="pl-PL" dirty="0" err="1"/>
              <a:t>Cauchy`ego</a:t>
            </a:r>
          </a:p>
        </p:txBody>
      </p:sp>
      <p:sp>
        <p:nvSpPr>
          <p:cNvPr id="3" name="Symbol zastępczy zawartości 2">
            <a:extLst>
              <a:ext uri="{FF2B5EF4-FFF2-40B4-BE49-F238E27FC236}">
                <a16:creationId xmlns:a16="http://schemas.microsoft.com/office/drawing/2014/main" id="{091C6E0E-46B1-FE93-911F-B98088EA47FF}"/>
              </a:ext>
            </a:extLst>
          </p:cNvPr>
          <p:cNvSpPr>
            <a:spLocks noGrp="1"/>
          </p:cNvSpPr>
          <p:nvPr>
            <p:ph idx="1"/>
          </p:nvPr>
        </p:nvSpPr>
        <p:spPr>
          <a:xfrm>
            <a:off x="838200" y="1568450"/>
            <a:ext cx="10515600" cy="5284788"/>
          </a:xfrm>
        </p:spPr>
        <p:txBody>
          <a:bodyPr vert="horz" lIns="91440" tIns="45720" rIns="91440" bIns="45720" rtlCol="0" anchor="t">
            <a:normAutofit fontScale="92500" lnSpcReduction="10000"/>
          </a:bodyPr>
          <a:lstStyle/>
          <a:p>
            <a:pPr marL="0" indent="0">
              <a:buNone/>
            </a:pPr>
            <a:r>
              <a:rPr lang="pl-PL" sz="2400" dirty="0">
                <a:solidFill>
                  <a:srgbClr val="000000"/>
                </a:solidFill>
                <a:latin typeface="Times New Roman"/>
                <a:ea typeface="+mn-lt"/>
                <a:cs typeface="+mn-lt"/>
              </a:rPr>
              <a:t>Niech A,B będą macierzami kwadratowymi ustalonego stopnia nad tym samym pierścieniem przemiennym (ciałem), wówczas wyznacznik ich iloczynu jest równy iloczynowi ich wyznaczników, czyli prawdziwy jest wzór: </a:t>
            </a:r>
            <a:r>
              <a:rPr lang="pl-PL" sz="2400" err="1">
                <a:solidFill>
                  <a:srgbClr val="000000"/>
                </a:solidFill>
                <a:latin typeface="Times New Roman"/>
                <a:ea typeface="+mn-lt"/>
                <a:cs typeface="+mn-lt"/>
              </a:rPr>
              <a:t>det</a:t>
            </a:r>
            <a:r>
              <a:rPr lang="pl-PL" sz="2400" dirty="0">
                <a:solidFill>
                  <a:srgbClr val="000000"/>
                </a:solidFill>
                <a:latin typeface="Times New Roman"/>
                <a:ea typeface="+mn-lt"/>
                <a:cs typeface="+mn-lt"/>
              </a:rPr>
              <a:t>(AB)=</a:t>
            </a:r>
            <a:r>
              <a:rPr lang="pl-PL" sz="2400" err="1">
                <a:solidFill>
                  <a:srgbClr val="000000"/>
                </a:solidFill>
                <a:latin typeface="Times New Roman"/>
                <a:ea typeface="+mn-lt"/>
                <a:cs typeface="+mn-lt"/>
              </a:rPr>
              <a:t>detA</a:t>
            </a:r>
            <a:r>
              <a:rPr lang="pl-PL" sz="2400" dirty="0">
                <a:solidFill>
                  <a:srgbClr val="000000"/>
                </a:solidFill>
                <a:latin typeface="Times New Roman"/>
                <a:ea typeface="+mn-lt"/>
                <a:cs typeface="+mn-lt"/>
              </a:rPr>
              <a:t> ⋅ </a:t>
            </a:r>
            <a:r>
              <a:rPr lang="pl-PL" sz="2400" err="1">
                <a:solidFill>
                  <a:srgbClr val="000000"/>
                </a:solidFill>
                <a:latin typeface="Times New Roman"/>
                <a:ea typeface="+mn-lt"/>
                <a:cs typeface="+mn-lt"/>
              </a:rPr>
              <a:t>detB</a:t>
            </a:r>
            <a:r>
              <a:rPr lang="pl-PL" sz="2400" dirty="0">
                <a:solidFill>
                  <a:srgbClr val="000000"/>
                </a:solidFill>
                <a:latin typeface="Times New Roman"/>
                <a:ea typeface="+mn-lt"/>
                <a:cs typeface="+mn-lt"/>
              </a:rPr>
              <a:t>.</a:t>
            </a:r>
            <a:endParaRPr lang="pl-PL" sz="2400" dirty="0">
              <a:solidFill>
                <a:srgbClr val="000000"/>
              </a:solidFill>
              <a:latin typeface="Times New Roman"/>
              <a:ea typeface="+mn-lt"/>
              <a:cs typeface="Times New Roman"/>
            </a:endParaRPr>
          </a:p>
          <a:p>
            <a:pPr marL="0" indent="0">
              <a:buNone/>
            </a:pPr>
            <a:r>
              <a:rPr lang="pl-PL" sz="2400" dirty="0">
                <a:solidFill>
                  <a:srgbClr val="000000"/>
                </a:solidFill>
                <a:latin typeface="Times New Roman"/>
                <a:ea typeface="+mn-lt"/>
                <a:cs typeface="+mn-lt"/>
              </a:rPr>
              <a:t>Wnioski:</a:t>
            </a:r>
          </a:p>
          <a:p>
            <a:pPr marL="457200" indent="-457200">
              <a:buAutoNum type="arabicPeriod"/>
            </a:pPr>
            <a:r>
              <a:rPr lang="pl-PL" sz="2400" dirty="0">
                <a:solidFill>
                  <a:srgbClr val="000000"/>
                </a:solidFill>
                <a:latin typeface="Times New Roman"/>
                <a:ea typeface="+mn-lt"/>
                <a:cs typeface="+mn-lt"/>
              </a:rPr>
              <a:t>Jeśli macierz A ma wiersz (lub kolumnę) zerowy to </a:t>
            </a:r>
            <a:r>
              <a:rPr lang="pl-PL" sz="2400" err="1">
                <a:solidFill>
                  <a:srgbClr val="000000"/>
                </a:solidFill>
                <a:latin typeface="Times New Roman"/>
                <a:ea typeface="+mn-lt"/>
                <a:cs typeface="+mn-lt"/>
              </a:rPr>
              <a:t>detA</a:t>
            </a:r>
            <a:r>
              <a:rPr lang="pl-PL" sz="2400" dirty="0">
                <a:solidFill>
                  <a:srgbClr val="000000"/>
                </a:solidFill>
                <a:latin typeface="Times New Roman"/>
                <a:ea typeface="+mn-lt"/>
                <a:cs typeface="+mn-lt"/>
              </a:rPr>
              <a:t> = 0</a:t>
            </a:r>
            <a:endParaRPr lang="pl-PL" sz="2400" dirty="0">
              <a:latin typeface="Times New Roman"/>
              <a:cs typeface="Times New Roman"/>
            </a:endParaRPr>
          </a:p>
          <a:p>
            <a:pPr marL="457200" indent="-457200">
              <a:buAutoNum type="arabicPeriod"/>
            </a:pPr>
            <a:r>
              <a:rPr lang="pl-PL" sz="2400" dirty="0">
                <a:solidFill>
                  <a:srgbClr val="000000"/>
                </a:solidFill>
                <a:latin typeface="Times New Roman"/>
                <a:ea typeface="+mn-lt"/>
                <a:cs typeface="+mn-lt"/>
              </a:rPr>
              <a:t>Jeśli w macierzy A dwa wiersze (dwie kolumny) są identyczne to </a:t>
            </a:r>
            <a:r>
              <a:rPr lang="pl-PL" sz="2400" err="1">
                <a:solidFill>
                  <a:srgbClr val="000000"/>
                </a:solidFill>
                <a:latin typeface="Times New Roman"/>
                <a:ea typeface="+mn-lt"/>
                <a:cs typeface="+mn-lt"/>
              </a:rPr>
              <a:t>detA</a:t>
            </a:r>
            <a:r>
              <a:rPr lang="pl-PL" sz="2400" dirty="0">
                <a:solidFill>
                  <a:srgbClr val="000000"/>
                </a:solidFill>
                <a:latin typeface="Times New Roman"/>
                <a:ea typeface="+mn-lt"/>
                <a:cs typeface="+mn-lt"/>
              </a:rPr>
              <a:t> = 0 </a:t>
            </a:r>
          </a:p>
          <a:p>
            <a:pPr marL="457200" indent="-457200">
              <a:buAutoNum type="arabicPeriod"/>
            </a:pPr>
            <a:br>
              <a:rPr lang="pl-PL" sz="2400" dirty="0">
                <a:latin typeface="Times New Roman"/>
                <a:ea typeface="+mn-lt"/>
                <a:cs typeface="+mn-lt"/>
              </a:rPr>
            </a:br>
            <a:r>
              <a:rPr lang="pl-PL" sz="2400" dirty="0">
                <a:solidFill>
                  <a:srgbClr val="000000"/>
                </a:solidFill>
                <a:latin typeface="Times New Roman"/>
                <a:ea typeface="+mn-lt"/>
                <a:cs typeface="+mn-lt"/>
              </a:rPr>
              <a:t>a) Operacje elementarne typu 1 (dodanie do wiersza innego wiersza pomnożonego przez liczbę, analogicznie dla kolumn) nie zmieniają wyznacznika macierzy. </a:t>
            </a:r>
            <a:br>
              <a:rPr lang="pl-PL" sz="2400" dirty="0">
                <a:latin typeface="Times New Roman"/>
                <a:ea typeface="+mn-lt"/>
                <a:cs typeface="+mn-lt"/>
              </a:rPr>
            </a:br>
            <a:r>
              <a:rPr lang="pl-PL" sz="2400" dirty="0">
                <a:solidFill>
                  <a:srgbClr val="000000"/>
                </a:solidFill>
                <a:latin typeface="Times New Roman"/>
                <a:ea typeface="+mn-lt"/>
                <a:cs typeface="+mn-lt"/>
              </a:rPr>
              <a:t>b) Operacje elementarne typu 2 (zamiana dwu wierszy bądź kolumn) zmieniaj ˛a wyznacznik na przeciwny. </a:t>
            </a:r>
            <a:br>
              <a:rPr lang="pl-PL" sz="2400" dirty="0">
                <a:latin typeface="Times New Roman"/>
                <a:ea typeface="+mn-lt"/>
                <a:cs typeface="+mn-lt"/>
              </a:rPr>
            </a:br>
            <a:r>
              <a:rPr lang="pl-PL" sz="2400" dirty="0">
                <a:solidFill>
                  <a:srgbClr val="000000"/>
                </a:solidFill>
                <a:latin typeface="Times New Roman"/>
                <a:ea typeface="+mn-lt"/>
                <a:cs typeface="+mn-lt"/>
              </a:rPr>
              <a:t>c) Operacje elementarne typu 3, tzn. pomnożenie wiersza bądź kolumny przez liczbę skutkują pomnożeniem wyznacznika przez c.</a:t>
            </a:r>
            <a:endParaRPr lang="pl-PL" sz="2400" dirty="0">
              <a:latin typeface="Times New Roman"/>
              <a:cs typeface="Times New Roman"/>
            </a:endParaRPr>
          </a:p>
          <a:p>
            <a:pPr marL="0" indent="0">
              <a:buNone/>
            </a:pPr>
            <a:br>
              <a:rPr lang="pl-PL" dirty="0">
                <a:ea typeface="+mn-lt"/>
                <a:cs typeface="+mn-lt"/>
              </a:rPr>
            </a:br>
            <a:endParaRPr lang="pl-PL" sz="2400" dirty="0">
              <a:solidFill>
                <a:srgbClr val="000000"/>
              </a:solidFill>
              <a:latin typeface="Times New Roman"/>
              <a:ea typeface="+mn-lt"/>
              <a:cs typeface="+mn-lt"/>
            </a:endParaRPr>
          </a:p>
          <a:p>
            <a:pPr marL="0" indent="0">
              <a:buNone/>
            </a:pPr>
            <a:endParaRPr lang="pl-PL" sz="2400" dirty="0">
              <a:solidFill>
                <a:srgbClr val="000000"/>
              </a:solidFill>
              <a:latin typeface="Times New Roman"/>
              <a:ea typeface="+mn-lt"/>
              <a:cs typeface="Times New Roman"/>
            </a:endParaRPr>
          </a:p>
          <a:p>
            <a:pPr>
              <a:buAutoNum type="arabicPeriod"/>
            </a:pPr>
            <a:endParaRPr lang="pl-PL" sz="2400" dirty="0">
              <a:latin typeface="Times New Roman"/>
              <a:cs typeface="Times New Roman"/>
            </a:endParaRPr>
          </a:p>
        </p:txBody>
      </p:sp>
    </p:spTree>
    <p:extLst>
      <p:ext uri="{BB962C8B-B14F-4D97-AF65-F5344CB8AC3E}">
        <p14:creationId xmlns:p14="http://schemas.microsoft.com/office/powerpoint/2010/main" val="28624477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54F383C-0C36-B3D4-DB01-68DAD3C23F85}"/>
              </a:ext>
            </a:extLst>
          </p:cNvPr>
          <p:cNvSpPr>
            <a:spLocks noGrp="1"/>
          </p:cNvSpPr>
          <p:nvPr>
            <p:ph type="title"/>
          </p:nvPr>
        </p:nvSpPr>
        <p:spPr/>
        <p:txBody>
          <a:bodyPr/>
          <a:lstStyle/>
          <a:p>
            <a:r>
              <a:rPr lang="pl-PL" dirty="0"/>
              <a:t>Bibliografia</a:t>
            </a:r>
          </a:p>
        </p:txBody>
      </p:sp>
      <p:sp>
        <p:nvSpPr>
          <p:cNvPr id="3" name="Symbol zastępczy zawartości 2">
            <a:extLst>
              <a:ext uri="{FF2B5EF4-FFF2-40B4-BE49-F238E27FC236}">
                <a16:creationId xmlns:a16="http://schemas.microsoft.com/office/drawing/2014/main" id="{10276D1B-E1E4-83C9-4B5D-F41489690890}"/>
              </a:ext>
            </a:extLst>
          </p:cNvPr>
          <p:cNvSpPr>
            <a:spLocks noGrp="1"/>
          </p:cNvSpPr>
          <p:nvPr>
            <p:ph idx="1"/>
          </p:nvPr>
        </p:nvSpPr>
        <p:spPr>
          <a:xfrm>
            <a:off x="838200" y="1701800"/>
            <a:ext cx="10515600" cy="5151438"/>
          </a:xfrm>
        </p:spPr>
        <p:txBody>
          <a:bodyPr vert="horz" lIns="91440" tIns="45720" rIns="91440" bIns="45720" rtlCol="0" anchor="t">
            <a:noAutofit/>
          </a:bodyPr>
          <a:lstStyle/>
          <a:p>
            <a:r>
              <a:rPr lang="pl-PL" sz="2400" dirty="0">
                <a:latin typeface="Times New Roman"/>
                <a:ea typeface="+mn-lt"/>
                <a:cs typeface="+mn-lt"/>
                <a:hlinkClick r:id="rId2"/>
              </a:rPr>
              <a:t>https://zpe.gov.pl/a/pojecie-sieci-komputerowej/D8NJv89zZ</a:t>
            </a:r>
            <a:r>
              <a:rPr lang="pl-PL" sz="2400" dirty="0">
                <a:latin typeface="Times New Roman"/>
                <a:ea typeface="+mn-lt"/>
                <a:cs typeface="+mn-lt"/>
              </a:rPr>
              <a:t>,</a:t>
            </a:r>
          </a:p>
          <a:p>
            <a:r>
              <a:rPr lang="pl-PL" sz="2400" dirty="0">
                <a:latin typeface="Times New Roman"/>
                <a:ea typeface="+mn-lt"/>
                <a:cs typeface="+mn-lt"/>
                <a:hlinkClick r:id="rId3"/>
              </a:rPr>
              <a:t>https://zpe.gov.pl/a/rodzaje-sieci-komputerowych-ze-wzgledu-na-zasieg/D26Fh8pbt</a:t>
            </a:r>
            <a:r>
              <a:rPr lang="pl-PL" sz="2400" dirty="0">
                <a:latin typeface="Times New Roman"/>
                <a:ea typeface="+mn-lt"/>
                <a:cs typeface="+mn-lt"/>
              </a:rPr>
              <a:t>,</a:t>
            </a:r>
          </a:p>
          <a:p>
            <a:r>
              <a:rPr lang="pl-PL" sz="2400" dirty="0">
                <a:latin typeface="Times New Roman"/>
                <a:ea typeface="+mn-lt"/>
                <a:cs typeface="+mn-lt"/>
              </a:rPr>
              <a:t>pasja-informatyki.pl/sieci-komputerowe/topologie-sieci,</a:t>
            </a:r>
          </a:p>
          <a:p>
            <a:r>
              <a:rPr lang="pl-PL" sz="2400" dirty="0">
                <a:latin typeface="Times New Roman"/>
                <a:ea typeface="+mn-lt"/>
                <a:cs typeface="+mn-lt"/>
                <a:hlinkClick r:id="rId4"/>
              </a:rPr>
              <a:t>https://www.zslbilgoraj.pl/wp-content/uploads/2021/02/Adresacja-IP.pdf</a:t>
            </a:r>
            <a:r>
              <a:rPr lang="pl-PL" sz="2400" dirty="0">
                <a:latin typeface="Times New Roman"/>
                <a:ea typeface="+mn-lt"/>
                <a:cs typeface="+mn-lt"/>
              </a:rPr>
              <a:t>,</a:t>
            </a:r>
          </a:p>
          <a:p>
            <a:r>
              <a:rPr lang="pl-PL" sz="2400" dirty="0">
                <a:latin typeface="Times New Roman"/>
                <a:ea typeface="+mn-lt"/>
                <a:cs typeface="+mn-lt"/>
                <a:hlinkClick r:id="rId5"/>
              </a:rPr>
              <a:t>https://pl.wikipedia.org/wiki/Klient-serwer</a:t>
            </a:r>
            <a:r>
              <a:rPr lang="pl-PL" sz="2400" dirty="0">
                <a:latin typeface="Times New Roman"/>
                <a:ea typeface="+mn-lt"/>
                <a:cs typeface="+mn-lt"/>
              </a:rPr>
              <a:t>,</a:t>
            </a:r>
          </a:p>
          <a:p>
            <a:r>
              <a:rPr lang="pl-PL" sz="2400" dirty="0">
                <a:latin typeface="Times New Roman"/>
                <a:ea typeface="+mn-lt"/>
                <a:cs typeface="+mn-lt"/>
                <a:hlinkClick r:id="rId6"/>
              </a:rPr>
              <a:t>https://sp12.piotrkow.pl/plan/informatyka/ogolne/rodzajesieci.html</a:t>
            </a:r>
            <a:r>
              <a:rPr lang="pl-PL" sz="2400" dirty="0">
                <a:latin typeface="Times New Roman"/>
                <a:ea typeface="+mn-lt"/>
                <a:cs typeface="+mn-lt"/>
              </a:rPr>
              <a:t>,</a:t>
            </a:r>
          </a:p>
          <a:p>
            <a:r>
              <a:rPr lang="pl-PL" sz="2400" dirty="0">
                <a:latin typeface="Times New Roman"/>
                <a:ea typeface="+mn-lt"/>
                <a:cs typeface="+mn-lt"/>
                <a:hlinkClick r:id="rId5"/>
              </a:rPr>
              <a:t>https://pl.wikipedia.org/wiki/Klient-serwer</a:t>
            </a:r>
            <a:r>
              <a:rPr lang="pl-PL" sz="2400" dirty="0">
                <a:latin typeface="Times New Roman"/>
                <a:ea typeface="+mn-lt"/>
                <a:cs typeface="+mn-lt"/>
              </a:rPr>
              <a:t>,</a:t>
            </a:r>
          </a:p>
          <a:p>
            <a:r>
              <a:rPr lang="pl-PL" sz="2400" dirty="0">
                <a:latin typeface="Times New Roman"/>
                <a:ea typeface="+mn-lt"/>
                <a:cs typeface="+mn-lt"/>
                <a:hlinkClick r:id="rId7"/>
              </a:rPr>
              <a:t>https://boringowl.io/blog/architektura-klient-serwer-jak-to-dziala</a:t>
            </a:r>
            <a:r>
              <a:rPr lang="pl-PL" sz="2400" dirty="0">
                <a:latin typeface="Times New Roman"/>
                <a:ea typeface="+mn-lt"/>
                <a:cs typeface="+mn-lt"/>
              </a:rPr>
              <a:t>,</a:t>
            </a:r>
          </a:p>
          <a:p>
            <a:r>
              <a:rPr lang="pl-PL" sz="2400" dirty="0">
                <a:latin typeface="Times New Roman"/>
                <a:ea typeface="+mn-lt"/>
                <a:cs typeface="+mn-lt"/>
                <a:hlinkClick r:id="rId8"/>
              </a:rPr>
              <a:t>https://pl.wikipedia.org/wiki/Peer-to-peer</a:t>
            </a:r>
            <a:r>
              <a:rPr lang="pl-PL" sz="2400" dirty="0">
                <a:latin typeface="Times New Roman"/>
                <a:ea typeface="+mn-lt"/>
                <a:cs typeface="+mn-lt"/>
              </a:rPr>
              <a:t>,</a:t>
            </a:r>
          </a:p>
          <a:p>
            <a:endParaRPr lang="pl-PL" sz="2400">
              <a:latin typeface="Times New Roman"/>
              <a:ea typeface="+mn-lt"/>
              <a:cs typeface="+mn-lt"/>
            </a:endParaRPr>
          </a:p>
          <a:p>
            <a:endParaRPr lang="pl-PL" sz="2400" dirty="0">
              <a:latin typeface="Times New Roman"/>
              <a:ea typeface="+mn-lt"/>
              <a:cs typeface="+mn-lt"/>
            </a:endParaRPr>
          </a:p>
          <a:p>
            <a:endParaRPr lang="pl-PL" sz="2400" dirty="0">
              <a:latin typeface="Times New Roman"/>
              <a:ea typeface="+mn-lt"/>
              <a:cs typeface="+mn-lt"/>
            </a:endParaRPr>
          </a:p>
        </p:txBody>
      </p:sp>
    </p:spTree>
    <p:extLst>
      <p:ext uri="{BB962C8B-B14F-4D97-AF65-F5344CB8AC3E}">
        <p14:creationId xmlns:p14="http://schemas.microsoft.com/office/powerpoint/2010/main" val="38422152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7973E58A-0541-9010-D0A8-636E45FE9F50}"/>
              </a:ext>
            </a:extLst>
          </p:cNvPr>
          <p:cNvSpPr>
            <a:spLocks noGrp="1"/>
          </p:cNvSpPr>
          <p:nvPr>
            <p:ph idx="1"/>
          </p:nvPr>
        </p:nvSpPr>
        <p:spPr>
          <a:xfrm>
            <a:off x="838200" y="366939"/>
            <a:ext cx="10515600" cy="6494463"/>
          </a:xfrm>
        </p:spPr>
        <p:txBody>
          <a:bodyPr vert="horz" lIns="91440" tIns="45720" rIns="91440" bIns="45720" rtlCol="0" anchor="t">
            <a:normAutofit/>
          </a:bodyPr>
          <a:lstStyle/>
          <a:p>
            <a:r>
              <a:rPr lang="pl-PL" sz="2400" dirty="0">
                <a:latin typeface="Times New Roman"/>
                <a:ea typeface="+mn-lt"/>
                <a:cs typeface="+mn-lt"/>
                <a:hlinkClick r:id="rId2"/>
              </a:rPr>
              <a:t>https://pl.wikipedia.org/wiki/Topologia_sieci_komputerowej</a:t>
            </a:r>
            <a:r>
              <a:rPr lang="pl-PL" sz="2400" dirty="0">
                <a:latin typeface="Times New Roman"/>
                <a:ea typeface="+mn-lt"/>
                <a:cs typeface="+mn-lt"/>
              </a:rPr>
              <a:t>,</a:t>
            </a:r>
            <a:endParaRPr lang="pl-PL" sz="2400" dirty="0">
              <a:latin typeface="Times New Roman"/>
              <a:ea typeface="+mn-lt"/>
              <a:cs typeface="Times New Roman"/>
            </a:endParaRPr>
          </a:p>
          <a:p>
            <a:r>
              <a:rPr lang="pl-PL" sz="2400" dirty="0">
                <a:ea typeface="+mn-lt"/>
                <a:cs typeface="+mn-lt"/>
                <a:hlinkClick r:id="rId3"/>
              </a:rPr>
              <a:t>https://eduinf.waw.pl/inf/inet/001_lan/03.php</a:t>
            </a:r>
            <a:r>
              <a:rPr lang="pl-PL" sz="2400" dirty="0">
                <a:ea typeface="+mn-lt"/>
                <a:cs typeface="+mn-lt"/>
              </a:rPr>
              <a:t>,</a:t>
            </a:r>
            <a:endParaRPr lang="pl-PL" sz="2400" dirty="0">
              <a:latin typeface="Times New Roman"/>
              <a:ea typeface="+mn-lt"/>
              <a:cs typeface="Times New Roman"/>
            </a:endParaRPr>
          </a:p>
          <a:p>
            <a:r>
              <a:rPr lang="pl-PL" sz="2400" dirty="0">
                <a:ea typeface="+mn-lt"/>
                <a:cs typeface="+mn-lt"/>
                <a:hlinkClick r:id="rId4"/>
              </a:rPr>
              <a:t>https://sieci.infopl.info/sieci-lan/topologie/magistrala</a:t>
            </a:r>
            <a:r>
              <a:rPr lang="pl-PL" sz="2400" dirty="0">
                <a:ea typeface="+mn-lt"/>
                <a:cs typeface="+mn-lt"/>
              </a:rPr>
              <a:t>,</a:t>
            </a:r>
            <a:endParaRPr lang="pl-PL" sz="2400" dirty="0">
              <a:ea typeface="+mn-lt"/>
              <a:cs typeface="Times New Roman"/>
            </a:endParaRPr>
          </a:p>
          <a:p>
            <a:r>
              <a:rPr lang="pl-PL" sz="2400" dirty="0">
                <a:ea typeface="+mn-lt"/>
                <a:cs typeface="+mn-lt"/>
                <a:hlinkClick r:id="rId5"/>
              </a:rPr>
              <a:t>https://sieci.infopl.info/sieci-lan/topologie/gwiazda</a:t>
            </a:r>
            <a:r>
              <a:rPr lang="pl-PL" sz="2400" dirty="0">
                <a:ea typeface="+mn-lt"/>
                <a:cs typeface="+mn-lt"/>
              </a:rPr>
              <a:t>,</a:t>
            </a:r>
          </a:p>
          <a:p>
            <a:r>
              <a:rPr lang="pl-PL" sz="2400" dirty="0">
                <a:ea typeface="+mn-lt"/>
                <a:cs typeface="+mn-lt"/>
                <a:hlinkClick r:id="rId6"/>
              </a:rPr>
              <a:t>https://sieci.infopl.info/sieci-lan/topologie/pierscien</a:t>
            </a:r>
            <a:r>
              <a:rPr lang="pl-PL" sz="2400" dirty="0">
                <a:ea typeface="+mn-lt"/>
                <a:cs typeface="+mn-lt"/>
              </a:rPr>
              <a:t>,</a:t>
            </a:r>
          </a:p>
          <a:p>
            <a:r>
              <a:rPr lang="pl-PL" sz="2400" dirty="0">
                <a:ea typeface="+mn-lt"/>
                <a:cs typeface="+mn-lt"/>
                <a:hlinkClick r:id="rId7"/>
              </a:rPr>
              <a:t>https://sieci.infopl.info/sieci-lan/topologie/siatka</a:t>
            </a:r>
            <a:r>
              <a:rPr lang="pl-PL" sz="2400" dirty="0">
                <a:ea typeface="+mn-lt"/>
                <a:cs typeface="+mn-lt"/>
              </a:rPr>
              <a:t>,</a:t>
            </a:r>
            <a:endParaRPr lang="pl-PL" sz="2400" dirty="0">
              <a:latin typeface="Aptos"/>
              <a:cs typeface="Times New Roman"/>
            </a:endParaRPr>
          </a:p>
          <a:p>
            <a:r>
              <a:rPr lang="pl-PL" sz="2400" dirty="0">
                <a:ea typeface="+mn-lt"/>
                <a:cs typeface="+mn-lt"/>
                <a:hlinkClick r:id="rId8"/>
              </a:rPr>
              <a:t>https://home.agh.edu.pl/~amucha/fizyka/ZIP/ZIP_12_Prad.pdf</a:t>
            </a:r>
            <a:r>
              <a:rPr lang="pl-PL" sz="2400" dirty="0">
                <a:ea typeface="+mn-lt"/>
                <a:cs typeface="+mn-lt"/>
              </a:rPr>
              <a:t>,</a:t>
            </a:r>
            <a:endParaRPr lang="pl-PL" sz="2400" dirty="0">
              <a:ea typeface="+mn-lt"/>
              <a:cs typeface="Times New Roman"/>
            </a:endParaRPr>
          </a:p>
          <a:p>
            <a:r>
              <a:rPr lang="pl-PL" sz="2400" dirty="0">
                <a:ea typeface="+mn-lt"/>
                <a:cs typeface="+mn-lt"/>
                <a:hlinkClick r:id="rId9"/>
              </a:rPr>
              <a:t>https://zstio-elektronika.pl/pliki_t_elektronik/TE_O1-01-13.pdf</a:t>
            </a:r>
            <a:r>
              <a:rPr lang="pl-PL" sz="2400" dirty="0">
                <a:ea typeface="+mn-lt"/>
                <a:cs typeface="+mn-lt"/>
              </a:rPr>
              <a:t>,</a:t>
            </a:r>
            <a:endParaRPr lang="pl-PL" sz="2400" dirty="0">
              <a:latin typeface="Aptos"/>
              <a:cs typeface="Times New Roman"/>
            </a:endParaRPr>
          </a:p>
          <a:p>
            <a:r>
              <a:rPr lang="pl-PL" sz="2400" dirty="0">
                <a:ea typeface="+mn-lt"/>
                <a:cs typeface="+mn-lt"/>
                <a:hlinkClick r:id="rId10"/>
              </a:rPr>
              <a:t>https://pl.wikipedia.org/wiki/Napięcie_elektryczne</a:t>
            </a:r>
            <a:r>
              <a:rPr lang="pl-PL" sz="2400" dirty="0">
                <a:ea typeface="+mn-lt"/>
                <a:cs typeface="+mn-lt"/>
              </a:rPr>
              <a:t>,</a:t>
            </a:r>
            <a:endParaRPr lang="pl-PL" sz="2400" dirty="0">
              <a:ea typeface="+mn-lt"/>
              <a:cs typeface="Times New Roman"/>
            </a:endParaRPr>
          </a:p>
          <a:p>
            <a:r>
              <a:rPr lang="pl-PL" sz="2400" dirty="0">
                <a:ea typeface="+mn-lt"/>
                <a:cs typeface="+mn-lt"/>
              </a:rPr>
              <a:t>https://pl.wikipedia.org/wiki/Rezystancja,</a:t>
            </a:r>
          </a:p>
          <a:p>
            <a:r>
              <a:rPr lang="pl-PL" sz="2400" dirty="0">
                <a:ea typeface="+mn-lt"/>
                <a:cs typeface="+mn-lt"/>
                <a:hlinkClick r:id="rId11"/>
              </a:rPr>
              <a:t>https://www.tme.eu/pl/news/library-articles/page/45332/pojemnosc-elektryczna-kondensatora/</a:t>
            </a:r>
            <a:r>
              <a:rPr lang="pl-PL" sz="2400" dirty="0">
                <a:ea typeface="+mn-lt"/>
                <a:cs typeface="+mn-lt"/>
              </a:rPr>
              <a:t>,</a:t>
            </a:r>
            <a:endParaRPr lang="pl-PL" sz="2400" dirty="0">
              <a:latin typeface="Aptos"/>
              <a:cs typeface="Times New Roman"/>
            </a:endParaRPr>
          </a:p>
          <a:p>
            <a:r>
              <a:rPr lang="pl-PL" sz="2400" dirty="0">
                <a:ea typeface="+mn-lt"/>
                <a:cs typeface="+mn-lt"/>
              </a:rPr>
              <a:t>https://home.agh.edu.pl/~kakol/efizyka/w21/main21b.html,</a:t>
            </a:r>
            <a:endParaRPr lang="pl-PL" sz="2400" dirty="0">
              <a:latin typeface="Aptos"/>
              <a:cs typeface="Times New Roman"/>
            </a:endParaRPr>
          </a:p>
          <a:p>
            <a:endParaRPr lang="pl-PL" sz="2400" dirty="0">
              <a:latin typeface="Aptos"/>
              <a:cs typeface="Times New Roman"/>
            </a:endParaRPr>
          </a:p>
          <a:p>
            <a:endParaRPr lang="pl-PL" sz="2400" dirty="0">
              <a:latin typeface="Aptos"/>
              <a:cs typeface="Times New Roman"/>
            </a:endParaRPr>
          </a:p>
          <a:p>
            <a:endParaRPr lang="pl-PL" sz="2400" dirty="0">
              <a:latin typeface="Aptos"/>
              <a:cs typeface="Times New Roman"/>
            </a:endParaRPr>
          </a:p>
          <a:p>
            <a:endParaRPr lang="pl-PL" sz="2400" dirty="0">
              <a:latin typeface="Aptos"/>
              <a:cs typeface="Times New Roman"/>
            </a:endParaRPr>
          </a:p>
          <a:p>
            <a:endParaRPr lang="pl-PL" sz="2400" dirty="0">
              <a:latin typeface="Aptos"/>
              <a:cs typeface="Times New Roman"/>
            </a:endParaRPr>
          </a:p>
        </p:txBody>
      </p:sp>
    </p:spTree>
    <p:extLst>
      <p:ext uri="{BB962C8B-B14F-4D97-AF65-F5344CB8AC3E}">
        <p14:creationId xmlns:p14="http://schemas.microsoft.com/office/powerpoint/2010/main" val="2274812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A3DB9C0A-73AB-774B-61C9-45E72F04F052}"/>
              </a:ext>
            </a:extLst>
          </p:cNvPr>
          <p:cNvSpPr>
            <a:spLocks noGrp="1"/>
          </p:cNvSpPr>
          <p:nvPr>
            <p:ph idx="1"/>
          </p:nvPr>
        </p:nvSpPr>
        <p:spPr>
          <a:xfrm>
            <a:off x="838200" y="341291"/>
            <a:ext cx="10515600" cy="6856413"/>
          </a:xfrm>
        </p:spPr>
        <p:txBody>
          <a:bodyPr vert="horz" lIns="91440" tIns="45720" rIns="91440" bIns="45720" rtlCol="0" anchor="t">
            <a:normAutofit/>
          </a:bodyPr>
          <a:lstStyle/>
          <a:p>
            <a:r>
              <a:rPr lang="pl-PL" dirty="0">
                <a:ea typeface="+mn-lt"/>
                <a:cs typeface="+mn-lt"/>
                <a:hlinkClick r:id="rId2"/>
              </a:rPr>
              <a:t>https://pl.wikipedia.org/wiki/Rozwinięcie_Laplace’a</a:t>
            </a:r>
            <a:r>
              <a:rPr lang="pl-PL" dirty="0">
                <a:ea typeface="+mn-lt"/>
                <a:cs typeface="+mn-lt"/>
              </a:rPr>
              <a:t>,</a:t>
            </a:r>
            <a:endParaRPr lang="pl-PL">
              <a:ea typeface="+mn-lt"/>
              <a:cs typeface="+mn-lt"/>
            </a:endParaRPr>
          </a:p>
          <a:p>
            <a:r>
              <a:rPr lang="pl-PL" dirty="0">
                <a:ea typeface="+mn-lt"/>
                <a:cs typeface="+mn-lt"/>
                <a:hlinkClick r:id="rId3"/>
              </a:rPr>
              <a:t>https://pl.wikipedia.org/wiki/Reguła_Sarrusa</a:t>
            </a:r>
            <a:r>
              <a:rPr lang="pl-PL" dirty="0">
                <a:ea typeface="+mn-lt"/>
                <a:cs typeface="+mn-lt"/>
              </a:rPr>
              <a:t>,</a:t>
            </a:r>
          </a:p>
          <a:p>
            <a:r>
              <a:rPr lang="pl-PL" dirty="0">
                <a:ea typeface="+mn-lt"/>
                <a:cs typeface="+mn-lt"/>
                <a:hlinkClick r:id="rId4"/>
              </a:rPr>
              <a:t>https://pl.wikipedia.org/wiki/Metoda_eliminacji_Gaussa</a:t>
            </a:r>
            <a:r>
              <a:rPr lang="pl-PL" dirty="0">
                <a:ea typeface="+mn-lt"/>
                <a:cs typeface="+mn-lt"/>
              </a:rPr>
              <a:t>,</a:t>
            </a:r>
          </a:p>
          <a:p>
            <a:r>
              <a:rPr lang="pl-PL" dirty="0">
                <a:solidFill>
                  <a:srgbClr val="000000"/>
                </a:solidFill>
                <a:ea typeface="+mn-lt"/>
                <a:cs typeface="+mn-lt"/>
                <a:hlinkClick r:id="rId5"/>
              </a:rPr>
              <a:t>https://www-ncl-ac-uk.translate.goog/webtemplate/ask-assets/external/maths-resources/core-mathematics/pure-maths/matrices/matrix-determinant.html?_x_tr_sl=en&amp;_x_tr_tl=pl&amp;_x_tr_hl=pl&amp;_x_tr_pto=rq</a:t>
            </a:r>
            <a:r>
              <a:rPr lang="pl-PL" dirty="0">
                <a:solidFill>
                  <a:srgbClr val="000000"/>
                </a:solidFill>
                <a:ea typeface="+mn-lt"/>
                <a:cs typeface="+mn-lt"/>
              </a:rPr>
              <a:t>,</a:t>
            </a:r>
            <a:endParaRPr lang="pl-PL" dirty="0">
              <a:solidFill>
                <a:srgbClr val="000000"/>
              </a:solidFill>
              <a:ea typeface="Roboto"/>
              <a:cs typeface="Roboto"/>
            </a:endParaRPr>
          </a:p>
          <a:p>
            <a:r>
              <a:rPr lang="pl-PL" dirty="0">
                <a:solidFill>
                  <a:srgbClr val="000000"/>
                </a:solidFill>
                <a:ea typeface="+mn-lt"/>
                <a:cs typeface="+mn-lt"/>
              </a:rPr>
              <a:t>https://pl.wikipedia.org/wiki/Twierdzenie_Cauchy%E2%80%99ego_%28teoria_wyznacznik%C3%B3w%29,</a:t>
            </a:r>
            <a:endParaRPr lang="pl-PL" dirty="0">
              <a:solidFill>
                <a:srgbClr val="000000"/>
              </a:solidFill>
              <a:latin typeface="Aptos"/>
              <a:ea typeface="Roboto"/>
              <a:cs typeface="Roboto"/>
            </a:endParaRPr>
          </a:p>
          <a:p>
            <a:r>
              <a:rPr lang="en-US" dirty="0">
                <a:ea typeface="+mn-lt"/>
                <a:cs typeface="+mn-lt"/>
              </a:rPr>
              <a:t>https://mimuw.edu.pl/~msobol/wykl/wyznacz.pdf.</a:t>
            </a:r>
            <a:br>
              <a:rPr lang="en-US" dirty="0"/>
            </a:br>
            <a:endParaRPr lang="en-US" dirty="0"/>
          </a:p>
          <a:p>
            <a:endParaRPr lang="pl-PL" dirty="0"/>
          </a:p>
          <a:p>
            <a:endParaRPr lang="pl-PL" dirty="0"/>
          </a:p>
        </p:txBody>
      </p:sp>
    </p:spTree>
    <p:extLst>
      <p:ext uri="{BB962C8B-B14F-4D97-AF65-F5344CB8AC3E}">
        <p14:creationId xmlns:p14="http://schemas.microsoft.com/office/powerpoint/2010/main" val="4173613295"/>
      </p:ext>
    </p:extLst>
  </p:cSld>
  <p:clrMapOvr>
    <a:masterClrMapping/>
  </p:clrMapOvr>
</p:sld>
</file>

<file path=ppt/theme/theme1.xml><?xml version="1.0" encoding="utf-8"?>
<a:theme xmlns:a="http://schemas.openxmlformats.org/drawingml/2006/main" name="Motyw pakietu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536BD6BD5557EF4CA6526425B8C6A1DB" ma:contentTypeVersion="3" ma:contentTypeDescription="Utwórz nowy dokument." ma:contentTypeScope="" ma:versionID="8c04cf59c32346926557c95cdfc859ce">
  <xsd:schema xmlns:xsd="http://www.w3.org/2001/XMLSchema" xmlns:xs="http://www.w3.org/2001/XMLSchema" xmlns:p="http://schemas.microsoft.com/office/2006/metadata/properties" xmlns:ns2="6f4ad519-54a4-4831-b150-602d719bcc04" targetNamespace="http://schemas.microsoft.com/office/2006/metadata/properties" ma:root="true" ma:fieldsID="0af2f26399e1ba8e44410e8c1f50ed1b" ns2:_="">
    <xsd:import namespace="6f4ad519-54a4-4831-b150-602d719bcc04"/>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f4ad519-54a4-4831-b150-602d719bcc0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zawartości"/>
        <xsd:element ref="dc:title" minOccurs="0" maxOccurs="1" ma:index="4" ma:displayName="Tytu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1B149D5-54CA-452D-AAEE-CBCEA726B37C}"/>
</file>

<file path=customXml/itemProps2.xml><?xml version="1.0" encoding="utf-8"?>
<ds:datastoreItem xmlns:ds="http://schemas.openxmlformats.org/officeDocument/2006/customXml" ds:itemID="{F329F05A-AA70-4B96-9457-26BACD4F86B3}"/>
</file>

<file path=customXml/itemProps3.xml><?xml version="1.0" encoding="utf-8"?>
<ds:datastoreItem xmlns:ds="http://schemas.openxmlformats.org/officeDocument/2006/customXml" ds:itemID="{63CF731D-D2FA-426C-B02E-23F346AD0700}"/>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Panoramiczny</PresentationFormat>
  <Paragraphs>0</Paragraphs>
  <Slides>50</Slides>
  <Notes>0</Notes>
  <HiddenSlides>0</HiddenSlides>
  <MMClips>0</MMClips>
  <ScaleCrop>false</ScaleCrop>
  <HeadingPairs>
    <vt:vector size="4" baseType="variant">
      <vt:variant>
        <vt:lpstr>Motyw</vt:lpstr>
      </vt:variant>
      <vt:variant>
        <vt:i4>1</vt:i4>
      </vt:variant>
      <vt:variant>
        <vt:lpstr>Tytuły slajdów</vt:lpstr>
      </vt:variant>
      <vt:variant>
        <vt:i4>50</vt:i4>
      </vt:variant>
    </vt:vector>
  </HeadingPairs>
  <TitlesOfParts>
    <vt:vector size="51" baseType="lpstr">
      <vt:lpstr>Motyw pakietu Office</vt:lpstr>
      <vt:lpstr>Patryk Jóźwiak</vt:lpstr>
      <vt:lpstr>Zagadnienie nr 5</vt:lpstr>
      <vt:lpstr>Czym są sieci komputerowe?</vt:lpstr>
      <vt:lpstr>Dlaczego klasyfikacja i topologia są ważne? </vt:lpstr>
      <vt:lpstr>Klasyfikacje sieci komputerowych</vt:lpstr>
      <vt:lpstr>Podział sieci ze względu na zasięg, </vt:lpstr>
      <vt:lpstr>Sieć PAN</vt:lpstr>
      <vt:lpstr>Sieć LAN</vt:lpstr>
      <vt:lpstr>Sieć MAN</vt:lpstr>
      <vt:lpstr>Sieć WAN</vt:lpstr>
      <vt:lpstr>Podział sieci ze względu na architekturę</vt:lpstr>
      <vt:lpstr>Sieć klient-serwer</vt:lpstr>
      <vt:lpstr>Jak działa model Klient-Serwer? Główne mechanizmy i procesy  </vt:lpstr>
      <vt:lpstr>Zalety i wady architektury Klient-Serwer </vt:lpstr>
      <vt:lpstr>Sieć peer-to-peer (P2P)</vt:lpstr>
      <vt:lpstr>Jak działa model P2P? Główne mechanizmy i procesy   </vt:lpstr>
      <vt:lpstr>Zalety i wady architektury P2P  </vt:lpstr>
      <vt:lpstr>Topologie sieciowe</vt:lpstr>
      <vt:lpstr>Topologie Sieci Lokalnych</vt:lpstr>
      <vt:lpstr>Topologia magistrali</vt:lpstr>
      <vt:lpstr>Topologia pierścienia</vt:lpstr>
      <vt:lpstr>Topologia gwiazdy</vt:lpstr>
      <vt:lpstr>Topologie Sieci Globalnych</vt:lpstr>
      <vt:lpstr>Topologia drzewiasta</vt:lpstr>
      <vt:lpstr>Topologia siatki</vt:lpstr>
      <vt:lpstr>Topologia Mieszana</vt:lpstr>
      <vt:lpstr>Zagadnienie nr 17</vt:lpstr>
      <vt:lpstr>Co to jest prąd elektryczny?</vt:lpstr>
      <vt:lpstr>Podstawowe wielkości elektryczne</vt:lpstr>
      <vt:lpstr>Prezentacja programu PowerPoint</vt:lpstr>
      <vt:lpstr>Prawo Ohma</vt:lpstr>
      <vt:lpstr>Zależność oporu od temperatury</vt:lpstr>
      <vt:lpstr>I i II prawo Kirchhoffa</vt:lpstr>
      <vt:lpstr>Prezentacja programu PowerPoint</vt:lpstr>
      <vt:lpstr>Prezentacja programu PowerPoint</vt:lpstr>
      <vt:lpstr>Praca i moc prądu</vt:lpstr>
      <vt:lpstr>Zagadnienie nr 29</vt:lpstr>
      <vt:lpstr>Czym jest macierz?</vt:lpstr>
      <vt:lpstr>Wyznaczniki</vt:lpstr>
      <vt:lpstr>Własności wyznaczników</vt:lpstr>
      <vt:lpstr>Wyznacznik macierzy 2x2</vt:lpstr>
      <vt:lpstr>Wyznacznik macierzy 3x3 i większych</vt:lpstr>
      <vt:lpstr>Twierdzenie Laplace’a, </vt:lpstr>
      <vt:lpstr>Reguła Sarrusa</vt:lpstr>
      <vt:lpstr>Metoda eliminacji Gaussa.</vt:lpstr>
      <vt:lpstr>Macierz transponowana</vt:lpstr>
      <vt:lpstr>Twierdzenie Cauchy`ego</vt:lpstr>
      <vt:lpstr>Bibliografia</vt:lpstr>
      <vt:lpstr>Prezentacja programu PowerPoint</vt:lpstr>
      <vt:lpstr>Prezentacja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801</cp:revision>
  <dcterms:created xsi:type="dcterms:W3CDTF">2025-03-29T14:25:16Z</dcterms:created>
  <dcterms:modified xsi:type="dcterms:W3CDTF">2025-03-30T20:47:46Z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0x010100536BD6BD5557EF4CA6526425B8C6A1DB</vt:lpwstr>
  </property>
</Properties>
</file>