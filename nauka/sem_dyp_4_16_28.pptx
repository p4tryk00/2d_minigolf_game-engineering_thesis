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62" r:id="rId5"/>
    <p:sldId id="263" r:id="rId6"/>
    <p:sldId id="267" r:id="rId7"/>
    <p:sldId id="264" r:id="rId8"/>
    <p:sldId id="265" r:id="rId9"/>
    <p:sldId id="266" r:id="rId10"/>
    <p:sldId id="259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60" r:id="rId22"/>
    <p:sldId id="278" r:id="rId23"/>
    <p:sldId id="279" r:id="rId24"/>
    <p:sldId id="280" r:id="rId25"/>
    <p:sldId id="281" r:id="rId26"/>
    <p:sldId id="282" r:id="rId27"/>
    <p:sldId id="283" r:id="rId28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Styl pośredni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ustomXml" Target="../customXml/item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35" Type="http://schemas.openxmlformats.org/officeDocument/2006/relationships/customXml" Target="../customXml/item3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990EF85-5036-6C3B-FB4C-5DE7857C12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5EA50E2F-CEAE-ABDC-6384-373C9B4C51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D3F3214F-665E-7C9E-3E03-F0FD70121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D1D47-1361-4BFE-A065-8B66939D2C08}" type="datetimeFigureOut">
              <a:rPr lang="pl-PL" smtClean="0"/>
              <a:t>24.03.2025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7458F34-BE32-2C4A-BE16-91C5D4416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6C0BAB4F-497C-CEAD-C025-54212B75E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1E518-FAB9-4FE0-B5D9-22D077CF2EC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8119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3E620AC-F4EE-3D51-88C5-648B165C4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ABEDE90-7DB9-7621-8519-5EF33016A4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9CBC8721-740F-E9AF-A630-157D754B9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D1D47-1361-4BFE-A065-8B66939D2C08}" type="datetimeFigureOut">
              <a:rPr lang="pl-PL" smtClean="0"/>
              <a:t>24.03.2025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FC870B91-C392-BE59-0F4C-A880DCC1D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A28A212C-B3E3-DDC6-5808-21D68FB46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1E518-FAB9-4FE0-B5D9-22D077CF2EC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93430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13AA6DA-B33F-5BF0-267F-F66C4C103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5AB46EF5-19F8-A1B1-E6AB-A31631BECA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8309FF91-1741-9A3B-8A69-E36DD2D8F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D1D47-1361-4BFE-A065-8B66939D2C08}" type="datetimeFigureOut">
              <a:rPr lang="pl-PL" smtClean="0"/>
              <a:t>24.03.2025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393C54A0-68BA-5E67-F272-4F2521051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E73082EF-855B-8B46-2C3B-6838D6CC8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1E518-FAB9-4FE0-B5D9-22D077CF2EC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264755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409510B-4A8E-67A3-BBA8-5E4ED7A59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A29F4C4-6791-4D60-3FDB-CC7C2422E0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6565B7FE-127B-EB43-286E-BEBFE1882E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DB69D6CA-4681-75F7-196C-06D268C2D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D1D47-1361-4BFE-A065-8B66939D2C08}" type="datetimeFigureOut">
              <a:rPr lang="pl-PL" smtClean="0"/>
              <a:t>24.03.2025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AD9A9272-FB7C-B15A-2720-8639CB1D9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8CC86D78-F21D-46EE-A96F-ADB39F963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1E518-FAB9-4FE0-B5D9-22D077CF2EC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4574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D21D19E-BD81-0EEB-61EB-4701599ED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C27912E4-25B5-2A53-BB57-756D743A95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93817596-C282-B4F0-8EDB-0A0B57DFD8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A36A53D9-5932-E6D8-1658-BFDC47D9D2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3670B66E-2C0F-7E48-B147-C58C5AA0E6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27C286E9-A5E9-E92D-7B81-468DC09D3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D1D47-1361-4BFE-A065-8B66939D2C08}" type="datetimeFigureOut">
              <a:rPr lang="pl-PL" smtClean="0"/>
              <a:t>24.03.2025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80F66706-9D6B-F2BF-B993-4EB9A6560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600B2B76-ECF3-FC8B-C16E-A1475CEBF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1E518-FAB9-4FE0-B5D9-22D077CF2EC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26026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1D9FB7C-07BE-012C-1200-31801A3F0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4F5C04C8-2130-61F4-B614-A213FDEEC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D1D47-1361-4BFE-A065-8B66939D2C08}" type="datetimeFigureOut">
              <a:rPr lang="pl-PL" smtClean="0"/>
              <a:t>24.03.2025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95D0CA7E-9803-CAB3-AF85-8D4236234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09ACDCF6-5282-AC99-D8D8-B455D4361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1E518-FAB9-4FE0-B5D9-22D077CF2EC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78930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7461681C-D131-B969-F5B4-42A296C51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D1D47-1361-4BFE-A065-8B66939D2C08}" type="datetimeFigureOut">
              <a:rPr lang="pl-PL" smtClean="0"/>
              <a:t>24.03.2025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C9030B96-C15D-95F6-A802-52E4244C6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FA1854E3-5969-4BC9-2BE7-C3F1D795E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1E518-FAB9-4FE0-B5D9-22D077CF2EC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1353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12472AE-788E-A4A3-F7E5-967D32842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DD01718-99EB-660F-720D-8F20E63664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7FC470B0-CEEE-A65C-844A-D7EF43FC4D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5CF81BB6-7563-2451-6CD0-A383B9DAF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D1D47-1361-4BFE-A065-8B66939D2C08}" type="datetimeFigureOut">
              <a:rPr lang="pl-PL" smtClean="0"/>
              <a:t>24.03.2025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87363E37-264C-5CE0-4FC6-7BFE25EF5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58832923-FE7A-C01A-D615-D75D2EB57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1E518-FAB9-4FE0-B5D9-22D077CF2EC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456155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D75D069-F63B-E974-FAA3-859EA4CAA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48DB133D-4C12-E434-99EE-9DE478994C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F8A89CBE-EC6F-39DD-B96D-F28583F344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C31DD119-7750-B779-9169-2ED736592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D1D47-1361-4BFE-A065-8B66939D2C08}" type="datetimeFigureOut">
              <a:rPr lang="pl-PL" smtClean="0"/>
              <a:t>24.03.2025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23EDC702-00C3-DBA2-E81A-A7D28AD6A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761ED25B-AECA-8544-1044-82A2D4D3D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1E518-FAB9-4FE0-B5D9-22D077CF2EC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9200706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0B5A1BF-5EA2-CB27-E184-4E2DAA56F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9422643A-7DC1-7FE8-3EFB-32AA44323C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6858A21C-C6F0-F21C-F825-854AF4551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D1D47-1361-4BFE-A065-8B66939D2C08}" type="datetimeFigureOut">
              <a:rPr lang="pl-PL" smtClean="0"/>
              <a:t>24.03.2025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DF73AC33-8163-09C0-06B8-8D259C9E4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DE246EB4-E18B-D9E2-8D3B-3199B7B4B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1E518-FAB9-4FE0-B5D9-22D077CF2EC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471946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F8D2ADB5-36A9-7221-2947-AB2854A70E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FCF09261-3860-72DB-D2FB-D994CA09C0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09846B0-4CBA-3B80-81D2-069B72D21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D1D47-1361-4BFE-A065-8B66939D2C08}" type="datetimeFigureOut">
              <a:rPr lang="pl-PL" smtClean="0"/>
              <a:t>24.03.2025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D9D76CD2-3413-2BE3-128C-F46F2693C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36DFAD38-5612-2E87-1DDD-D71A2436C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1E518-FAB9-4FE0-B5D9-22D077CF2EC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95656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E66C6283-F812-AD92-5022-2D3314964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42409E03-488E-B262-0CB0-F009374731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5D90BC18-A577-AF05-E6F9-72DA36895C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9D1D47-1361-4BFE-A065-8B66939D2C08}" type="datetimeFigureOut">
              <a:rPr lang="pl-PL" smtClean="0"/>
              <a:t>24.03.2025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16598C75-C374-BD05-925D-D55D65C066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8E101D1A-D1EC-7168-D98B-F2D7126287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71E518-FAB9-4FE0-B5D9-22D077CF2EC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61486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1E994C8-9429-4601-419A-BD410433EB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376393"/>
          </a:xfrm>
        </p:spPr>
        <p:txBody>
          <a:bodyPr/>
          <a:lstStyle/>
          <a:p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Michał Gałęzowski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152BF7FB-B418-15BD-0D94-EFA45D9556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l-PL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Seminarium dyplomowe</a:t>
            </a:r>
          </a:p>
          <a:p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Zagadnienia nr. 4, 16, 28.</a:t>
            </a:r>
          </a:p>
        </p:txBody>
      </p:sp>
      <p:pic>
        <p:nvPicPr>
          <p:cNvPr id="1026" name="Picture 2" descr="DZIEKANAT">
            <a:extLst>
              <a:ext uri="{FF2B5EF4-FFF2-40B4-BE49-F238E27FC236}">
                <a16:creationId xmlns:a16="http://schemas.microsoft.com/office/drawing/2014/main" id="{C8D3A037-30C8-741C-FE44-6DCDF3D86D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175" y="5067300"/>
            <a:ext cx="314325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48797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9635A40-8384-F976-D630-CE9196384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0628" y="2021910"/>
            <a:ext cx="10515600" cy="1563263"/>
          </a:xfrm>
        </p:spPr>
        <p:txBody>
          <a:bodyPr>
            <a:normAutofit fontScale="90000"/>
          </a:bodyPr>
          <a:lstStyle/>
          <a:p>
            <a:pPr algn="ctr"/>
            <a:r>
              <a:rPr lang="pl-P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Zagadnienie nr. 4</a:t>
            </a:r>
            <a:br>
              <a:rPr lang="pl-P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pl-P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l-P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Grupa permutacji (Definicja, realizacja na zbiorze dwuelementowym i trójelementowym, elementy grupy permutacji w postaci macierzowej)</a:t>
            </a:r>
          </a:p>
        </p:txBody>
      </p:sp>
    </p:spTree>
    <p:extLst>
      <p:ext uri="{BB962C8B-B14F-4D97-AF65-F5344CB8AC3E}">
        <p14:creationId xmlns:p14="http://schemas.microsoft.com/office/powerpoint/2010/main" val="11925993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AC82F67-AB79-9B74-4E62-B22BF93F4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Czym jest grupa?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ymbol zastępczy zawartości 2">
                <a:extLst>
                  <a:ext uri="{FF2B5EF4-FFF2-40B4-BE49-F238E27FC236}">
                    <a16:creationId xmlns:a16="http://schemas.microsoft.com/office/drawing/2014/main" id="{D751A6DD-FBFB-2FBF-322B-7F2FF7B215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pl-PL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Grupą nazywamy zbiór G wraz z określonym iloczynem elementów tego zbioru, który każdej uporządkowanej parze (g1,g2) </a:t>
                </a:r>
                <a:r>
                  <a:rPr lang="pl-PL" sz="240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∈ G przyporządkowuje inny element tego zbioru, oznaczony przez g1g2 ∈ G, przy czym spełnione są następujące warunki: </a:t>
                </a:r>
              </a:p>
              <a:p>
                <a:pPr marL="0" indent="0">
                  <a:buNone/>
                </a:pPr>
                <a:endParaRPr lang="pl-PL" sz="2400" i="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pl-PL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a) Iloczyn jest łączny, tzn. (g1g2)g3 = g1(g2g3) dla dowolnych g1,g2,g3 </a:t>
                </a:r>
                <a:r>
                  <a:rPr lang="pl-PL" sz="240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∈ G,</a:t>
                </a:r>
                <a:endParaRPr lang="pl-PL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pl-PL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b) Istnieje element jednostkowy </a:t>
                </a:r>
                <a:r>
                  <a:rPr lang="az-Cyrl-AZ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е</a:t>
                </a:r>
                <a:r>
                  <a:rPr lang="pl-PL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pl-PL" sz="240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∈ G taki, że </a:t>
                </a:r>
                <a:r>
                  <a:rPr lang="az-Cyrl-AZ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е</a:t>
                </a:r>
                <a:r>
                  <a:rPr lang="pl-PL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 = g</a:t>
                </a:r>
                <a:r>
                  <a:rPr lang="az-Cyrl-AZ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е</a:t>
                </a:r>
                <a:r>
                  <a:rPr lang="pl-PL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g dla każdego g </a:t>
                </a:r>
                <a:r>
                  <a:rPr lang="pl-PL" sz="240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∈ G,</a:t>
                </a:r>
                <a:endParaRPr lang="pl-PL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pl-PL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c) Dla każdego g </a:t>
                </a:r>
                <a:r>
                  <a:rPr lang="pl-PL" sz="240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∈ G istnieje element odwrotny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p>
                        <m:r>
                          <a:rPr lang="pl-PL" sz="2400" b="0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pl-PL" sz="240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∈ G: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p>
                        <m:r>
                          <a:rPr lang="pl-PL" sz="2400" b="0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p>
                    </m:sSup>
                    <m:r>
                      <a:rPr lang="pl-PL" sz="2400" b="0" i="1" smtClean="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𝑔</m:t>
                    </m:r>
                    <m:r>
                      <a:rPr lang="pl-PL" sz="2400" b="0" i="1" smtClean="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pl-PL" sz="2400" b="0" i="1" smtClean="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𝑔</m:t>
                    </m:r>
                    <m:sSup>
                      <m:sSupPr>
                        <m:ctrlPr>
                          <a:rPr lang="pl-PL" sz="2400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p>
                        <m:r>
                          <a:rPr lang="pl-PL" sz="2400" b="0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pl-PL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az-Cyrl-AZ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е</a:t>
                </a:r>
                <a:r>
                  <a:rPr lang="pl-PL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Symbol zastępczy zawartości 2">
                <a:extLst>
                  <a:ext uri="{FF2B5EF4-FFF2-40B4-BE49-F238E27FC236}">
                    <a16:creationId xmlns:a16="http://schemas.microsoft.com/office/drawing/2014/main" id="{D751A6DD-FBFB-2FBF-322B-7F2FF7B215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1961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20872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E75FFB1-262B-36E7-439D-3E5DF5CE1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3192"/>
            <a:ext cx="10515600" cy="1325563"/>
          </a:xfrm>
        </p:spPr>
        <p:txBody>
          <a:bodyPr>
            <a:normAutofit/>
          </a:bodyPr>
          <a:lstStyle/>
          <a:p>
            <a:r>
              <a:rPr lang="pl-P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Grupy permutacji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A2C4309-A5F8-1459-2C5C-797E6781CD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8755"/>
            <a:ext cx="10515600" cy="51031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Permutacją zbioru A nazywamy różnowartościowe przekształcenie zbioru skończonego A na zbiór A. Permutacje n-elementowego zbioru {1, 2 ,…, n} wraz z działaniem składania przekształceń tworzą grupę przekształceń o n! elementach. Oznaczamy ją przez Sn.</a:t>
            </a:r>
          </a:p>
          <a:p>
            <a:pPr marL="0" indent="0">
              <a:buNone/>
            </a:pP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Przykład permutacji </a:t>
            </a:r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zbioru 5-elementowego A{1, 2, 3, 4, 5}</a:t>
            </a:r>
          </a:p>
          <a:p>
            <a:pPr marL="0" indent="0">
              <a:buNone/>
            </a:pP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→ 4 </a:t>
            </a:r>
          </a:p>
          <a:p>
            <a:pPr marL="0" indent="0">
              <a:buNone/>
            </a:pP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→ 1</a:t>
            </a:r>
          </a:p>
          <a:p>
            <a:pPr marL="0" indent="0">
              <a:buNone/>
            </a:pP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→ 2</a:t>
            </a:r>
          </a:p>
          <a:p>
            <a:pPr marL="0" indent="0">
              <a:buNone/>
            </a:pP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→ 3</a:t>
            </a:r>
          </a:p>
          <a:p>
            <a:pPr marL="0" indent="0">
              <a:buNone/>
            </a:pP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→ 5</a:t>
            </a:r>
          </a:p>
          <a:p>
            <a:pPr marL="0" indent="0">
              <a:buNone/>
            </a:pP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Permutacja ta jest przekształceniem, w którym obrazem 1 jest 4, obrazem 2 jest 1 itd.</a:t>
            </a:r>
          </a:p>
        </p:txBody>
      </p:sp>
    </p:spTree>
    <p:extLst>
      <p:ext uri="{BB962C8B-B14F-4D97-AF65-F5344CB8AC3E}">
        <p14:creationId xmlns:p14="http://schemas.microsoft.com/office/powerpoint/2010/main" val="14997649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4F7D500-775B-6348-7BDB-6B0DAFB7C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21925"/>
            <a:ext cx="10515600" cy="58969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Elementem neutralnym w grupie Sn jest permutacja identycznościowa, która przyporządkowuje każdemu elementowi A ten sam element.</a:t>
            </a:r>
          </a:p>
          <a:p>
            <a:pPr marL="0" indent="0">
              <a:buNone/>
            </a:pP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→ 1</a:t>
            </a:r>
          </a:p>
          <a:p>
            <a:pPr marL="0" indent="0">
              <a:buNone/>
            </a:pP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→ 2</a:t>
            </a:r>
          </a:p>
          <a:p>
            <a:pPr marL="0" indent="0">
              <a:buNone/>
            </a:pP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  <a:p>
            <a:pPr marL="0" indent="0">
              <a:buNone/>
            </a:pP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→ n</a:t>
            </a:r>
          </a:p>
          <a:p>
            <a:pPr marL="0" indent="0">
              <a:buNone/>
            </a:pPr>
            <a:endParaRPr lang="pl-PL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Aby znaleźć permutację odwrotną wystarczy odwrócić kierunek strzałek, na przykład permutacją odwrotną do permutacji </a:t>
            </a:r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jest permutacja </a:t>
            </a:r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’:</a:t>
            </a:r>
          </a:p>
          <a:p>
            <a:pPr marL="0" indent="0">
              <a:buNone/>
            </a:pP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→ 1 </a:t>
            </a:r>
          </a:p>
          <a:p>
            <a:pPr marL="0" indent="0">
              <a:buNone/>
            </a:pP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→ 2</a:t>
            </a:r>
          </a:p>
          <a:p>
            <a:pPr marL="0" indent="0">
              <a:buNone/>
            </a:pP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→ 3</a:t>
            </a:r>
          </a:p>
          <a:p>
            <a:pPr marL="0" indent="0">
              <a:buNone/>
            </a:pP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→ 4</a:t>
            </a:r>
          </a:p>
          <a:p>
            <a:pPr marL="0" indent="0">
              <a:buNone/>
            </a:pP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→ 5</a:t>
            </a:r>
          </a:p>
          <a:p>
            <a:pPr marL="0" indent="0">
              <a:buNone/>
            </a:pPr>
            <a:endParaRPr lang="pl-P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28081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E826BCA-BE5B-F331-C74F-FCEC7F1CD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Składanie permutacji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FDE4E72-09AB-A94F-BB92-8478B84ED8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5928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Złożeniem permutacji p1, p2 </a:t>
            </a:r>
            <a:r>
              <a:rPr lang="pl-PL" sz="24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∈ S(X) jest permutacja p1 * p2 ∈ S(X) zadana wzorem:</a:t>
            </a:r>
            <a:br>
              <a:rPr lang="pl-PL" sz="24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l-PL" sz="24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(p1 * p2)(x) = p2(p1(x)) dla x ∈ X.</a:t>
            </a:r>
          </a:p>
          <a:p>
            <a:pPr marL="0" indent="0">
              <a:buNone/>
            </a:pPr>
            <a:endParaRPr lang="pl-P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Przykład złożenia dwóch permutacji:</a:t>
            </a:r>
          </a:p>
          <a:p>
            <a:pPr marL="0" indent="0">
              <a:buNone/>
            </a:pP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→ 3	         1 → 2	   1 → 2</a:t>
            </a:r>
          </a:p>
          <a:p>
            <a:pPr marL="0" indent="0">
              <a:buNone/>
            </a:pP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→ 2	 *      2 → 3     =      2 → 1</a:t>
            </a:r>
          </a:p>
          <a:p>
            <a:pPr marL="0" indent="0">
              <a:buNone/>
            </a:pP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 → 1	         3 → 1	    3 → 3</a:t>
            </a:r>
          </a:p>
        </p:txBody>
      </p:sp>
    </p:spTree>
    <p:extLst>
      <p:ext uri="{BB962C8B-B14F-4D97-AF65-F5344CB8AC3E}">
        <p14:creationId xmlns:p14="http://schemas.microsoft.com/office/powerpoint/2010/main" val="241931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3BE09EE-8860-1F1C-872B-8877C2A5B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Permutacje na zbiorze dwuelementowym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B8C8FFB1-BC41-9F94-9420-A6BC504DE6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6169" y="1825625"/>
            <a:ext cx="10963747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Dla przykładowego zbioru dwuelementowego X = {1,2} mamy tylko 2! permutacji.</a:t>
            </a:r>
          </a:p>
          <a:p>
            <a:pPr marL="0" indent="0">
              <a:buNone/>
            </a:pP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permutacja tożsamościowa </a:t>
            </a:r>
            <a:r>
              <a:rPr lang="az-Cyrl-AZ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(1 → 1, 2 → 2)</a:t>
            </a:r>
          </a:p>
          <a:p>
            <a:pPr marL="0" indent="0">
              <a:buNone/>
            </a:pP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przestawienie elementów </a:t>
            </a:r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(1 → 2, 2 → 1)</a:t>
            </a:r>
          </a:p>
          <a:p>
            <a:pPr marL="0" indent="0">
              <a:buNone/>
            </a:pPr>
            <a:endParaRPr lang="pl-P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Grupa permutacji S2 zawiera więc dwa elementy:</a:t>
            </a:r>
          </a:p>
          <a:p>
            <a:pPr marL="0" indent="0">
              <a:buNone/>
            </a:pP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S2 = {</a:t>
            </a:r>
            <a:r>
              <a:rPr lang="az-Cyrl-AZ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489944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E90BD-A792-EDC3-E157-EAB9FD65B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1555C21-DF01-3ACC-EEE9-392881727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Permutacje na zbiorze trójelementowym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B1F9DAF-9D2C-D529-B124-EF0B917B61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6169" y="1825625"/>
            <a:ext cx="10963747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Dla przykładowego zbioru trójelementowego Y = {1,2,3} mamy 3! permutacji.</a:t>
            </a:r>
          </a:p>
          <a:p>
            <a:pPr marL="0" indent="0">
              <a:buNone/>
            </a:pP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→ 1	1 → 2	1 → 3	1 → 1	1 → 2	1 → 3</a:t>
            </a:r>
          </a:p>
          <a:p>
            <a:pPr marL="0" indent="0">
              <a:buNone/>
            </a:pP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→ 2	2 → 1	2 → 2	2 → 3	2 → 3	2 → 1</a:t>
            </a:r>
          </a:p>
          <a:p>
            <a:pPr marL="0" indent="0">
              <a:buNone/>
            </a:pP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→ 3	3 → 3	3 → 1	3 → 2	3 → 1	3 → 2</a:t>
            </a:r>
          </a:p>
          <a:p>
            <a:pPr marL="0" indent="0">
              <a:buNone/>
            </a:pPr>
            <a:endParaRPr lang="pl-P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Grupa permutacji S3 zawiera więc sześć elementów.</a:t>
            </a:r>
          </a:p>
        </p:txBody>
      </p:sp>
    </p:spTree>
    <p:extLst>
      <p:ext uri="{BB962C8B-B14F-4D97-AF65-F5344CB8AC3E}">
        <p14:creationId xmlns:p14="http://schemas.microsoft.com/office/powerpoint/2010/main" val="11120893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46DA273-5EB3-321E-CD9D-A08DD4D64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Elementy grupy permutacji w postaci macierzowej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FCCFA1C-2D87-B636-5C10-6313F6A03E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Każdą permutacje możemy zapisać jako macierz permutacji. Każda taka macierz ma jedną jedynkę w każdym wierszu i każdej kolumnie, a pozostałe elementy to zera.</a:t>
            </a:r>
          </a:p>
          <a:p>
            <a:pPr marL="0" indent="0">
              <a:buNone/>
            </a:pPr>
            <a:endParaRPr lang="pl-P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Dla przykładowej permutacji π = (1 → 1, 2 → 4, 3 → 2, 4 → 5, 5 → 3) mamy, postać macierzową</a:t>
            </a:r>
          </a:p>
          <a:p>
            <a:pPr marL="0" indent="0">
              <a:buNone/>
            </a:pPr>
            <a:endParaRPr lang="pl-P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F70173D7-7F74-7CA3-407A-2E96F84F02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0568" y="3724369"/>
            <a:ext cx="2330890" cy="2128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82145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B3C80-9238-2352-ADAC-BD7C122BF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1064809-0DAA-8717-9FD4-7FCD94E84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0628" y="2021910"/>
            <a:ext cx="10515600" cy="1563263"/>
          </a:xfrm>
        </p:spPr>
        <p:txBody>
          <a:bodyPr>
            <a:noAutofit/>
          </a:bodyPr>
          <a:lstStyle/>
          <a:p>
            <a:pPr algn="ctr"/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Zagadnienie nr. 16</a:t>
            </a:r>
            <a:b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Porównanie dwóch wybranych metodyk tworzenia oprogramowania (Opis i porównanie dwóch wybranych spośród następujących metodyk: </a:t>
            </a:r>
            <a:r>
              <a:rPr lang="pl-PL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waterfall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model spiralny, prototypowanie, DDD, TDD, </a:t>
            </a:r>
            <a:r>
              <a:rPr lang="pl-PL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scrum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programowanie ekstremalne)</a:t>
            </a:r>
          </a:p>
        </p:txBody>
      </p:sp>
    </p:spTree>
    <p:extLst>
      <p:ext uri="{BB962C8B-B14F-4D97-AF65-F5344CB8AC3E}">
        <p14:creationId xmlns:p14="http://schemas.microsoft.com/office/powerpoint/2010/main" val="10139459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C3D38CF-8272-1F9A-AB96-4D244C324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 to jest metodyka wytwarzania oprogramowania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484B81B-7464-80A3-715A-9CE12BF7F0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Metodyka tworzenia oprogramowania to zestaw zasad, procedur i technik, które określają sposób organizacji pracy nad projektem programistycznym. Pomaga zespołom programistycznym w efektywnym planowaniu, implementacji, testowaniu i utrzymaniu oprogramowania.</a:t>
            </a:r>
          </a:p>
          <a:p>
            <a:pPr marL="0" indent="0">
              <a:buNone/>
            </a:pPr>
            <a:endParaRPr lang="pl-P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najpopularniejszych metodyk wytwarzania oprogramowania zaliczamy:</a:t>
            </a:r>
          </a:p>
          <a:p>
            <a:pPr>
              <a:buFontTx/>
              <a:buChar char="-"/>
            </a:pPr>
            <a:r>
              <a:rPr lang="pl-PL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Waterfall</a:t>
            </a:r>
            <a:endParaRPr lang="pl-P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-"/>
            </a:pPr>
            <a:r>
              <a:rPr lang="pl-PL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Scrum</a:t>
            </a:r>
            <a:endParaRPr lang="pl-P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-"/>
            </a:pP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TDD (Test-</a:t>
            </a:r>
            <a:r>
              <a:rPr lang="pl-PL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driven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development)</a:t>
            </a:r>
          </a:p>
          <a:p>
            <a:pPr>
              <a:buFontTx/>
              <a:buChar char="-"/>
            </a:pP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Programowanie ekstremalne</a:t>
            </a:r>
          </a:p>
        </p:txBody>
      </p:sp>
    </p:spTree>
    <p:extLst>
      <p:ext uri="{BB962C8B-B14F-4D97-AF65-F5344CB8AC3E}">
        <p14:creationId xmlns:p14="http://schemas.microsoft.com/office/powerpoint/2010/main" val="2761132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9DFD410-8A95-61F4-3CEA-DF35E9B53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Waterfall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(Model kaskadowy)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0543505-DBE8-4089-4F26-DB27826D1A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Jedna z najstarszych metodologii i obejmuje ona ściśle sekwencyjną implementację tzn. każdy etap musi zostać zakończony w 100% zanim rozpocznie się następny.</a:t>
            </a:r>
          </a:p>
          <a:p>
            <a:pPr marL="0" indent="0">
              <a:buNone/>
            </a:pPr>
            <a:endParaRPr lang="pl-P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-"/>
            </a:pP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Rozpoczynamy od analizy problemu, zbieramy wymagania od klienta, dokumentujemy i omawiamy wyzwania.</a:t>
            </a:r>
          </a:p>
          <a:p>
            <a:pPr>
              <a:buFontTx/>
              <a:buChar char="-"/>
            </a:pP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Następnie projektujemy, opracowujemy architekturę systemu, kształtujemy strukturę projektu.</a:t>
            </a:r>
          </a:p>
          <a:p>
            <a:pPr>
              <a:buFontTx/>
              <a:buChar char="-"/>
            </a:pP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Kolejno zaczynamy pisanie kodu, zgodnie z projektem.</a:t>
            </a:r>
          </a:p>
          <a:p>
            <a:pPr>
              <a:buFontTx/>
              <a:buChar char="-"/>
            </a:pP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 koniec zostało testowanie i sprawdzanie poprawności działania systemu.</a:t>
            </a:r>
          </a:p>
          <a:p>
            <a:pPr marL="0" indent="0">
              <a:buNone/>
            </a:pPr>
            <a:endParaRPr lang="pl-P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 metodyce </a:t>
            </a:r>
            <a:r>
              <a:rPr lang="pl-PL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Waterfall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powrót do poprzednich etapów jest zabroniony.</a:t>
            </a:r>
          </a:p>
        </p:txBody>
      </p:sp>
    </p:spTree>
    <p:extLst>
      <p:ext uri="{BB962C8B-B14F-4D97-AF65-F5344CB8AC3E}">
        <p14:creationId xmlns:p14="http://schemas.microsoft.com/office/powerpoint/2010/main" val="17859376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6436A38-23BD-3940-42CC-A1D8A1A01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Zalety metodyki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Waterfall</a:t>
            </a:r>
            <a:endParaRPr lang="pl-PL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DDBBE23-5636-5197-AA11-D37D36576A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14924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głównych zalet metodyki kaskadowej </a:t>
            </a:r>
            <a:r>
              <a:rPr lang="pl-PL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Waterfall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możemy zaliczyć:</a:t>
            </a:r>
          </a:p>
          <a:p>
            <a:pPr marL="0" indent="0">
              <a:buNone/>
            </a:pPr>
            <a:endParaRPr lang="pl-P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-"/>
            </a:pP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Przewidywalność i jasny podział etapów</a:t>
            </a:r>
          </a:p>
          <a:p>
            <a:pPr>
              <a:buFontTx/>
              <a:buChar char="-"/>
            </a:pP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Kompletna i spójna dokumentacja na każdym etapie</a:t>
            </a:r>
          </a:p>
          <a:p>
            <a:pPr>
              <a:buFontTx/>
              <a:buChar char="-"/>
            </a:pP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Budżety i terminy są z góry ustalone</a:t>
            </a:r>
          </a:p>
          <a:p>
            <a:pPr>
              <a:buFontTx/>
              <a:buChar char="-"/>
            </a:pP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Łatwiejsze zarządzanie dużymi projektami</a:t>
            </a:r>
          </a:p>
        </p:txBody>
      </p:sp>
    </p:spTree>
    <p:extLst>
      <p:ext uri="{BB962C8B-B14F-4D97-AF65-F5344CB8AC3E}">
        <p14:creationId xmlns:p14="http://schemas.microsoft.com/office/powerpoint/2010/main" val="39524597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A3682F5-BB0F-27AD-5F6C-2789F5455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Wady metodyki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Waterfall</a:t>
            </a:r>
            <a:endParaRPr lang="pl-PL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05BFEAD-B53A-4358-26D7-9AB5934D1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wad metodyki kaskadowej </a:t>
            </a:r>
            <a:r>
              <a:rPr lang="pl-PL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Waterfall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możemy zaliczyć: </a:t>
            </a:r>
          </a:p>
          <a:p>
            <a:pPr marL="0" indent="0">
              <a:buNone/>
            </a:pPr>
            <a:endParaRPr lang="pl-P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-"/>
            </a:pP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Brak elastyczności, trudno wprowadzać zmiany w późniejszych etapach</a:t>
            </a:r>
          </a:p>
          <a:p>
            <a:pPr>
              <a:buFontTx/>
              <a:buChar char="-"/>
            </a:pP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Duża ilość dokumentacji</a:t>
            </a:r>
          </a:p>
          <a:p>
            <a:pPr>
              <a:buFontTx/>
              <a:buChar char="-"/>
            </a:pP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Wysokie ryzyko błędnych założeń na początku projektu</a:t>
            </a:r>
          </a:p>
          <a:p>
            <a:pPr>
              <a:buFontTx/>
              <a:buChar char="-"/>
            </a:pP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Długi czas oczekiwania na gotowy produkt, klient nie widzi wersji demonstracyjnej</a:t>
            </a:r>
          </a:p>
          <a:p>
            <a:pPr>
              <a:buFontTx/>
              <a:buChar char="-"/>
            </a:pP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Brak możliwości cofnięcia się</a:t>
            </a:r>
          </a:p>
        </p:txBody>
      </p:sp>
    </p:spTree>
    <p:extLst>
      <p:ext uri="{BB962C8B-B14F-4D97-AF65-F5344CB8AC3E}">
        <p14:creationId xmlns:p14="http://schemas.microsoft.com/office/powerpoint/2010/main" val="33055269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096E6F0-FBA2-2A46-E912-0CFB97E0C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Scrum</a:t>
            </a:r>
            <a:endParaRPr lang="pl-P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C6F079E-41D9-8E1F-891E-0338CEE3BA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l-PL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Scrum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metodologia tworzenia oprogramowania, która dzieli cały proces ma iteracje. Na koniec każdej z iteracji zespół jest gotowy do udostępnienia wersji demonstracyjnej produktu. </a:t>
            </a:r>
          </a:p>
          <a:p>
            <a:pPr marL="0" indent="0">
              <a:buNone/>
            </a:pP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Zespół przechodzi przez wszystkie etapy rozwoju równolegle, dzięki czemu na końcu każdej iteracji można mieć ukończoną część projektu.</a:t>
            </a:r>
          </a:p>
          <a:p>
            <a:pPr marL="0" indent="0">
              <a:buNone/>
            </a:pP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Cały rozwój jest podzielony na sprinty(cykle), gdzie każdy ma swoje wytyczone zadania i stopnie trudności.</a:t>
            </a:r>
          </a:p>
        </p:txBody>
      </p:sp>
    </p:spTree>
    <p:extLst>
      <p:ext uri="{BB962C8B-B14F-4D97-AF65-F5344CB8AC3E}">
        <p14:creationId xmlns:p14="http://schemas.microsoft.com/office/powerpoint/2010/main" val="21604448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7C02D6D-EB99-ADCC-C6D4-35AAB6A3A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 w </a:t>
            </a:r>
            <a:r>
              <a:rPr lang="pl-PL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Scrumie</a:t>
            </a:r>
            <a:endParaRPr lang="pl-P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4BEC309-0A2F-2832-46C8-349BE80986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 </a:t>
            </a:r>
            <a:r>
              <a:rPr lang="pl-PL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Scrumie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każdy z uczestników projektu ma przypisaną rolę: </a:t>
            </a:r>
          </a:p>
          <a:p>
            <a:pPr marL="0" indent="0">
              <a:buNone/>
            </a:pPr>
            <a:endParaRPr lang="pl-P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-"/>
            </a:pP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Zespół deweloperski (programiści, testerzy, projektanci)</a:t>
            </a:r>
          </a:p>
          <a:p>
            <a:pPr>
              <a:buFontTx/>
              <a:buChar char="-"/>
            </a:pPr>
            <a:r>
              <a:rPr lang="pl-PL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Scrum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master, osoba która czuwa nad przestrzeganiem zasad </a:t>
            </a:r>
            <a:r>
              <a:rPr lang="pl-PL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Scrum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Tx/>
              <a:buChar char="-"/>
            </a:pP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</a:t>
            </a:r>
            <a:r>
              <a:rPr lang="pl-PL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Owner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zarządza wymaganiami biznesowymi, najczęściej klient.</a:t>
            </a:r>
          </a:p>
        </p:txBody>
      </p:sp>
    </p:spTree>
    <p:extLst>
      <p:ext uri="{BB962C8B-B14F-4D97-AF65-F5344CB8AC3E}">
        <p14:creationId xmlns:p14="http://schemas.microsoft.com/office/powerpoint/2010/main" val="35931450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4C24B17-3C27-1BA8-69E2-B5E3DB0AA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Komunikacja w </a:t>
            </a:r>
            <a:r>
              <a:rPr lang="pl-PL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Scrumie</a:t>
            </a:r>
            <a:endParaRPr lang="pl-P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B66E51B-51A2-C67A-C7D1-B786BA5592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 </a:t>
            </a:r>
            <a:r>
              <a:rPr lang="pl-PL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Scrumie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ważna jest komunikacja, dlatego odbywa się duża liczba spotkań. Dzielą się one na:</a:t>
            </a:r>
          </a:p>
          <a:p>
            <a:pPr marL="0" indent="0">
              <a:buNone/>
            </a:pPr>
            <a:endParaRPr lang="pl-P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-"/>
            </a:pP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Stand-</a:t>
            </a:r>
            <a:r>
              <a:rPr lang="pl-PL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up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krótkie codzienne spotkanie, w którym biorą udział wszyscy członkowie zespołu. Każdy uczestnik odpowiada na 3 pytania: Co zrobiłem? Co zrobię? Co mnie blokuje?</a:t>
            </a:r>
          </a:p>
          <a:p>
            <a:pPr>
              <a:buFontTx/>
              <a:buChar char="-"/>
            </a:pP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Planowane spotkania, odbywają się na początku sprintu. Podczas nich określane są zadania, które muszą być wykonane w kolejnym sprincie.</a:t>
            </a:r>
          </a:p>
          <a:p>
            <a:pPr>
              <a:buFontTx/>
              <a:buChar char="-"/>
            </a:pPr>
            <a:r>
              <a:rPr lang="pl-PL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Retroperspektywa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odbywa się na koniec sprintu. Ma na celu określenie co zostało zrobione dobrze, a co można poprawić.</a:t>
            </a:r>
          </a:p>
        </p:txBody>
      </p:sp>
    </p:spTree>
    <p:extLst>
      <p:ext uri="{BB962C8B-B14F-4D97-AF65-F5344CB8AC3E}">
        <p14:creationId xmlns:p14="http://schemas.microsoft.com/office/powerpoint/2010/main" val="28427218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5613FDD-2BE9-011E-E99C-A7C3A9F28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Zalety </a:t>
            </a:r>
            <a:r>
              <a:rPr lang="pl-PL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Scrum</a:t>
            </a:r>
            <a:endParaRPr lang="pl-P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0913707-24B4-85C5-59E4-64676361A9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głównych zalet metodyki </a:t>
            </a:r>
            <a:r>
              <a:rPr lang="pl-PL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Scrum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można zaliczyć:</a:t>
            </a:r>
          </a:p>
          <a:p>
            <a:pPr marL="0" indent="0">
              <a:buNone/>
            </a:pPr>
            <a:endParaRPr lang="pl-P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-"/>
            </a:pP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Niewielka ilość dokumentacji</a:t>
            </a:r>
          </a:p>
          <a:p>
            <a:pPr>
              <a:buFontTx/>
              <a:buChar char="-"/>
            </a:pP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Możliwość wprowadzania zmian w trakcie projektu</a:t>
            </a:r>
          </a:p>
          <a:p>
            <a:pPr>
              <a:buFontTx/>
              <a:buChar char="-"/>
            </a:pP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Wysoka komunikacja ze wszystkimi członkami zespołu</a:t>
            </a:r>
          </a:p>
          <a:p>
            <a:pPr>
              <a:buFontTx/>
              <a:buChar char="-"/>
            </a:pP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Codzienny monitoring procesu deweloperskiego</a:t>
            </a:r>
          </a:p>
          <a:p>
            <a:pPr>
              <a:buFontTx/>
              <a:buChar char="-"/>
            </a:pP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Możliwość dostarczenia działających części oprogramowania już na wczesnym etapie</a:t>
            </a:r>
          </a:p>
        </p:txBody>
      </p:sp>
    </p:spTree>
    <p:extLst>
      <p:ext uri="{BB962C8B-B14F-4D97-AF65-F5344CB8AC3E}">
        <p14:creationId xmlns:p14="http://schemas.microsoft.com/office/powerpoint/2010/main" val="37107073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AAFA9-6AC1-1385-BCB7-1A25F6CB6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52D150F-86FF-71CF-468F-5FE49FEDA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Wady </a:t>
            </a:r>
            <a:r>
              <a:rPr lang="pl-PL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Scrum</a:t>
            </a:r>
            <a:endParaRPr lang="pl-P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DB273FD-05D7-E8EC-34EA-660959B828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głównych wad metodyki </a:t>
            </a:r>
            <a:r>
              <a:rPr lang="pl-PL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Scrum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można zaliczyć:</a:t>
            </a:r>
          </a:p>
          <a:p>
            <a:pPr marL="0" indent="0">
              <a:buNone/>
            </a:pPr>
            <a:endParaRPr lang="pl-P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-"/>
            </a:pP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Wymaga częstych spotkań i zaangażowania całego zespołu</a:t>
            </a:r>
          </a:p>
          <a:p>
            <a:pPr>
              <a:buFontTx/>
              <a:buChar char="-"/>
            </a:pP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Wymaga dużej samoorganizacji zespołu</a:t>
            </a:r>
          </a:p>
          <a:p>
            <a:pPr>
              <a:buFontTx/>
              <a:buChar char="-"/>
            </a:pP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Trudno oszacować robociznę i inne koszty potrzebne do rozwoju</a:t>
            </a:r>
          </a:p>
          <a:p>
            <a:pPr>
              <a:buFontTx/>
              <a:buChar char="-"/>
            </a:pP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Może prowadzić do chaosu, jeśli brak jasnej wizji projektu</a:t>
            </a:r>
          </a:p>
        </p:txBody>
      </p:sp>
    </p:spTree>
    <p:extLst>
      <p:ext uri="{BB962C8B-B14F-4D97-AF65-F5344CB8AC3E}">
        <p14:creationId xmlns:p14="http://schemas.microsoft.com/office/powerpoint/2010/main" val="39720801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34B8DEB-90EB-1ADE-DF83-50B2329CF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Porównanie metodyk </a:t>
            </a:r>
            <a:r>
              <a:rPr lang="pl-PL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Waterfall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 </a:t>
            </a:r>
            <a:r>
              <a:rPr lang="pl-PL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Scrum</a:t>
            </a:r>
            <a:endParaRPr lang="pl-P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Symbol zastępczy zawartości 4">
            <a:extLst>
              <a:ext uri="{FF2B5EF4-FFF2-40B4-BE49-F238E27FC236}">
                <a16:creationId xmlns:a16="http://schemas.microsoft.com/office/drawing/2014/main" id="{A3F8BD48-432E-B7EE-6240-F41EB94654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79981641"/>
              </p:ext>
            </p:extLst>
          </p:nvPr>
        </p:nvGraphicFramePr>
        <p:xfrm>
          <a:off x="838200" y="1825625"/>
          <a:ext cx="10515597" cy="22250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1170019860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686885238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22224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l-PL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Cecha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Waterfall</a:t>
                      </a:r>
                      <a:r>
                        <a:rPr lang="pl-PL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Scrum</a:t>
                      </a:r>
                      <a:endParaRPr lang="pl-PL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0804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l-PL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Struktura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Sekwencyjna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Iteracyjna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52534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l-PL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Elastyczność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Niska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Wysoka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03265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l-PL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Ryzyko zmian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Wysokie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Niskie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7231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l-PL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Dokumentacja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Szczegółowa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Minimalna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428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l-PL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Tempo pracy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Wolniejsze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Szybsze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06735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67332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1EDD1-D506-E5F9-FA00-7A3D61737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51389DB-83F3-F0AD-1125-349B857B6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0628" y="2021910"/>
            <a:ext cx="10515600" cy="1563263"/>
          </a:xfrm>
        </p:spPr>
        <p:txBody>
          <a:bodyPr>
            <a:noAutofit/>
          </a:bodyPr>
          <a:lstStyle/>
          <a:p>
            <a:pPr algn="ctr"/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Zagadnienie nr. 28</a:t>
            </a:r>
            <a:b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Wyjątki w programowaniu (pojęcie wyjątku w wybranych językach programowania, rodzaje i hierarchia wyjątków, bloki „</a:t>
            </a:r>
            <a:r>
              <a:rPr lang="pl-PL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try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”, „</a:t>
            </a:r>
            <a:r>
              <a:rPr lang="pl-PL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throw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”, „</a:t>
            </a:r>
            <a:r>
              <a:rPr lang="pl-PL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catch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”)</a:t>
            </a:r>
          </a:p>
        </p:txBody>
      </p:sp>
    </p:spTree>
    <p:extLst>
      <p:ext uri="{BB962C8B-B14F-4D97-AF65-F5344CB8AC3E}">
        <p14:creationId xmlns:p14="http://schemas.microsoft.com/office/powerpoint/2010/main" val="23455571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60BA3AA-F6E9-F082-A6BC-8954AF1F4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>
            <a:normAutofit/>
          </a:bodyPr>
          <a:lstStyle/>
          <a:p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Wyjątki w C++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3DD5038-20AD-26B0-D7A2-C61FB7729A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pl-PL" sz="24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l-PL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 C++ wyjątek oznacza błąd, zaś obsługa wyjątków oznacza reakcję programu na błędy wykryte podczas działania programu. </a:t>
            </a:r>
          </a:p>
          <a:p>
            <a:pPr marL="0" indent="0">
              <a:buNone/>
            </a:pPr>
            <a:r>
              <a:rPr lang="pl-PL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Idea obsługi wyjątków polega na tym, że funkcja, która napotkała problem, z którym nie potrafi sobie poradzić zgłasza wyjątek. Wyjątek jest przesyłany do miejsca wywołania funkcji. Tam może być wyłapany i obsłużony lub może być przesłany dalej (wyżej).</a:t>
            </a:r>
          </a:p>
          <a:p>
            <a:pPr marL="0" indent="0">
              <a:buNone/>
            </a:pPr>
            <a:r>
              <a:rPr lang="pl-PL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Mechanizm obsługi wyjątków w innych językach może być zrealizowany zupełnie inaczej. W szczególności nie ma ogólnej zgody czym powinien być wyjątek.</a:t>
            </a:r>
            <a:endParaRPr lang="pl-PL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49875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357BF64-E960-B971-7AE5-54FB078B7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Rodzaje wyjątków w C++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628DF6F-F928-B5B9-05DC-30052F8DE9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Wyrzucić jako wyjątek możemy wartość praktycznie dowolnego typu, jednak zaleca się używanie typów zdefiniowanych w </a:t>
            </a:r>
            <a:r>
              <a:rPr lang="pl-PL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::</a:t>
            </a:r>
            <a:r>
              <a:rPr lang="pl-PL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exception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marL="0" indent="0">
              <a:buNone/>
            </a:pPr>
            <a:endParaRPr lang="pl-P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E0AC26AB-B95E-94F6-FA47-A8ABAEA681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676006"/>
            <a:ext cx="10648950" cy="3171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4203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AC16941-F552-20AD-6D2D-092FD418F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Obsługa wyjątków w C++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D5AF8AA-5905-04F3-8A58-389B784D29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689" y="1825625"/>
            <a:ext cx="11027121" cy="4351338"/>
          </a:xfrm>
        </p:spPr>
        <p:txBody>
          <a:bodyPr/>
          <a:lstStyle/>
          <a:p>
            <a:pPr marL="0" indent="0">
              <a:buNone/>
            </a:pP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Tam gdzie spodziewamy się wyjątku umieszczamy blok </a:t>
            </a:r>
            <a:r>
              <a:rPr lang="pl-PL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try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 którym umieszczamy „podejrzane” instrukcje. Za tym blokiem muszą pojawić się bloki </a:t>
            </a:r>
            <a:r>
              <a:rPr lang="pl-PL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catch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Wygląda to tak:</a:t>
            </a:r>
          </a:p>
          <a:p>
            <a:pPr marL="0" indent="0">
              <a:buNone/>
            </a:pPr>
            <a:endParaRPr lang="pl-P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pl-PL" dirty="0"/>
          </a:p>
          <a:p>
            <a:pPr marL="0" indent="0">
              <a:buNone/>
            </a:pPr>
            <a:endParaRPr lang="pl-PL" dirty="0"/>
          </a:p>
          <a:p>
            <a:pPr marL="0" indent="0">
              <a:buNone/>
            </a:pPr>
            <a:endParaRPr lang="pl-PL" dirty="0"/>
          </a:p>
          <a:p>
            <a:pPr marL="0" indent="0">
              <a:buNone/>
            </a:pPr>
            <a:endParaRPr lang="pl-PL" dirty="0"/>
          </a:p>
          <a:p>
            <a:pPr marL="0" indent="0">
              <a:buNone/>
            </a:pPr>
            <a:endParaRPr lang="pl-P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 instrukcji </a:t>
            </a:r>
            <a:r>
              <a:rPr lang="pl-PL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catch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umieszczamy typ jakim będzie wyjątek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EBDC57B6-53E4-D47E-0E37-31102D3468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689" y="2947414"/>
            <a:ext cx="5438775" cy="2343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0937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AF2BBD5-E103-024E-8CFA-B22B3BCA3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Rzucanie wyjątku w C++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B49BE2C-F4DB-D3BF-3287-B9BEC281F8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Pisząc funkcję możemy stwierdzić że coś poszło nie tak i chcemy zasygnalizować wyjątek. Można to zrobić tak jak poniżej: </a:t>
            </a:r>
          </a:p>
          <a:p>
            <a:pPr marL="0" indent="0">
              <a:buNone/>
            </a:pPr>
            <a:endParaRPr lang="pl-P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pl-P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pl-P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pl-P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pl-P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 instrukcji </a:t>
            </a:r>
            <a:r>
              <a:rPr lang="pl-PL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throw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umieszczamy obiekt który chcemy rzucić(u nas string). W tym miejscu działanie funkcji jest natychmiast przerywane i nasza zmienna wędruje do bloków </a:t>
            </a:r>
            <a:r>
              <a:rPr lang="pl-PL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catch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pl-P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pl-P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B31ACA0B-B903-5497-F417-EC65C350BB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675677"/>
            <a:ext cx="7915275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0654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FEB4A80-8A61-5860-1E03-97AF40AAF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Przykład użycia</a:t>
            </a:r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BC08858E-5646-C8BF-50D5-D5D69420B7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4740482" cy="4351338"/>
          </a:xfrm>
        </p:spPr>
      </p:pic>
      <p:sp>
        <p:nvSpPr>
          <p:cNvPr id="6" name="pole tekstowe 5">
            <a:extLst>
              <a:ext uri="{FF2B5EF4-FFF2-40B4-BE49-F238E27FC236}">
                <a16:creationId xmlns:a16="http://schemas.microsoft.com/office/drawing/2014/main" id="{A6218184-A322-4EB0-DEB1-0142573527D6}"/>
              </a:ext>
            </a:extLst>
          </p:cNvPr>
          <p:cNvSpPr txBox="1"/>
          <p:nvPr/>
        </p:nvSpPr>
        <p:spPr>
          <a:xfrm>
            <a:off x="6095999" y="1690688"/>
            <a:ext cx="553770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Jak widać, w bloku </a:t>
            </a:r>
            <a:r>
              <a:rPr lang="pl-PL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try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próbujemy wywołać funkcję Dziel dla dwóch argumentów z których drugi jest zerem. Wywoła to wyrzucenie </a:t>
            </a:r>
            <a:r>
              <a:rPr lang="pl-PL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throw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wyjątku, zatrzymanie działania programu i przekazanie stringa z informacją o błędzie. Wyjątek zostaje złapany przez </a:t>
            </a:r>
            <a:r>
              <a:rPr lang="pl-PL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catcha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 wypisany użytkownikowi.</a:t>
            </a:r>
          </a:p>
        </p:txBody>
      </p:sp>
    </p:spTree>
    <p:extLst>
      <p:ext uri="{BB962C8B-B14F-4D97-AF65-F5344CB8AC3E}">
        <p14:creationId xmlns:p14="http://schemas.microsoft.com/office/powerpoint/2010/main" val="1389390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01FEE1D-705C-227D-C9CA-BD11E452B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Bibliografia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408EC87-F9FD-4EDB-654D-D56902F20C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958465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https://home.agh.edu.pl/~mariuszp/wfiis_mmf2/wyklad_mmf2_13.pdf</a:t>
            </a:r>
          </a:p>
          <a:p>
            <a:pPr marL="0" indent="0">
              <a:buNone/>
            </a:pPr>
            <a:r>
              <a:rPr lang="pl-PL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https://pages.mini.pw.edu.pl/~kaczmarskik/MiNIwyklady/algebra/grupy/gr_permutacji/gr_permutacji.html</a:t>
            </a:r>
          </a:p>
          <a:p>
            <a:pPr marL="0" indent="0">
              <a:buNone/>
            </a:pPr>
            <a:r>
              <a:rPr lang="pl-PL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https://pl.wikipedia.org/wiki/Permutacja</a:t>
            </a:r>
          </a:p>
          <a:p>
            <a:pPr marL="0" indent="0">
              <a:buNone/>
            </a:pPr>
            <a:r>
              <a:rPr lang="pl-PL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https://en.wikipedia.org/wiki/Scrum_(software_development)</a:t>
            </a:r>
          </a:p>
          <a:p>
            <a:pPr marL="0" indent="0">
              <a:buNone/>
            </a:pPr>
            <a:r>
              <a:rPr lang="pl-PL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https://primotly.com/pl/article/nowoczesne-metodyki-tworzenia-oprogramowania</a:t>
            </a:r>
          </a:p>
          <a:p>
            <a:pPr marL="0" indent="0">
              <a:buNone/>
            </a:pPr>
            <a:r>
              <a:rPr lang="pl-PL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https://codegym.cc/pl/groups/posts/pl.185.metodyki-tworzenia-oprogramowania</a:t>
            </a:r>
          </a:p>
          <a:p>
            <a:pPr marL="0" indent="0">
              <a:buNone/>
            </a:pPr>
            <a:r>
              <a:rPr lang="pl-PL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https://strefainzyniera.pl/artykul/965/wyjatki</a:t>
            </a:r>
          </a:p>
          <a:p>
            <a:pPr marL="0" indent="0">
              <a:buNone/>
            </a:pPr>
            <a:r>
              <a:rPr lang="pl-PL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https://mst.mimuw.edu.pl/lecture.php?lecture=poc&amp;part=Ch10</a:t>
            </a:r>
          </a:p>
          <a:p>
            <a:pPr marL="0" indent="0">
              <a:buNone/>
            </a:pPr>
            <a:r>
              <a:rPr lang="pl-PL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https://pl.wikibooks.org/wiki/C%2B%2B/Obsługa_wyjątków#Rzucanie_wyjątku</a:t>
            </a:r>
          </a:p>
          <a:p>
            <a:pPr marL="0" indent="0">
              <a:buNone/>
            </a:pPr>
            <a:r>
              <a:rPr lang="pl-PL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https://cpp0x.pl/kursy/Kurs-C++/Poziom-5/Wyjatki/596</a:t>
            </a:r>
          </a:p>
        </p:txBody>
      </p:sp>
    </p:spTree>
    <p:extLst>
      <p:ext uri="{BB962C8B-B14F-4D97-AF65-F5344CB8AC3E}">
        <p14:creationId xmlns:p14="http://schemas.microsoft.com/office/powerpoint/2010/main" val="944009640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536BD6BD5557EF4CA6526425B8C6A1DB" ma:contentTypeVersion="3" ma:contentTypeDescription="Utwórz nowy dokument." ma:contentTypeScope="" ma:versionID="8c04cf59c32346926557c95cdfc859ce">
  <xsd:schema xmlns:xsd="http://www.w3.org/2001/XMLSchema" xmlns:xs="http://www.w3.org/2001/XMLSchema" xmlns:p="http://schemas.microsoft.com/office/2006/metadata/properties" xmlns:ns2="6f4ad519-54a4-4831-b150-602d719bcc04" targetNamespace="http://schemas.microsoft.com/office/2006/metadata/properties" ma:root="true" ma:fieldsID="0af2f26399e1ba8e44410e8c1f50ed1b" ns2:_="">
    <xsd:import namespace="6f4ad519-54a4-4831-b150-602d719bcc0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4ad519-54a4-4831-b150-602d719bcc0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zawartości"/>
        <xsd:element ref="dc:title" minOccurs="0" maxOccurs="1" ma:index="4" ma:displayName="Tytu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0B4A046-6DB9-4753-9536-47BA4B89E204}"/>
</file>

<file path=customXml/itemProps2.xml><?xml version="1.0" encoding="utf-8"?>
<ds:datastoreItem xmlns:ds="http://schemas.openxmlformats.org/officeDocument/2006/customXml" ds:itemID="{92820B59-F493-48EA-814C-BED3DB99A4D3}"/>
</file>

<file path=customXml/itemProps3.xml><?xml version="1.0" encoding="utf-8"?>
<ds:datastoreItem xmlns:ds="http://schemas.openxmlformats.org/officeDocument/2006/customXml" ds:itemID="{82350B23-793E-421E-A479-CA7F671F3BD7}"/>
</file>

<file path=docProps/app.xml><?xml version="1.0" encoding="utf-8"?>
<Properties xmlns="http://schemas.openxmlformats.org/officeDocument/2006/extended-properties" xmlns:vt="http://schemas.openxmlformats.org/officeDocument/2006/docPropsVTypes">
  <TotalTime>390</TotalTime>
  <Words>1667</Words>
  <Application>Microsoft Office PowerPoint</Application>
  <PresentationFormat>Panoramiczny</PresentationFormat>
  <Paragraphs>177</Paragraphs>
  <Slides>27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5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27</vt:i4>
      </vt:variant>
    </vt:vector>
  </HeadingPairs>
  <TitlesOfParts>
    <vt:vector size="33" baseType="lpstr">
      <vt:lpstr>Aptos</vt:lpstr>
      <vt:lpstr>Aptos Display</vt:lpstr>
      <vt:lpstr>Arial</vt:lpstr>
      <vt:lpstr>Cambria Math</vt:lpstr>
      <vt:lpstr>Times New Roman</vt:lpstr>
      <vt:lpstr>Motyw pakietu Office</vt:lpstr>
      <vt:lpstr>Michał Gałęzowski</vt:lpstr>
      <vt:lpstr>Zagadnienie nr. 4  Grupa permutacji (Definicja, realizacja na zbiorze dwuelementowym i trójelementowym, elementy grupy permutacji w postaci macierzowej)</vt:lpstr>
      <vt:lpstr>Czym jest grupa?</vt:lpstr>
      <vt:lpstr>Grupy permutacji</vt:lpstr>
      <vt:lpstr>Prezentacja programu PowerPoint</vt:lpstr>
      <vt:lpstr>Składanie permutacji</vt:lpstr>
      <vt:lpstr>Permutacje na zbiorze dwuelementowym</vt:lpstr>
      <vt:lpstr>Permutacje na zbiorze trójelementowym</vt:lpstr>
      <vt:lpstr>Elementy grupy permutacji w postaci macierzowej</vt:lpstr>
      <vt:lpstr>Zagadnienie nr. 16  Porównanie dwóch wybranych metodyk tworzenia oprogramowania (Opis i porównanie dwóch wybranych spośród następujących metodyk: waterfall, model spiralny, prototypowanie, DDD, TDD, scrum, programowanie ekstremalne)</vt:lpstr>
      <vt:lpstr>Co to jest metodyka wytwarzania oprogramowania</vt:lpstr>
      <vt:lpstr>Waterfall (Model kaskadowy)</vt:lpstr>
      <vt:lpstr>Zalety metodyki Waterfall</vt:lpstr>
      <vt:lpstr>Wady metodyki Waterfall</vt:lpstr>
      <vt:lpstr>Scrum</vt:lpstr>
      <vt:lpstr>Role w Scrumie</vt:lpstr>
      <vt:lpstr>Komunikacja w Scrumie</vt:lpstr>
      <vt:lpstr>Zalety Scrum</vt:lpstr>
      <vt:lpstr>Wady Scrum</vt:lpstr>
      <vt:lpstr>Porównanie metodyk Waterfall i Scrum</vt:lpstr>
      <vt:lpstr>Zagadnienie nr. 28  Wyjątki w programowaniu (pojęcie wyjątku w wybranych językach programowania, rodzaje i hierarchia wyjątków, bloki „try”, „throw”, „catch”)</vt:lpstr>
      <vt:lpstr>Wyjątki w C++</vt:lpstr>
      <vt:lpstr>Rodzaje wyjątków w C++</vt:lpstr>
      <vt:lpstr>Obsługa wyjątków w C++</vt:lpstr>
      <vt:lpstr>Rzucanie wyjątku w C++</vt:lpstr>
      <vt:lpstr>Przykład użycia</vt:lpstr>
      <vt:lpstr>Bibliografia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Michał Gałęzowski</dc:creator>
  <cp:lastModifiedBy>Michał Gałęzowski</cp:lastModifiedBy>
  <cp:revision>47</cp:revision>
  <dcterms:created xsi:type="dcterms:W3CDTF">2025-03-23T15:10:21Z</dcterms:created>
  <dcterms:modified xsi:type="dcterms:W3CDTF">2025-03-24T21:08:06Z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0x010100536BD6BD5557EF4CA6526425B8C6A1DB</vt:lpwstr>
  </property>
</Properties>
</file>