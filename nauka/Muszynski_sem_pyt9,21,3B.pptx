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0F6C4-F5C3-4412-84C6-E5EAFDB302F8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B3B2C-3803-41F5-AF34-A4B61C95A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5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Model warstwowy – Modele definiują komunikację poprzez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internet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Składają się one na warstwy, każda wykonująca swoją funkcję. Dzięki takim strukturom możemy zachować uniwersalny dostęp do informacji, niezależnie od rozwiązania użytego przez producenta sprzętu z którego korzystamy. 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86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Aplikacji – Warstwa najbliższa uczestnikowi, daje dostęp do podstawowych usług sieciowych. Dzięki niej korzystamy z WWW, poczty czy przeglądarki. Używa protokołów takich jak FTP (File Transfer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Protocol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czy http.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Transportu – Odpowiada za dostarczenie danych oraz odpowiednie przekonwertowanie ich tak, aby odpowiednie aplikacje były w stanie je odebrać.  . W niej dodawane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informacje sterujące i numery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portow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aplikacji pozwalające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okreslic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typ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przeslanych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Intenetowa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– Ustalają drogę do urządzenia docelowego, oraz adresuje dane poprzez adresy IP.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Dostępu do sieci – Przekazuje dane poprzez ramki opatrywanie adresem fizycznym urządzenia wysyłającego wiadomość oraz adresem fizycznym rutera, do którego podłączony jest komputer, z którego wysyłamy wiadomość. Przekonwertowuje dane na zera i jedynki.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89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warstwa aplikacji - funkcję są bardzo podobne do tych z modelu TCP/IP, pozwalają użytkownikom końcowym sieci korzystać z aplikacji sieciowych.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warstwa prezentacji- przekazuje do warstwy aplikacji informacje o zastosowanym formacie danych, np. informuje jakie typy plików będą przesyłane, odpowiada ona również za odpowiednie zakodowanie danych na urządzeniu źródłowym i ich dekodowanie na urządzeniu docelowym.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warstwa sesji - zarządzająca sesjami użytkowników korzystających np. ze stron WWW czy komunikacji video.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warstwa transportu - to samo co w modelu TCP/IP.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warstwę sieci - odpowiednik warstwy internetowej modelu TCP/IP czyli znowu bardzo podobne funkcje, takie jak adresowanie i wyznaczanie najlepszej ścieżki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przesyłu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warstwa łącza danych - zadaniem jest kontrola dostępu do medium transmisyjnego, a także adresowanie danych, tym razem jednak w celu przesyłania ich pomiędzy hostami w sieci LAN.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warstwa fizyczna - koduje dane do postaci czystych bitów (zer i jedynek) i przesyła je poprzez medium transmisyjne do odpowiednich urządzeń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5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 tym systemie drogę przez te warstwy nazywamy enkapsulacja i dekapsulacja. Enkapsulacją nazywamy proces przechodzenia danych od wysyłającego. Podczas przejść dodawane są informacje sterujące (nagłówki) związane z działającym protokołem. Dekapsulacja to proces odwrotny do enkapsulacji. Działa na urządzeniu odbiorcy, i polega na zdejmowaniu nagłówków.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Obydwa modele funkcjonują podobnie, natomiast model ISO rozbija warstwy aplikacji i dostępu do sieci na kilka warstw, funkcjonuje jako standard referencyjny do projektowania sieci komputerowych. Model TCP natomiast jest powszechnie używany na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codzien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37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Przerwanie to sygnał wysyłany do procesora, powodujący zatrzymanie i zapisanie aktualnego stanu wykonywanego programu, i przejście do innej instrukcji. Po wykonaniu zadania związanego z przerwaniem, może on powrócić do wcześniejszego programu.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Zapisywanie stanu programów jest wykonywane przez stos. Stos, kiedy przychodzi przerwanie, zachowuje adres instrukcji, zawartość rejestrów i flagi.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Przerwania klasyfikujemy na sprzętowe, które dzielimy na zewnętrzne i wewnętrzne, i programowe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83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Przerwania sprzętowe zewnętrzne – pochodzą z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urzadzen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zewnętrznych,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sluza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komunikacji miedzy nimi a komputerem.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Przerwania sprzętowe wewnętrzne (nazywane wyjątkami) - to specjalny rodzaj przerwania generowanego przez procesor, zwykle w odpowiedzi na błąd lub nietypową sytuację w czasie wykonywania programu. Obsługuje go system operacyjny podobnie jak zwykłe przerwanie, choć wyjątki mogą mieć inny priorytet.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Typowe sytuacje wywołujące wyjątek to:</a:t>
            </a:r>
            <a:b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– dzielenie przez zero,</a:t>
            </a:r>
            <a:b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– naruszenie ochrony pamięci,</a:t>
            </a:r>
            <a:b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– dostęp do nieistniejących zasobów,</a:t>
            </a:r>
            <a:b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– próba użycia nieprawidłowego rozkazu,</a:t>
            </a:r>
            <a:b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– odwołanie do strony pamięci przeniesionej do pamięci masowej.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Celem obsługi wyjątku jest najczęściej przywrócenie poprawnego działania programu lub systemu.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Przerwania programowe - Są wywoływane poprzez użycie odpowiednich rozkazów procesora – odpowiadają podprogramom. Przerwania programowe stosuje się w następujących przypadkach: w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odwołaniach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funkcji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BIOSu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w żądaniach dostępu do zasobów / funkcji systemu operacyjnego, do komunikacji z aplikacjami uruchamianymi w tle (programy rezydentne).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9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Przerwania dzielimy na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maskowalne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niemaskowalne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Przerwania mniej ważne nazywamy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maskowalnymi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natomiast ważniejsze określamy jako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niemaskowalne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Procesor traktuje przerwanie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niemaskowalne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jako priorytet, więc każde przerwanie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maskowalne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zostaje zignorowane lub odłożone na później. Przypadki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niemaskowalne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wiążą się często z poważniejszymi awariami, które muszą być natychmiast rozwiązywane. (np. nieusuwalne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bledy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pamieci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21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Przerwania są zarządzane przez kontroler, czyli układ nadający priorytety przerwaniom, funkcjonuje jako pośrednik pomiędzy procesorem i wieloma źródłami, które jednocześnie mogą żądać przerwania. Egzekwowany jest wtedy cykl przerwania, który działa w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nastepujacy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sposób: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Zgloszenie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przerwania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Przejscie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procedury obsługi przerwania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Wykonanie instrukcji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Powrot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programu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 ogólności podprogram obsługi przerwania ma za zadanie wykonanie czynności właściwych dla zapewnienia poprawnego działania systemu w odpowiedzi na sytuację wyjątkową, która spowodowała przerwanie normalnej pracy procesora.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56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Zazwyczaj procedura obsługi przerwania powinna: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Zapamiętać stan rejestrów procesora,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Wykonać niezbędne rozkazy,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Przed zakończeniem odtworzyć stan procesora sprzed wystąpienia przerwania.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Zwiazanym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z tym terminem jest Wektor przerwań, czyli adres w pamięci, pod którym znajduje się procedura obsługi przerwania. Procesor po otrzymaniu przerwania skacze do tego adresu.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05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czyli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intergrated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circuit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jest szeregową, dwukierunkowa magistrala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sluzaca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przesylania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 wewnątrz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urzadzen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Działa jako układ master-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gdzie masterem jest mikrokontroler,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– ekspandery, czujniki, pamięci itp. Każde z tych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urzadzen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posiada indywidualny adres. I2C wykorzystuje dwie dwukierunkowe linie: SDA (linia danych) oraz SCL (linia zegara).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Sygnalem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rozpoczęcia transmisji jest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opadajaca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linia SDA, a SCL w stanie wysokim. Wtedy można rozpocząć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przesył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danych. Podczas procesu zachowywane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nastepujace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reguly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zmiana stanu SDA może nastąpić jedynie gdy SCL zachowuje stan niski, odczytywanie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sda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przez odbiornik wymaga stanu wysokiego SCL.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Przesylanie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 postaci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bitow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wykonywane jest w kolejności od najstarszego i najważniejszego do najmłodszego i najmniej znaczącego bitu. Pierwszy bajt zawiera adres urządzenia podrzędnego i kierunek transmisji (0 – zapis danych z master do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1 – odczytane ze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master).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Przesył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 zakończony jest sygnałem STOP, czyli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narastajaca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linia SDA, gdy SCL jest w stanie wysokim.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85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RS232, realizujący transmisję szeregowa, opracowano w 1962 r, natomiast w 1986 r standardem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stala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się jego najbardziej popularna wersja rs232c. 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Sluzy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szeregowej wymiany danych miedzy urządzeniami określanymi jako DTE (Data Terminal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Equipment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i DCE(Data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Communication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Equipment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), (DCE – urządzenie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zewnetrzne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). RS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standardaryzuje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poziomy napiec, parametry mechaniczne i logiczne. Do komunikacji używamy poziomów logicznych, gdzie stan wysoki (1) działa na przedziale -3 do -25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Voltow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a stan niski (0) od 3 do 25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voltow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Gdy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lacze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jest nieaktywne, utrzymywane jest na poziomie wysokim.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Sygnaly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nadawane możemy podzielić na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sygnaly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danych,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sygnaly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sterujące 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sygnaly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kontrolne. Podstawowa komunikacja wymaga jedynie polaczenia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liń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TxD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RxD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07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Uniwersalna magistrala szeregowa, wyróżniająca się duża uniwersalnością w obsługiwanych urządzeniach peryferyjnych.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Dzieki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temu urządzenia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automatycznie wykrywane i rozpoznawane, oraz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 stanie odpowiednio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przesylac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dane lub być zasilane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14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Wyróżniamy 3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glowne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typy: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A,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 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A – najpowszechniejszy typ,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wspolczesnie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używany w większości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urzadzen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peryferyjnych.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Obsluguje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standardy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od 2.0 do 3.2.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B – Stosowany w urządzeniach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glownie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biurowych, wymagających wyższych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predkosci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przesylania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C – najnowszy typ, zaprojektowany z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mysla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 urządzeniach przenośnych.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Osiaga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największa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predkosc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transferu danych, dzięki obsłudze systemu USB 4.0.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Istnieja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również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podwarianty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mini i micro USB, stworzone przede wszystkim do komunikacji z urządzeniami mobilnymi.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one natomiast wypierane przez USB C.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 każdej odmianie zawsze znajdziemy 4 przewody –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przewod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uziemienia,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wysylania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odbierania danych i napięcia.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66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podlaczeniu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przewodu nadaje się mu adres, a później sprawdza w jaki sposób urządzenie chce się porozumieć.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Rozrozniamy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4 tryby: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Izochroniczny –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Ciagly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szybki i jednokierunkowy przekaz. Wykorzystywany tam, gdzie potrzebny jest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staly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przepływ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pakietow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np. kamery,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glosniki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Sterujacy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–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sluzy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wydawania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polecen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urządzeniom (adresacja).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Przerwaniowe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– dla urządzeń wymagających szybkiej reakcji, ale przesyłających mało danych. (mysz, klawiatura)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Masowy – wykorzystywany podczas obsługi danych o dużej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objetosci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(pendrive, drukarka)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8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zaleznosci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od rodzaju USB, każdy z nich może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obslugiwac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rozne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standardy.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Rorzorniamy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5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glownych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standardow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1.1 – najstarszy (1998), i najwolniejszy - zaledwie 12Mbps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2.0 – pracuje w systemie half-duplex (dane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przesylane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tylko w jedna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strone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 tym samym czasie). Zapewnia transfer na poziomie 480Mbps.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3.0 – kompatybilny z 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2.0, korzysta z magistrali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superspeed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zapewniajaca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4,8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Gbps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3.1 – znany jako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superspeed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+,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zapewnil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wzrot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szybkości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az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do 10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Gbps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4 – zaprezentowany w 2019, skierowany wyłącznie do USB C, pozwala na przepływ 40Gbps.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57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wydajny interfejs szeregowy do połączeń z układami peryferyjnym o architekturze master –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Wykorzystuje synchroniczny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protokol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komunikacji, wiec dane są przesyłane w postaci bloków lub ramek, a oba urządzenia są synchronizowane za pomocą zegara.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Dzieki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obsłudze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full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duplex, możliwa jest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jednoczsna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dwukierunkowa komunikacja. Na SPI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skladaja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się cztery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glowne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linie sygnałowe: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MOSI (Master Out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In) – przesyła dane z głównego na urządzenia niewolników, służąc jako główny kanał do wysyłania poleceń i danych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MISO (Master in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Out) - przenosi odpowiedzi i dane z niewolnika z powrotem do mistrza, wypełniając pętlę komunikacyjną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SCK (Serial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Clock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- Zapewnia sygnał taktowania do synchronizacji transferów danych między urządzeniami głównymi i niewolnikami, zapewniając integralność danych podczas operacji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lub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SS (chip/slave select) -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wybór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układu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slave.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Taki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uklad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eliminuje potrzebę złożonego systemu adresowania, ponieważ Master bezpośrednio wybiera, który niewolnik komunikuje się za pomocą poszczególnych linii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SS.Architektura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ta obsługuje skalowalność w liczbie niewolników, ograniczona jedynie przez zdolność magistra do skutecznego zarządzania wieloma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sygnałami.Projekt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SPI dla komunikacji krótkiego zasięgu pozwala obsługiwać wiele urządzeń, ale praktyczny limit węzłów niewolników jest podyktowany integralnością sygnału i pojemność wyjściową mastera .To sprawia, że </a:t>
            </a:r>
            <a:r>
              <a:rPr lang="pl-PL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​​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SPI jest odpowiedni do r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óż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nych aplikacji, cho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ć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ma ograniczenia w rozszerzeniach systemowych na du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żą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skal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ę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34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1-Wire jest rodzajem interfejsu komunikacyjnego pomiędzy dwoma (lub więcej) urządzeniami, realizowanym przy użyciu zaledwie jednej linii do transmisji danych. Jest stosunkowo wolny (16kbps), natomiast tańszy. Transmisja w magistrali 1-Wire rozpoczyna się od impulsu resetującego, gdzie master zwiera linię danych do masy na 480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s. Po nim każde urządzenie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potwierdza swoją obecność impulsem obecności trwającym 60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s. Przesłanie jedynki polega na krótkim impulsie niskim (1–15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s), a zera – na impulsie niskim trwającym 60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s. Odczyt danych przez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odbywa się ok. 30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 po zboczu narastającym impulsu. Długość impulsów zapewnia prawidłową synchronizację i dekodowanie sygnału przez urządzenia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Odbiernie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danych przez mastera natomiast działa </a:t>
            </a:r>
            <a:r>
              <a:rPr lang="pl-PL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nastepujaco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master wysyła niski impuls startu (od 1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 do 15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s), po czym wraca do stanu wysokiego na linii danych. Jeśli </a:t>
            </a:r>
            <a:r>
              <a:rPr lang="pl-PL" sz="1800" i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wysyła logiczną jedynkę – nie robi nic, pozostawiając linię w stanie wysokim. Jeśli </a:t>
            </a:r>
            <a:r>
              <a:rPr lang="pl-PL" sz="1800" i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slave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wysyła zero, wówczas zwiera linię danych do masy na 60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μ</a:t>
            </a:r>
            <a:r>
              <a:rPr lang="pl-P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s.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przesłaniu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8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bitów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następuje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wysłanie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komendy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27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B3B2C-3803-41F5-AF34-A4B61C95AC2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03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433F35-47EC-4E88-8FF4-AE7BC6E09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87997B8-9810-45ED-FFE7-E73B87D6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ABEB1BA-90A0-E709-525B-C0C87CAA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DC2047-5CAC-EDB2-9F2D-F5EE8968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5E6333-4B9E-423F-4695-03BF5607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09638A-9825-F829-B42B-CDC1347F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4632F5-C8DA-E709-64BD-29A265AFE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888EE02-D0AA-FE0A-7410-BE51E983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22BCF4F-D613-87A8-35A7-65962728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1722D63-DD64-1AC3-ECF7-65614743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6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F32D79-66DA-B7C3-C878-619E3D6C0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C4AB5A3-60BE-7788-8BE4-D54E14585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55B5282-0D1B-A6A7-08F7-E3753916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6A68A32-0050-5BF9-A5C2-D21C417F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FA412D8-0B54-895F-E0A9-68D1F86A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7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B93C67-8283-E548-C1F1-FB76F1226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5A10920-B53B-7D8D-F266-46DB58B57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505835A-11B3-D016-8E46-685BECA2A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70B144A-C3BC-07CE-D81C-A0F93D0D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034CBA4-D767-B545-EE2D-7FA7AC58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AE4EFFA-78E5-577B-452F-5DFE3DE4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6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016993-4819-198E-4E0B-57A24EA9E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29A85B0-739B-7F83-1F77-098093AFE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577E532-E2FA-2BAF-1EEE-CAD0B3C38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EAD10F5-3D70-01DE-794C-7BCA5D99E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E9D33B4-6911-0F6A-4108-E2CB643B8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569DF04-3941-2F23-35D0-352128C60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7B78B80-9448-BAD5-C47D-7C930B0D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618EBCA-F515-1C87-2C1D-777F82DF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1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049C0D-A715-325C-48F2-117D4612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5AB7BED8-D841-1954-2FC3-19AC39A0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0EAAFF1-CD96-C43E-15DF-A429D657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FD04555-CBD8-C59A-AD9C-A881A529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7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00892B0-BB5D-6C1C-AF8A-D36FF995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F9FEE81-0507-1689-232C-248AC48C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D0C9A43-12F7-6248-A077-82E313ED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02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D3C705-C8A8-1098-B493-476286B4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90AD486-3618-0743-C0F1-9B93063C2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3C5B1CA-11BA-AC23-2E5E-A204C112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183E5DD-151A-9C54-5F7F-B223EAF1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C43B2FB-CB41-58B3-BC07-90C1DDBB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1415768-0CE9-6924-D02F-D6565BE8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8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36E97B-C09D-C6A9-3D5B-ADC8049C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71EF436-4538-DAAD-8EEB-7A9006167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4D4B2C1-7999-26CF-F07F-4E017ECA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3A9C272-2505-B590-59A0-ED105082B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C869F1C-A405-8F0B-E524-88C434B5B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B94C21B-2FC9-5FE3-5B75-95FDFF18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8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1A7DB9-0794-FA65-879A-5E6C336C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8D265F7-8FA3-D011-6369-68BE94340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6A7173-0EF9-7332-58FB-BE73F983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95F7CD-5EB7-AC36-4C81-3D17D2FF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A92D6A-4AC4-8D54-4711-FE66888C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E3A1D9B-2967-31F7-3A76-A854CC751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C4969BF-82BF-CE92-F3ED-54C8B9C59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BE285D6-2A97-D784-E3BE-C28A79C6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DACF6BB-3701-0236-5B19-A2170084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0F8DF39-0E4A-D2CA-90C7-8D66BB3D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2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A6E0D9C-1DE6-B536-ED0B-E017D75C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F6B286E-C341-57EC-3CE0-581A3F302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98A7BCC-0037-1B77-61AA-32FED8F57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4878B-3098-4C10-95B4-19901988C50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A94BBE4-C393-E674-704B-F34A586FB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78AFD5B-5C8F-0764-1C70-7BC13395B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1D0ED-EE2A-4707-BD56-7729A602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6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pasja-informatyki.pl/sieci-komputerowe/model-tcp-ip-iso-osi/" TargetMode="External"/><Relationship Id="rId3" Type="http://schemas.openxmlformats.org/officeDocument/2006/relationships/hyperlink" Target="https://sebitu.pl/zrozumiec-usb-czyli-o-rodzajach-i-typach-zlaczy-slow-kilka/" TargetMode="External"/><Relationship Id="rId7" Type="http://schemas.openxmlformats.org/officeDocument/2006/relationships/hyperlink" Target="https://www.ariat-tech.pl/blog/what-is-spi-serial-peripheral-interface-explained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oczta.put.poznan.pl/home/adam.gulczynski@put.poznan.pl/Briefcase/materialy/KiK/Wyk%C5%82ad/kik-wyklad-4.pdf" TargetMode="External"/><Relationship Id="rId5" Type="http://schemas.openxmlformats.org/officeDocument/2006/relationships/hyperlink" Target="https://botland.com.pl/blog/magistrala-i2c-co-to-jest-i-do-czego-sluzy/#Sposob-transmisji-danych-i-adresow" TargetMode="External"/><Relationship Id="rId10" Type="http://schemas.openxmlformats.org/officeDocument/2006/relationships/hyperlink" Target="https://ntronic.pl/jak-projektowac-niezawodna-siec-1wire/" TargetMode="External"/><Relationship Id="rId4" Type="http://schemas.openxmlformats.org/officeDocument/2006/relationships/hyperlink" Target="https://botland.com.pl/blog/port-usb-jak-to-dziala/" TargetMode="External"/><Relationship Id="rId9" Type="http://schemas.openxmlformats.org/officeDocument/2006/relationships/hyperlink" Target="https://hector.tu.kielce.pl/przedmioty/ask-wyk/ASK1_wyklad_0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570C79-DA17-24E2-B3CC-EA79BDA5C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Omówienie zagadnień nr. 9,21, 3B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6164CD9-28A5-ECAD-D93E-CD9A60BFF2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Kamil Muszyński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E347550-628B-2815-068A-A62FB5FD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4509"/>
            <a:ext cx="10515600" cy="5082454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9. Modele warstwowe sieci komputerowych</a:t>
            </a: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(Model sieci ISO i TCP/IP, enkapsulacja i dekapsulacja danych, jednostki danych</a:t>
            </a: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 </a:t>
            </a:r>
            <a:r>
              <a:rPr lang="en-U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warstwach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2400" dirty="0"/>
              <a:t>21. 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Rodzaje przerwań i ich zastosowanie</a:t>
            </a: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(Pojęcie przerwania, klasyfikacja przerwań, maskowanie przerwań, kontroler przerwań,</a:t>
            </a: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wektory przerwań, strategie i cykl obsługi przerwania, rola stosu)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2400" dirty="0"/>
              <a:t>3B. 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Charakterystyka wybranego interfejsu komunikacyjnego</a:t>
            </a: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(I2C, RS232, USB, SPI, 1-Wire)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3435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FCA8C3-F325-5B50-B621-400109107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pl-PL" sz="6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9. Modele warstwowe sieci komputerowych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52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8CB4FC7-8748-B0C8-135B-AB5E8A1CB4F6}"/>
              </a:ext>
            </a:extLst>
          </p:cNvPr>
          <p:cNvSpPr txBox="1"/>
          <p:nvPr/>
        </p:nvSpPr>
        <p:spPr>
          <a:xfrm>
            <a:off x="429491" y="443345"/>
            <a:ext cx="1133301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Model warstwowy – Modele definiują komunikację poprzez </a:t>
            </a:r>
            <a:r>
              <a:rPr lang="pl-PL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internet</a:t>
            </a:r>
            <a:r>
              <a:rPr lang="pl-P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Składają się one na warstwy, każda wykonująca swoją funkcję. Dzięki takim strukturom możemy zachować uniwersalny dostęp do informacji, niezależnie od rozwiązania użytego przez producenta sprzętu z którego korzystamy. Określamy 2 modele: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TCP/IP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ISO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83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A3AF3D-1D4D-799C-83B6-F2E55CD4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TCP/IP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3177515-EB52-8EF2-2193-743C1879A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/>
              <a:t>TCP/IP, nazywane modelem protokołów, składa się z 4 warstw:</a:t>
            </a:r>
            <a:endParaRPr lang="en-US" sz="2400" dirty="0"/>
          </a:p>
        </p:txBody>
      </p:sp>
      <p:pic>
        <p:nvPicPr>
          <p:cNvPr id="5" name="Obraz 4" descr="Obraz zawierający tekst, Czcionka, zrzut ekranu,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EC4A7E64-EF26-B9DC-DC82-00881295F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256" y="2371803"/>
            <a:ext cx="3108180" cy="310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89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E29CBF1-C1F5-9132-3F63-B35739B2919C}"/>
              </a:ext>
            </a:extLst>
          </p:cNvPr>
          <p:cNvSpPr txBox="1"/>
          <p:nvPr/>
        </p:nvSpPr>
        <p:spPr>
          <a:xfrm>
            <a:off x="997527" y="720436"/>
            <a:ext cx="10501746" cy="5246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Warstwy spełniają następujące zadania: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Aplikacji – Warstwa najbliższa uczestnikowi, daje dostęp do podstawowych usług sieciowych. Dzięki niej korzystamy z WWW, poczty czy przeglądarki. Używa protokołów takich jak FTP (File Transfer </a:t>
            </a:r>
            <a:r>
              <a:rPr lang="pl-PL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Protocol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czy HTTP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Transportu – Odpowiada za dostarczenie danych oraz odpowiednie przekonwertowanie ich tak, aby odpowiednie aplikacje były w stanie je odebrać.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Internetowa – Ustalają drogę do urządzenia docelowego, oraz adresuje dane poprzez adresy IP.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Dostępu do sieci – Przekazuje i adresuje dane poprzez połącznie między urządzeniami sieciowymi.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30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D9F7CF-DE2A-7900-4F63-F5B97AEC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ISO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215D9-EE76-BDD0-7C7E-501A7F2EA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ISO, </a:t>
            </a:r>
            <a:r>
              <a:rPr lang="pl-PL" sz="2800" dirty="0"/>
              <a:t>nazywane modelem odniesienia, składa się z 7 warstw:</a:t>
            </a:r>
            <a:endParaRPr lang="en-US" dirty="0"/>
          </a:p>
        </p:txBody>
      </p:sp>
      <p:pic>
        <p:nvPicPr>
          <p:cNvPr id="5" name="Obraz 4" descr="Obraz zawierający tekst, Czcionka, zrzut ekranu,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FF7FCF9-090B-4FCC-2F60-9FC161007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074" y="2292350"/>
            <a:ext cx="2835852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4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8640D1-3ED5-4EC5-E835-7E634DC97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7927"/>
            <a:ext cx="10515600" cy="5789036"/>
          </a:xfrm>
        </p:spPr>
        <p:txBody>
          <a:bodyPr/>
          <a:lstStyle/>
          <a:p>
            <a:pPr marL="0" indent="0">
              <a:buNone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Warstwy spełniają następujące zadania: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Aplikacji – Działa tak samo jak TCP, pozwala użytkownikowi korzystać z aplikacji sieciowych.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Prezentacji – </a:t>
            </a:r>
            <a:r>
              <a:rPr lang="pl-PL" sz="2400" dirty="0"/>
              <a:t>Odpowiada za formatowanie, szyfrowanie i kompresję danych, aby mogły być poprawnie odczytane na różnych systemach.</a:t>
            </a:r>
            <a:endParaRPr lang="pl-PL" sz="24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Sesji - </a:t>
            </a:r>
            <a:r>
              <a:rPr lang="pl-PL" sz="2400" dirty="0"/>
              <a:t>Utrzymuje i zarządza sesjami komunikacyjnymi między urządzeniami. Synchronizuje połączenia i zarządza nimi.</a:t>
            </a:r>
            <a:endParaRPr lang="pl-PL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Transportu – Tak jak TCP, </a:t>
            </a:r>
            <a:r>
              <a:rPr lang="pl-PL" sz="2400" dirty="0"/>
              <a:t>segmentacja</a:t>
            </a:r>
            <a:r>
              <a:rPr lang="en-US" sz="2400" dirty="0"/>
              <a:t>, </a:t>
            </a:r>
            <a:r>
              <a:rPr lang="pl-PL" sz="2400" dirty="0"/>
              <a:t>kontrola błędów, itp.</a:t>
            </a:r>
            <a:endParaRPr lang="pl-PL" sz="24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Sieci – Wyznacza trasę, adresuje i zapewnia sprawną łączność między punktami.</a:t>
            </a:r>
          </a:p>
          <a:p>
            <a:pPr marL="457200" indent="-457200">
              <a:buFont typeface="+mj-lt"/>
              <a:buAutoNum type="arabicPeriod"/>
            </a:pP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Łącza danych - </a:t>
            </a:r>
            <a:r>
              <a:rPr lang="pl-PL" sz="2400" dirty="0"/>
              <a:t>Zajmuje się bezpośrednim przesyłaniem ramek danych między sąsiadującymi urządzeniami oraz detekcją błędów transmisji</a:t>
            </a:r>
            <a:endParaRPr lang="pl-PL" sz="24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l-PL" sz="24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Fizycznych - </a:t>
            </a:r>
            <a:r>
              <a:rPr lang="pl-PL" sz="2400" dirty="0"/>
              <a:t>koduje dane do postaci czystych bitów (zer i jedynek) i przesyła je poprzez medium transmisyjne do odpowiednich urządzeń.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979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1AD583-372A-30A0-077A-AC7E3539B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Enkapsulacja/Dekapsulacja danych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CD1E3B-C64F-B5CA-1E08-76B6A37CA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Enkapsulacją nazywamy proces przechodzenia danych przez warstwy. Podczas przejść dodawane są informacje sterujące (nagłówki) związane z działającym protokołem.</a:t>
            </a:r>
          </a:p>
          <a:p>
            <a:r>
              <a:rPr lang="pl-PL" dirty="0"/>
              <a:t>Dekapsulacja to proces odwrotny do enkapsulacji. Działa na urządzeniu odbiorcy, i polega na zdejmowaniu nagłówków.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792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D38A9756-A364-CD97-027A-9E5B14A72AE5}"/>
              </a:ext>
            </a:extLst>
          </p:cNvPr>
          <p:cNvSpPr txBox="1"/>
          <p:nvPr/>
        </p:nvSpPr>
        <p:spPr>
          <a:xfrm>
            <a:off x="561109" y="2299855"/>
            <a:ext cx="110697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0" dirty="0"/>
              <a:t>21. </a:t>
            </a:r>
            <a:r>
              <a:rPr lang="pl-PL" sz="6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Rodzaje przerwań i ich zastosowanie</a:t>
            </a:r>
            <a:r>
              <a:rPr lang="pl-PL" sz="60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743845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E0E34F-BB49-5122-5AD1-D4BCED4F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1164"/>
            <a:ext cx="10515600" cy="5525799"/>
          </a:xfrm>
        </p:spPr>
        <p:txBody>
          <a:bodyPr/>
          <a:lstStyle/>
          <a:p>
            <a:r>
              <a:rPr lang="pl-PL" dirty="0"/>
              <a:t>Przerwanie to sygnał wysyłany do procesora, powodujący zatrzymanie i zapisanie aktualnego stanu wykonywanego programu, i przejście do innej instrukcji. Po wykonaniu zadania związanego z przerwaniem, może on powrócić do wcześniejszego programu.</a:t>
            </a:r>
          </a:p>
          <a:p>
            <a:r>
              <a:rPr lang="pl-PL" dirty="0"/>
              <a:t>Przerwania dzielimy na dwie grupy: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Sprzętowe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dirty="0"/>
              <a:t>Zewnętrzne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dirty="0"/>
              <a:t>Wewnętrzne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Programowe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35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3D48AB2-79B7-7FD5-F0A2-A31094095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364"/>
            <a:ext cx="10515600" cy="5830599"/>
          </a:xfrm>
        </p:spPr>
        <p:txBody>
          <a:bodyPr/>
          <a:lstStyle/>
          <a:p>
            <a:r>
              <a:rPr lang="pl-PL" dirty="0"/>
              <a:t>Przerwanie sprzętowe: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Zewnętrzne – Służą do komunikacji z peryferiami (klawiatura, dyski)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Wewnętrzne (wyjątki) – Są inicjowane przez system. Obsługują sytuacje wyjątkowe, takie jak błędy, przepełnienia.</a:t>
            </a:r>
          </a:p>
          <a:p>
            <a:r>
              <a:rPr lang="pl-PL" dirty="0"/>
              <a:t>Przerwania programowe: </a:t>
            </a:r>
          </a:p>
          <a:p>
            <a:r>
              <a:rPr lang="pl-PL" dirty="0"/>
              <a:t>Wywoływane przez instrukcje w kodzie, pozwalają na komunikację z systemem, np. odwołania do </a:t>
            </a:r>
            <a:r>
              <a:rPr lang="pl-PL" dirty="0" err="1"/>
              <a:t>BIOSu</a:t>
            </a:r>
            <a:r>
              <a:rPr lang="pl-PL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97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54516E-8B78-D177-9026-F09FB1D6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Przerwania </a:t>
            </a:r>
            <a:r>
              <a:rPr lang="pl-PL" dirty="0" err="1"/>
              <a:t>maskowalne</a:t>
            </a:r>
            <a:r>
              <a:rPr lang="pl-PL" dirty="0"/>
              <a:t> i </a:t>
            </a:r>
            <a:r>
              <a:rPr lang="pl-PL" dirty="0" err="1"/>
              <a:t>niemaskowalne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760589-0AC6-295D-7BF0-B2B14B831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709"/>
            <a:ext cx="10515600" cy="4625254"/>
          </a:xfrm>
        </p:spPr>
        <p:txBody>
          <a:bodyPr/>
          <a:lstStyle/>
          <a:p>
            <a:r>
              <a:rPr lang="pl-PL" dirty="0"/>
              <a:t>Przerwania mniej ważne nazywamy </a:t>
            </a:r>
            <a:r>
              <a:rPr lang="pl-PL" dirty="0" err="1"/>
              <a:t>maskowalnymi</a:t>
            </a:r>
            <a:r>
              <a:rPr lang="pl-PL" dirty="0"/>
              <a:t>, natomiast ważniejsze określamy jako </a:t>
            </a:r>
            <a:r>
              <a:rPr lang="pl-PL" dirty="0" err="1"/>
              <a:t>niemaskowalne</a:t>
            </a:r>
            <a:r>
              <a:rPr lang="pl-PL" dirty="0"/>
              <a:t>. Procesor traktuje przerwanie </a:t>
            </a:r>
            <a:r>
              <a:rPr lang="pl-PL" dirty="0" err="1"/>
              <a:t>niemaskowalne</a:t>
            </a:r>
            <a:r>
              <a:rPr lang="pl-PL" dirty="0"/>
              <a:t> jako priorytet, więc każde przerwanie </a:t>
            </a:r>
            <a:r>
              <a:rPr lang="pl-PL" dirty="0" err="1"/>
              <a:t>maskowalne</a:t>
            </a:r>
            <a:r>
              <a:rPr lang="pl-PL" dirty="0"/>
              <a:t> zostaje zignorowane lub odłożone na później. Przypadki </a:t>
            </a:r>
            <a:r>
              <a:rPr lang="pl-PL" dirty="0" err="1"/>
              <a:t>niemaskowalne</a:t>
            </a:r>
            <a:r>
              <a:rPr lang="pl-PL" dirty="0"/>
              <a:t> wiążą się często z poważniejszymi awariami, które muszą być natychmiast rozwiązywane.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0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FB840ED-5543-689D-4ED3-892E3E01C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/>
          <a:lstStyle/>
          <a:p>
            <a:r>
              <a:rPr lang="pl-PL" dirty="0"/>
              <a:t>Kontroler przerwań - układ nadający priorytety przerwaniom, funkcjonuje jako pośrednik pomiędzy procesorem i wieloma źródłami, które jednocześnie mogą żądać przerwania.</a:t>
            </a:r>
          </a:p>
          <a:p>
            <a:r>
              <a:rPr lang="pl-PL" dirty="0"/>
              <a:t>Cykl przerwania: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Zgłoszenie przerwania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Przejście do procedury obsługi przerwania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Wykonanie instrukcji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Powrót do programu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971DF0A-D17F-5013-D870-C36C610873CD}"/>
              </a:ext>
            </a:extLst>
          </p:cNvPr>
          <p:cNvSpPr txBox="1"/>
          <p:nvPr/>
        </p:nvSpPr>
        <p:spPr>
          <a:xfrm>
            <a:off x="526473" y="311705"/>
            <a:ext cx="10252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400" dirty="0"/>
              <a:t>Kontroler przerwań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83681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0D8D93-D9CD-8A8E-4A72-CF80F9E9E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548"/>
          </a:xfrm>
        </p:spPr>
        <p:txBody>
          <a:bodyPr>
            <a:normAutofit fontScale="90000"/>
          </a:bodyPr>
          <a:lstStyle/>
          <a:p>
            <a:r>
              <a:rPr lang="pl-PL" dirty="0"/>
              <a:t>Procedury obsługi przerwań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B09E998-734A-144E-CD0C-9C8610EF4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674"/>
            <a:ext cx="10515600" cy="5193289"/>
          </a:xfrm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Procedura obsługi przerwania powinna: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Zapamiętać stan rejestrów procesora,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Wykonać niezbędne rozkazy,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Przed zakończeniem odtworzyć stan procesora sprzed wystąpienia przerwania.</a:t>
            </a:r>
            <a:endParaRPr lang="pl-PL" dirty="0"/>
          </a:p>
          <a:p>
            <a:r>
              <a:rPr lang="pl-PL" dirty="0"/>
              <a:t>Wektor przerwań - adres w pamięci, pod którym znajduje się procedura obsługi przerwania. Procesor po otrzymaniu przerwania skacze do tego adresu.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34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CB0C636-D175-EB86-F1BE-CFE533AF8869}"/>
              </a:ext>
            </a:extLst>
          </p:cNvPr>
          <p:cNvSpPr txBox="1"/>
          <p:nvPr/>
        </p:nvSpPr>
        <p:spPr>
          <a:xfrm>
            <a:off x="561109" y="2299855"/>
            <a:ext cx="110697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0" dirty="0"/>
              <a:t>3B. </a:t>
            </a:r>
            <a:r>
              <a:rPr lang="pl-PL" sz="6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Charakterystyka wybranego interfejsu komunikacyjnego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993162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AAC366-4333-A599-595E-781F6F827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pl-PL" dirty="0"/>
              <a:t>I2C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FDE69F-EF8D-EAA3-92AA-3ADC587C6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/>
          <a:lstStyle/>
          <a:p>
            <a:r>
              <a:rPr lang="pl-PL" dirty="0"/>
              <a:t>I2C (Inter-</a:t>
            </a:r>
            <a:r>
              <a:rPr lang="pl-PL" dirty="0" err="1"/>
              <a:t>Integrated</a:t>
            </a:r>
            <a:r>
              <a:rPr lang="pl-PL" dirty="0"/>
              <a:t> </a:t>
            </a:r>
            <a:r>
              <a:rPr lang="pl-PL" dirty="0" err="1"/>
              <a:t>Circuit</a:t>
            </a:r>
            <a:r>
              <a:rPr lang="pl-PL" dirty="0"/>
              <a:t>) to magistrala komunikacyjna wykorzystująca dwie linie: SDA (dane) i SCL (zegar). Umożliwia komunikację wielu urządzeń z jednego mikrokontrolera.</a:t>
            </a:r>
          </a:p>
          <a:p>
            <a:endParaRPr lang="en-US" dirty="0"/>
          </a:p>
        </p:txBody>
      </p:sp>
      <p:pic>
        <p:nvPicPr>
          <p:cNvPr id="5" name="Obraz 4" descr="Obraz zawierający Element obwodu, Komponent elektroniczny, elektronika, Inżynieria elektroniczn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B4D29B8-A31B-8DFE-87F6-1A29EF663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029" y="3201035"/>
            <a:ext cx="585216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43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1B83EC-1F9C-5DA9-D18C-D34F6EFB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8548"/>
          </a:xfrm>
        </p:spPr>
        <p:txBody>
          <a:bodyPr>
            <a:normAutofit fontScale="90000"/>
          </a:bodyPr>
          <a:lstStyle/>
          <a:p>
            <a:r>
              <a:rPr lang="pl-PL" dirty="0"/>
              <a:t>RS232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9BCAA3F-F92F-A640-D592-4D38669BB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/>
          <a:lstStyle/>
          <a:p>
            <a:r>
              <a:rPr lang="pl-PL" dirty="0"/>
              <a:t>RS-232 to standard komunikacji szeregowej służący do przesyłania danych między komputerami a urządzeniami peryferyjnymi, takimi jak modemy czy terminale. Transmisja odbywa się bit po bicie przez dwa główne przewody: </a:t>
            </a:r>
            <a:r>
              <a:rPr lang="pl-PL" dirty="0" err="1"/>
              <a:t>TxD</a:t>
            </a:r>
            <a:r>
              <a:rPr lang="pl-PL" dirty="0"/>
              <a:t> (nadajnik) i </a:t>
            </a:r>
            <a:r>
              <a:rPr lang="pl-PL" dirty="0" err="1"/>
              <a:t>RxD</a:t>
            </a:r>
            <a:r>
              <a:rPr lang="pl-PL" dirty="0"/>
              <a:t> (odbiornik).</a:t>
            </a:r>
            <a:endParaRPr lang="en-US" dirty="0"/>
          </a:p>
        </p:txBody>
      </p:sp>
      <p:pic>
        <p:nvPicPr>
          <p:cNvPr id="5" name="Obraz 4" descr="Obraz zawierający metal, samochód, srebro, kontrol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433954B-C328-8153-2219-A51AD3151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964" y="3429000"/>
            <a:ext cx="4285673" cy="321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38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3ACB37-18FD-0F45-0CD6-A00F833F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USB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9FA733F-5804-68FD-FBF0-67C0C618F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Uniwersalna magistrala szeregowa, wyróżniająca się duża uniwersalnością w obsługiwanych urządzeniach peryferyjnych. </a:t>
            </a:r>
            <a:r>
              <a:rPr lang="pl-PL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Dzieki</a:t>
            </a:r>
            <a:r>
              <a:rPr lang="pl-PL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temu urządzenia </a:t>
            </a:r>
            <a:r>
              <a:rPr lang="pl-PL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</a:t>
            </a:r>
            <a:r>
              <a:rPr lang="pl-PL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automatycznie wykrywane i rozpoznawane, oraz </a:t>
            </a:r>
            <a:r>
              <a:rPr lang="pl-PL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sa</a:t>
            </a:r>
            <a:r>
              <a:rPr lang="pl-PL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 stanie odpowiednio </a:t>
            </a:r>
            <a:r>
              <a:rPr lang="pl-PL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przesylac</a:t>
            </a:r>
            <a:r>
              <a:rPr lang="pl-PL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dane lub być zasilane.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49820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22CDC8-DA59-6030-0A2F-3868FBEA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4693"/>
          </a:xfrm>
        </p:spPr>
        <p:txBody>
          <a:bodyPr>
            <a:normAutofit fontScale="90000"/>
          </a:bodyPr>
          <a:lstStyle/>
          <a:p>
            <a:r>
              <a:rPr lang="pl-PL" dirty="0"/>
              <a:t>Typy USB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83A963-23E2-8F37-4912-F20A3168B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618"/>
            <a:ext cx="10515600" cy="4902345"/>
          </a:xfrm>
        </p:spPr>
        <p:txBody>
          <a:bodyPr/>
          <a:lstStyle/>
          <a:p>
            <a:r>
              <a:rPr lang="pl-PL" dirty="0"/>
              <a:t>Wyróżniamy 3 główne typy USB: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USB A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USB B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USB C</a:t>
            </a:r>
          </a:p>
          <a:p>
            <a:r>
              <a:rPr lang="pl-PL" dirty="0"/>
              <a:t>Istnieją również </a:t>
            </a:r>
            <a:r>
              <a:rPr lang="pl-PL" dirty="0" err="1"/>
              <a:t>podwarianty</a:t>
            </a:r>
            <a:r>
              <a:rPr lang="pl-PL" dirty="0"/>
              <a:t>: </a:t>
            </a:r>
          </a:p>
          <a:p>
            <a:r>
              <a:rPr lang="pl-PL" dirty="0"/>
              <a:t>micro USB i mini USB</a:t>
            </a:r>
          </a:p>
          <a:p>
            <a:endParaRPr lang="en-US" dirty="0"/>
          </a:p>
        </p:txBody>
      </p:sp>
      <p:pic>
        <p:nvPicPr>
          <p:cNvPr id="5" name="Obraz 4" descr="Obraz zawierający zrzut ekranu, tekst, łącznik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52051EBB-90BF-B67D-069B-1462FC11C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546" y="1274618"/>
            <a:ext cx="5313218" cy="531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06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F0A0CD-3E3F-CB60-2E14-ABFBDD329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073"/>
            <a:ext cx="10515600" cy="5802890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4 tryby porozumienia: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Izochroniczny – Ciągły, szybki i jednokierunkowy przekaz. Wykorzystywany tam, gdzie potrzebny jest stały przepływ pakietów np. kamery, głośniki.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Sterujący – służy do wydawania poleceń urządzeniom (adresacja).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l-PL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Przerwaniowy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– dla urządzeń wymagających szybkiej reakcji, ale przesyłających mało danych. (mysz, klawiatura)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Masowy – wykorzystywany podczas obsługi danych o dużej objętości (pendrive, drukarka)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48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BE5948-F7A8-0733-35E7-121A60417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5 głównych standardów USB: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1.1 – 1998, zaledwie 12Mbps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2.0 – pracuje w systemie half-duplex (dane przesyłane tylko w jedna stronę w tym samym czasie). Zapewnia transfer na poziomie 480Mbps.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3.0 – kompatybilny z  </a:t>
            </a:r>
            <a:r>
              <a:rPr lang="pl-PL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2.0, korzysta z magistrali </a:t>
            </a:r>
            <a:r>
              <a:rPr lang="pl-PL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superspeed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zapewniająca 4,8 </a:t>
            </a:r>
            <a:r>
              <a:rPr lang="pl-PL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Gbps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3.1 – znany jako </a:t>
            </a:r>
            <a:r>
              <a:rPr lang="pl-PL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superspeed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+, zapewnił wzrost szybkości aż do 10 </a:t>
            </a:r>
            <a:r>
              <a:rPr lang="pl-PL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Gbps</a:t>
            </a: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pl-PL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USB 4 – zaprezentowany w 2019, skierowany wyłącznie do USB C, pozwala na przepływ 40Gbps.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449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52A4FB-352E-2990-0E46-B13E570D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074"/>
          </a:xfrm>
        </p:spPr>
        <p:txBody>
          <a:bodyPr/>
          <a:lstStyle/>
          <a:p>
            <a:r>
              <a:rPr lang="pl-PL" dirty="0"/>
              <a:t>SPI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67C5E3-456C-1BBD-E4B8-883985A05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309"/>
            <a:ext cx="10515600" cy="4777654"/>
          </a:xfrm>
        </p:spPr>
        <p:txBody>
          <a:bodyPr/>
          <a:lstStyle/>
          <a:p>
            <a:pPr>
              <a:buNone/>
            </a:pPr>
            <a:r>
              <a:rPr lang="pl-PL" sz="2400" dirty="0"/>
              <a:t>SPI to szybki, synchroniczny protokół komunikacyjny typu master–</a:t>
            </a:r>
            <a:r>
              <a:rPr lang="pl-PL" sz="2400" dirty="0" err="1"/>
              <a:t>slave</a:t>
            </a:r>
            <a:r>
              <a:rPr lang="pl-PL" sz="2400" dirty="0"/>
              <a:t>, umożliwiający </a:t>
            </a:r>
            <a:r>
              <a:rPr lang="pl-PL" sz="2400" dirty="0" err="1"/>
              <a:t>pełnodupleksową</a:t>
            </a:r>
            <a:r>
              <a:rPr lang="pl-PL" sz="2400" dirty="0"/>
              <a:t> (jednoczesną dwukierunkową) wymianę danych. Komunikacja odbywa się blokowo, a synchronizacja między urządzeniami zapewniana jest przez sygnał zegarowy (SCK).</a:t>
            </a:r>
            <a:br>
              <a:rPr lang="pl-PL" sz="2400" dirty="0"/>
            </a:br>
            <a:r>
              <a:rPr lang="pl-PL" sz="2400" dirty="0"/>
              <a:t>W skład magistrali SPI wchodzą 4 podstawowe linie: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400" dirty="0"/>
              <a:t>MOSI – dane z mastera do </a:t>
            </a:r>
            <a:r>
              <a:rPr lang="pl-PL" sz="2400" dirty="0" err="1"/>
              <a:t>slave</a:t>
            </a:r>
            <a:r>
              <a:rPr lang="pl-PL" sz="2400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400" dirty="0"/>
              <a:t>MISO – dane ze </a:t>
            </a:r>
            <a:r>
              <a:rPr lang="pl-PL" sz="2400" dirty="0" err="1"/>
              <a:t>slave</a:t>
            </a:r>
            <a:r>
              <a:rPr lang="pl-PL" sz="2400" dirty="0"/>
              <a:t> do mastera,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400" dirty="0"/>
              <a:t>SCK – zegar </a:t>
            </a:r>
            <a:r>
              <a:rPr lang="pl-PL" sz="2400" dirty="0" err="1"/>
              <a:t>przesyłu</a:t>
            </a:r>
            <a:r>
              <a:rPr lang="pl-PL" sz="2400" dirty="0"/>
              <a:t> danych,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400" dirty="0"/>
              <a:t>SS</a:t>
            </a:r>
            <a:r>
              <a:rPr lang="pl-PL" sz="2400" b="1" dirty="0"/>
              <a:t>/</a:t>
            </a:r>
            <a:r>
              <a:rPr lang="pl-PL" sz="2400" dirty="0"/>
              <a:t>CS – wybór urządzenia </a:t>
            </a:r>
            <a:r>
              <a:rPr lang="pl-PL" sz="2400" dirty="0" err="1"/>
              <a:t>slave</a:t>
            </a:r>
            <a:r>
              <a:rPr lang="pl-PL" sz="2400" dirty="0"/>
              <a:t> przez mastera.</a:t>
            </a:r>
          </a:p>
        </p:txBody>
      </p:sp>
    </p:spTree>
    <p:extLst>
      <p:ext uri="{BB962C8B-B14F-4D97-AF65-F5344CB8AC3E}">
        <p14:creationId xmlns:p14="http://schemas.microsoft.com/office/powerpoint/2010/main" val="3799689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DC88EF-A02A-7082-29BD-97EC80C5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802"/>
          </a:xfrm>
        </p:spPr>
        <p:txBody>
          <a:bodyPr/>
          <a:lstStyle/>
          <a:p>
            <a:r>
              <a:rPr lang="pl-PL" dirty="0"/>
              <a:t>1-Wire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039151-A5C1-5200-A484-12BFE278C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928"/>
            <a:ext cx="10515600" cy="5027035"/>
          </a:xfrm>
        </p:spPr>
        <p:txBody>
          <a:bodyPr/>
          <a:lstStyle/>
          <a:p>
            <a:r>
              <a:rPr lang="pl-PL" dirty="0"/>
              <a:t>1-Wire to tani interfejs komunikacyjny umożliwiający połączenie wielu urządzeń za pomocą jednej linii danych plus masa. Choć stosunkowo wolny (16 </a:t>
            </a:r>
            <a:r>
              <a:rPr lang="pl-PL" dirty="0" err="1"/>
              <a:t>kbps</a:t>
            </a:r>
            <a:r>
              <a:rPr lang="pl-PL" dirty="0"/>
              <a:t>), ceniony jest za prostotę i niski koszt. pierwotnie zaprojektowany żeby ułatwić komunikację urządzeniom znajdującym się w niewielkiej odległości.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507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3F63CF2-E751-CD79-BE96-EFEAD415BD9C}"/>
              </a:ext>
            </a:extLst>
          </p:cNvPr>
          <p:cNvSpPr txBox="1"/>
          <p:nvPr/>
        </p:nvSpPr>
        <p:spPr>
          <a:xfrm>
            <a:off x="415636" y="277091"/>
            <a:ext cx="11416146" cy="5176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Bibliografia: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https://sebitu.pl/zrozumiec-usb-czyli-o-rodzajach-i-typach-zlaczy-slow-kilka/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4"/>
              </a:rPr>
              <a:t>https://botland.com.pl/blog/port-usb-jak-to-dziala/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5"/>
              </a:rPr>
              <a:t>https://botland.com.pl/blog/magistrala-i2c-co-to-jest-i-do-czego-sluzy/#Sposob-transmisji-danych-i-adresow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wikipedia.org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6"/>
              </a:rPr>
              <a:t>https://poczta.put.poznan.pl/home/adam.gulczynski@put.poznan.pl/Briefcase/materialy/KiK/Wyk%C5%82ad/kik-wyklad-4.pdf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7"/>
              </a:rPr>
              <a:t>https://www.ariat-tech.pl/blog/what-is-spi-serial-peripheral-interface-explained.html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l-PL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8"/>
              </a:rPr>
              <a:t>https://pasja-informatyki.pl/sieci-komputerowe/model-tcp-ip-iso-osi/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9"/>
              </a:rPr>
              <a:t>https://hector.tu.kielce.pl/przedmioty/ask-wyk/ASK1_wyklad_03.pdf</a:t>
            </a:r>
            <a:endParaRPr lang="pl-P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10"/>
              </a:rPr>
              <a:t>https://ntronic.pl/jak-projektowac-niezawodna-siec-1wire/</a:t>
            </a:r>
            <a:endParaRPr lang="pl-P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https://wp.wfis.uni.lodz.pl/kfcs/mikroprocesory/systemy_wbudowane/?l.en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7452044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6BD6BD5557EF4CA6526425B8C6A1DB" ma:contentTypeVersion="3" ma:contentTypeDescription="Utwórz nowy dokument." ma:contentTypeScope="" ma:versionID="8c04cf59c32346926557c95cdfc859ce">
  <xsd:schema xmlns:xsd="http://www.w3.org/2001/XMLSchema" xmlns:xs="http://www.w3.org/2001/XMLSchema" xmlns:p="http://schemas.microsoft.com/office/2006/metadata/properties" xmlns:ns2="6f4ad519-54a4-4831-b150-602d719bcc04" targetNamespace="http://schemas.microsoft.com/office/2006/metadata/properties" ma:root="true" ma:fieldsID="0af2f26399e1ba8e44410e8c1f50ed1b" ns2:_="">
    <xsd:import namespace="6f4ad519-54a4-4831-b150-602d719bcc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ad519-54a4-4831-b150-602d719bc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C5AC11-ED4A-4471-BCE5-26575AC2DE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A94B12-7A01-4ECA-901B-C410A3F5AF1E}"/>
</file>

<file path=customXml/itemProps3.xml><?xml version="1.0" encoding="utf-8"?>
<ds:datastoreItem xmlns:ds="http://schemas.openxmlformats.org/officeDocument/2006/customXml" ds:itemID="{A516F6D3-8161-42C0-A110-3756D6412167}">
  <ds:schemaRefs>
    <ds:schemaRef ds:uri="http://schemas.microsoft.com/office/2006/metadata/properties"/>
    <ds:schemaRef ds:uri="http://www.w3.org/XML/1998/namespace"/>
    <ds:schemaRef ds:uri="263ea101-8161-47da-91f6-1c8f775d5d32"/>
    <ds:schemaRef ds:uri="b1f8d8b3-e7af-452f-b17a-2ba71085877c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3189</Words>
  <Application>Microsoft Office PowerPoint</Application>
  <PresentationFormat>Panoramiczny</PresentationFormat>
  <Paragraphs>181</Paragraphs>
  <Slides>25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Motyw pakietu Office</vt:lpstr>
      <vt:lpstr>Omówienie zagadnień nr. 9,21, 3B</vt:lpstr>
      <vt:lpstr>Prezentacja programu PowerPoint</vt:lpstr>
      <vt:lpstr>9. Modele warstwowe sieci komputerowych</vt:lpstr>
      <vt:lpstr>Prezentacja programu PowerPoint</vt:lpstr>
      <vt:lpstr>TCP/IP</vt:lpstr>
      <vt:lpstr>Prezentacja programu PowerPoint</vt:lpstr>
      <vt:lpstr>ISO</vt:lpstr>
      <vt:lpstr>Prezentacja programu PowerPoint</vt:lpstr>
      <vt:lpstr>Enkapsulacja/Dekapsulacja danych</vt:lpstr>
      <vt:lpstr>Prezentacja programu PowerPoint</vt:lpstr>
      <vt:lpstr>Prezentacja programu PowerPoint</vt:lpstr>
      <vt:lpstr>Prezentacja programu PowerPoint</vt:lpstr>
      <vt:lpstr>Przerwania maskowalne i niemaskowalne</vt:lpstr>
      <vt:lpstr>Prezentacja programu PowerPoint</vt:lpstr>
      <vt:lpstr>Procedury obsługi przerwań</vt:lpstr>
      <vt:lpstr>Prezentacja programu PowerPoint</vt:lpstr>
      <vt:lpstr>I2C</vt:lpstr>
      <vt:lpstr>RS232</vt:lpstr>
      <vt:lpstr>USB</vt:lpstr>
      <vt:lpstr>Typy USB</vt:lpstr>
      <vt:lpstr>Prezentacja programu PowerPoint</vt:lpstr>
      <vt:lpstr>Prezentacja programu PowerPoint</vt:lpstr>
      <vt:lpstr>SPI</vt:lpstr>
      <vt:lpstr>1-Wire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Muszyński</dc:creator>
  <cp:lastModifiedBy>Kamil Muszyński</cp:lastModifiedBy>
  <cp:revision>2</cp:revision>
  <dcterms:created xsi:type="dcterms:W3CDTF">2025-04-27T13:39:32Z</dcterms:created>
  <dcterms:modified xsi:type="dcterms:W3CDTF">2025-05-05T22:17:57Z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0x010100536BD6BD5557EF4CA6526425B8C6A1DB</vt:lpwstr>
  </property>
</Properties>
</file>