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7"/>
  </p:notesMasterIdLst>
  <p:sldIdLst>
    <p:sldId id="256" r:id="rId5"/>
    <p:sldId id="286" r:id="rId6"/>
    <p:sldId id="288" r:id="rId7"/>
    <p:sldId id="257" r:id="rId8"/>
    <p:sldId id="259" r:id="rId9"/>
    <p:sldId id="282" r:id="rId10"/>
    <p:sldId id="261" r:id="rId11"/>
    <p:sldId id="260" r:id="rId12"/>
    <p:sldId id="271" r:id="rId13"/>
    <p:sldId id="264" r:id="rId14"/>
    <p:sldId id="263" r:id="rId15"/>
    <p:sldId id="272" r:id="rId16"/>
    <p:sldId id="258" r:id="rId17"/>
    <p:sldId id="290" r:id="rId18"/>
    <p:sldId id="267" r:id="rId19"/>
    <p:sldId id="266" r:id="rId20"/>
    <p:sldId id="269" r:id="rId21"/>
    <p:sldId id="268" r:id="rId22"/>
    <p:sldId id="291" r:id="rId23"/>
    <p:sldId id="270" r:id="rId24"/>
    <p:sldId id="284" r:id="rId25"/>
    <p:sldId id="273" r:id="rId26"/>
    <p:sldId id="28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5" r:id="rId3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F66E3-91C2-4AD4-B4AB-639E0DAB5DFA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A6B1E7-5314-49D3-9428-6DF9DCD31F45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8560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A6B1E7-5314-49D3-9428-6DF9DCD31F45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33505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8AE565-A68E-5EBA-F1BA-9FBE038AD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F6919C4-8C2C-5FC9-AB2C-2D3C6A0149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BB6A581-D45F-5778-5A16-A9F3238E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8964-54A1-4D4A-AB86-0E02CDAD3D5A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1FA9724-070E-4428-9FAD-01A77BCC7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AA4D997-6448-E4FA-205F-EDE0A703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BAC0-5E22-4CDF-B53A-B173E2262A6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90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61B098B-4EF3-D998-2410-C726D3D07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105A5EA-FBE5-A31F-9DE8-0CD850519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21BAAEB-1C0D-0CA5-5D9E-B60EF55C1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8964-54A1-4D4A-AB86-0E02CDAD3D5A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819DE88-0D3D-19AC-0E6E-E43E6D5D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7F2414E-8F45-C4A6-C83D-93FA31C18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BAC0-5E22-4CDF-B53A-B173E2262A6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27642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3760C1-D3D9-9185-C020-987C378EE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6DE25AB-B6E9-3361-5422-CD70AE334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4D29A07-BA6F-D5D9-4B49-AC7C998ED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8964-54A1-4D4A-AB86-0E02CDAD3D5A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FFEB4D-6DF7-E534-F80E-9813F93DE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4F102F2-E0DD-9BFC-700F-D9A6D5D48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BAC0-5E22-4CDF-B53A-B173E2262A6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3623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AD47F6E-B81D-0904-B489-68E67FE14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91801C2-0CDB-7DE5-4B1C-5F88C4FB90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B6701396-AD40-3DDA-0CDA-592ABA6889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935A83D-6F1D-C45C-A33E-C73F6E259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8964-54A1-4D4A-AB86-0E02CDAD3D5A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33E07B4-39F7-F433-08C8-80ED6381D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91DE98E-ED70-30BC-9332-61CBACC8A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BAC0-5E22-4CDF-B53A-B173E2262A6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02838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1F0A35-A31C-F8E4-10B0-7FB505046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EE7A060-A62F-6C7E-93D9-6BB5F97BF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20435FF-BD15-5422-A702-1B7C9AB6D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2AF99B8D-D898-7F77-53B7-EE27CE3F5F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42221F25-4C66-E791-CDDC-40E16A0EBE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4F002407-9775-30DE-66FD-DD2B7D8A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8964-54A1-4D4A-AB86-0E02CDAD3D5A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EFF1F3C-517D-9129-7DA0-97DCD39AE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5C9F3978-649A-412B-8323-FB1E984DE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BAC0-5E22-4CDF-B53A-B173E2262A6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92065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131E81-79DB-BD7D-32A1-3B4D963F6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2C846C00-3B3C-3C4F-3AB0-9CB6131DE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8964-54A1-4D4A-AB86-0E02CDAD3D5A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12CA33D8-94E2-49E3-310B-1B412EE58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7FC80EE9-FEA4-EA94-A7A9-5C920634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BAC0-5E22-4CDF-B53A-B173E2262A6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9253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5DA95328-36FA-CEC6-C8E7-C74C7255C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8964-54A1-4D4A-AB86-0E02CDAD3D5A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E141BCF-D7FA-3CA7-98C3-EEC4C1CDF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5F12E07A-9FCD-3FF2-CB52-B885BB4B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BAC0-5E22-4CDF-B53A-B173E2262A6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5007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2DECD2-6646-1A45-1685-872D54066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7DF062-8F35-2C6A-42A2-D5F270742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A82A8A1-4DED-D934-1A1C-AD2133ECA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E7F4595-332D-796F-19B3-0D691277F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8964-54A1-4D4A-AB86-0E02CDAD3D5A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2829FA6-8F8D-905D-DFCA-23D018020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A3DB15E-0A05-C199-C9D1-F53DD0236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BAC0-5E22-4CDF-B53A-B173E2262A6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5466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102E0AD-2120-CDA1-7F36-B49DF3FC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317F7500-6329-96D5-8AF7-D8050FFDB4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E242C79-30B4-D601-6724-EAC8C518E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BF67138E-0389-FF82-56D7-F836E6D39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8964-54A1-4D4A-AB86-0E02CDAD3D5A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2954CE9-6143-856D-E35B-3DB7FDA14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BE575915-6962-8510-2E46-4080D8A26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BAC0-5E22-4CDF-B53A-B173E2262A6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716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77FF86-1635-3235-ACB8-B91009927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7C6CDBA-B9DD-5848-666F-5FFF216D0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6533115-2B54-334C-4D89-7C1B6D2B4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8964-54A1-4D4A-AB86-0E02CDAD3D5A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9FE0A6-C902-CF6C-C693-C1C54B24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3D70A33-3F2D-3475-6CE2-EB49CE896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BAC0-5E22-4CDF-B53A-B173E2262A6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187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FD7FF57D-8279-EADA-AE22-210BDCAFD7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87FB8CE7-AC4C-101A-67A5-9DB50E05F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505A3F6-E0B2-AB25-698B-BBBA76B62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78964-54A1-4D4A-AB86-0E02CDAD3D5A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9A40002-44B6-EA1F-18B6-E320AE930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592557B-E65A-5FD5-3080-F9CF79050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DBAC0-5E22-4CDF-B53A-B173E2262A6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6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CE31A862-AC47-1531-A623-91EC163FC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A55CAC2-4E3C-350F-7759-117D1881B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D7F99C1-C092-2EE0-7B46-B4C270372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C78964-54A1-4D4A-AB86-0E02CDAD3D5A}" type="datetimeFigureOut">
              <a:rPr lang="pl-PL" smtClean="0"/>
              <a:t>17.03.2025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67F3E59-A5AC-FB38-65A0-9463178815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FC3D719-EA44-9830-2347-3E0CC79279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CDBAC0-5E22-4CDF-B53A-B173E2262A6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95641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esezam.okno.pw.edu.pl/mod/book/view.php?id=38&amp;chapterid=778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ukowiec.org/wiedza/matematyka/twierdzenie-kroneckera-capellego_615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A907451-BC51-A45A-A1FE-DE17514BC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/>
          </a:bodyPr>
          <a:lstStyle/>
          <a:p>
            <a:r>
              <a:rPr lang="pl-PL" dirty="0"/>
              <a:t>Pytania na egzamin inżynierski z informatyki</a:t>
            </a:r>
            <a:br>
              <a:rPr lang="pl-PL" dirty="0"/>
            </a:br>
            <a:r>
              <a:rPr lang="pl-PL" sz="4400" dirty="0"/>
              <a:t>2, 14, 26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CF2F0FF-704B-4B29-BEC7-5D9BD1C154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01654"/>
            <a:ext cx="9144000" cy="1655762"/>
          </a:xfrm>
        </p:spPr>
        <p:txBody>
          <a:bodyPr/>
          <a:lstStyle/>
          <a:p>
            <a:r>
              <a:rPr lang="pl-PL" dirty="0"/>
              <a:t>Martyna Dawidowicz</a:t>
            </a:r>
          </a:p>
        </p:txBody>
      </p:sp>
    </p:spTree>
    <p:extLst>
      <p:ext uri="{BB962C8B-B14F-4D97-AF65-F5344CB8AC3E}">
        <p14:creationId xmlns:p14="http://schemas.microsoft.com/office/powerpoint/2010/main" val="900058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FCDBCB-516F-2000-525D-DCB9CF6A0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Spis treści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7311552-5BD4-1D59-8646-0B85FF6306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endParaRPr lang="pl-PL" b="0" i="0" u="none" strike="noStrike" baseline="0" dirty="0">
              <a:solidFill>
                <a:srgbClr val="000000"/>
              </a:solidFill>
            </a:endParaRPr>
          </a:p>
          <a:p>
            <a:r>
              <a:rPr lang="pl-PL" b="0" i="0" u="none" strike="noStrike" baseline="0" dirty="0">
                <a:solidFill>
                  <a:srgbClr val="000000"/>
                </a:solidFill>
              </a:rPr>
              <a:t>System funkcjonalnie pełny (SFP) –metody projektowania układów kombinacyjnych</a:t>
            </a:r>
          </a:p>
          <a:p>
            <a:r>
              <a:rPr lang="pl-PL" b="0" i="0" u="none" strike="noStrike" baseline="0" dirty="0">
                <a:solidFill>
                  <a:srgbClr val="000000"/>
                </a:solidFill>
              </a:rPr>
              <a:t>Twierdzenie Kroneckera - </a:t>
            </a:r>
            <a:r>
              <a:rPr lang="pl-PL" b="0" i="0" u="none" strike="noStrike" baseline="0" dirty="0" err="1">
                <a:solidFill>
                  <a:srgbClr val="000000"/>
                </a:solidFill>
              </a:rPr>
              <a:t>Capellego</a:t>
            </a:r>
            <a:r>
              <a:rPr lang="pl-PL" b="0" i="0" u="none" strike="noStrike" baseline="0" dirty="0">
                <a:solidFill>
                  <a:srgbClr val="000000"/>
                </a:solidFill>
              </a:rPr>
              <a:t> - rozwiązywanie ogólnych układów równań liniowych w postaci </a:t>
            </a:r>
            <a:r>
              <a:rPr lang="pl-PL" b="0" i="0" u="none" strike="noStrike" baseline="0" dirty="0" err="1">
                <a:solidFill>
                  <a:srgbClr val="000000"/>
                </a:solidFill>
              </a:rPr>
              <a:t>Ax</a:t>
            </a:r>
            <a:r>
              <a:rPr lang="pl-PL" b="0" i="0" u="none" strike="noStrike" baseline="0" dirty="0">
                <a:solidFill>
                  <a:srgbClr val="000000"/>
                </a:solidFill>
              </a:rPr>
              <a:t>=b</a:t>
            </a:r>
          </a:p>
          <a:p>
            <a:r>
              <a:rPr lang="pl-PL" b="0" i="0" u="none" strike="noStrike" baseline="0" dirty="0">
                <a:solidFill>
                  <a:srgbClr val="000000"/>
                </a:solidFill>
              </a:rPr>
              <a:t>Podstawowe polecenia SQL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353648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2284EEA-35DA-393C-136F-93B85D153C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b="0" i="0" u="none" strike="noStrike" baseline="0" dirty="0">
                <a:solidFill>
                  <a:srgbClr val="000000"/>
                </a:solidFill>
              </a:rPr>
              <a:t>System funkcjonalnie pełny (SFP)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58B1AC1-05FB-B08E-017E-B914204C17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834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88E786-07E3-D6CD-5F07-44CFF07E7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Systemy funkcjonalnie pełne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0B4646C-2655-D8B5-9D74-D207E98DA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Zbiór operatorów logicznych, który pozwala zrealizować każdą funkcję logiczną przy użyciu tylko tych operatorów.</a:t>
            </a:r>
          </a:p>
          <a:p>
            <a:r>
              <a:rPr lang="pl-PL" dirty="0"/>
              <a:t>W kontekście </a:t>
            </a:r>
            <a:r>
              <a:rPr lang="pl-PL" b="1" dirty="0"/>
              <a:t>logiki boolowskiej</a:t>
            </a:r>
            <a:r>
              <a:rPr lang="pl-PL" dirty="0"/>
              <a:t> i projektowania układów cyfrowych, </a:t>
            </a:r>
            <a:r>
              <a:rPr lang="pl-PL" b="1" dirty="0"/>
              <a:t>funkcjonalnie pełny zbiór operatorów (spójników)</a:t>
            </a:r>
            <a:r>
              <a:rPr lang="pl-PL" dirty="0"/>
              <a:t> to taki zbiór logicznych operacji (np. AND, OR, NOT), za pomocą którego można skonstruować </a:t>
            </a:r>
            <a:r>
              <a:rPr lang="pl-PL" b="1" dirty="0"/>
              <a:t>dowolną funkcję boolowską</a:t>
            </a:r>
            <a:r>
              <a:rPr lang="pl-P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12786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5A8C2F-9083-F919-19AA-9360E6994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Przykłady SFP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20C5B79-6004-63D4-0565-F2C0101EE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Podstawowy system funkcjonalnie pełny</a:t>
            </a:r>
            <a:br>
              <a:rPr lang="pl-PL" dirty="0"/>
            </a:br>
            <a:r>
              <a:rPr lang="pl-PL" dirty="0"/>
              <a:t>{AND, OR, NOT}</a:t>
            </a:r>
          </a:p>
          <a:p>
            <a:r>
              <a:rPr lang="pl-PL" dirty="0"/>
              <a:t>Inne przykłady:</a:t>
            </a:r>
            <a:br>
              <a:rPr lang="pl-PL" dirty="0"/>
            </a:br>
            <a:r>
              <a:rPr lang="pl-PL" dirty="0"/>
              <a:t>	</a:t>
            </a:r>
            <a:r>
              <a:rPr lang="pl-PL" i="0" dirty="0">
                <a:solidFill>
                  <a:srgbClr val="1D2125"/>
                </a:solidFill>
                <a:effectLst/>
                <a:latin typeface="Source Sans Pro" panose="020F0502020204030204" pitchFamily="34" charset="0"/>
              </a:rPr>
              <a:t>{NOT, OR}</a:t>
            </a:r>
            <a:br>
              <a:rPr lang="pl-PL" dirty="0"/>
            </a:br>
            <a:r>
              <a:rPr lang="pl-PL" dirty="0"/>
              <a:t>	</a:t>
            </a:r>
            <a:r>
              <a:rPr lang="pl-PL" i="0" dirty="0">
                <a:solidFill>
                  <a:srgbClr val="1D2125"/>
                </a:solidFill>
                <a:effectLst/>
                <a:latin typeface="Source Sans Pro" panose="020F0502020204030204" pitchFamily="34" charset="0"/>
              </a:rPr>
              <a:t>{NOT, AND}</a:t>
            </a:r>
            <a:br>
              <a:rPr lang="pl-PL" dirty="0"/>
            </a:br>
            <a:r>
              <a:rPr lang="pl-PL" dirty="0"/>
              <a:t>	</a:t>
            </a:r>
            <a:r>
              <a:rPr lang="pl-PL" i="0" dirty="0">
                <a:solidFill>
                  <a:srgbClr val="1D2125"/>
                </a:solidFill>
                <a:effectLst/>
                <a:latin typeface="Source Sans Pro" panose="020F0502020204030204" pitchFamily="34" charset="0"/>
              </a:rPr>
              <a:t>{NAN</a:t>
            </a:r>
            <a:r>
              <a:rPr lang="pl-PL" dirty="0">
                <a:solidFill>
                  <a:srgbClr val="1D2125"/>
                </a:solidFill>
                <a:latin typeface="Source Sans Pro" panose="020F0502020204030204" pitchFamily="34" charset="0"/>
              </a:rPr>
              <a:t>D</a:t>
            </a:r>
            <a:r>
              <a:rPr lang="pl-PL" i="0" dirty="0">
                <a:solidFill>
                  <a:srgbClr val="1D2125"/>
                </a:solidFill>
                <a:effectLst/>
                <a:latin typeface="Source Sans Pro" panose="020F0502020204030204" pitchFamily="34" charset="0"/>
              </a:rPr>
              <a:t>}</a:t>
            </a:r>
            <a:br>
              <a:rPr lang="pl-PL" dirty="0"/>
            </a:br>
            <a:r>
              <a:rPr lang="pl-PL" dirty="0"/>
              <a:t>	</a:t>
            </a:r>
            <a:r>
              <a:rPr lang="pl-PL" i="0" dirty="0">
                <a:solidFill>
                  <a:srgbClr val="1D2125"/>
                </a:solidFill>
                <a:effectLst/>
                <a:latin typeface="Source Sans Pro" panose="020F0502020204030204" pitchFamily="34" charset="0"/>
              </a:rPr>
              <a:t>{NOR}</a:t>
            </a:r>
            <a:br>
              <a:rPr lang="pl-PL" i="0" dirty="0">
                <a:solidFill>
                  <a:srgbClr val="1D2125"/>
                </a:solidFill>
                <a:effectLst/>
                <a:latin typeface="Source Sans Pro" panose="020F0502020204030204" pitchFamily="34" charset="0"/>
              </a:rPr>
            </a:br>
            <a:r>
              <a:rPr lang="pl-PL" i="0" dirty="0">
                <a:solidFill>
                  <a:srgbClr val="1D2125"/>
                </a:solidFill>
                <a:effectLst/>
                <a:latin typeface="Source Sans Pro" panose="020F0502020204030204" pitchFamily="34" charset="0"/>
              </a:rPr>
              <a:t>	</a:t>
            </a:r>
            <a:r>
              <a:rPr lang="pl-PL" dirty="0"/>
              <a:t>{XOR, AND, 1}</a:t>
            </a:r>
            <a:br>
              <a:rPr lang="pl-PL" dirty="0"/>
            </a:br>
            <a:r>
              <a:rPr lang="pl-PL" dirty="0"/>
              <a:t>	{IMPLIKACJA (→), NOT}</a:t>
            </a:r>
          </a:p>
        </p:txBody>
      </p:sp>
    </p:spTree>
    <p:extLst>
      <p:ext uri="{BB962C8B-B14F-4D97-AF65-F5344CB8AC3E}">
        <p14:creationId xmlns:p14="http://schemas.microsoft.com/office/powerpoint/2010/main" val="1586549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4CBF5E1-6E09-C9E4-3C9C-8AC480FA1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Dlaczego funkcjonalnie pełne zbiory są istotne?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9923CF6-9569-C45A-186B-FC84783DB0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Projektowanie układów cyfrowych</a:t>
            </a:r>
          </a:p>
          <a:p>
            <a:r>
              <a:rPr lang="pl-PL" dirty="0"/>
              <a:t>Minimalizacja zasobów</a:t>
            </a:r>
          </a:p>
          <a:p>
            <a:r>
              <a:rPr lang="pl-PL" dirty="0"/>
              <a:t>Optymalizacja produkcji</a:t>
            </a:r>
          </a:p>
          <a:p>
            <a:r>
              <a:rPr lang="pl-PL" dirty="0"/>
              <a:t>Łatwiejsza analiza i implementacja</a:t>
            </a:r>
          </a:p>
        </p:txBody>
      </p:sp>
    </p:spTree>
    <p:extLst>
      <p:ext uri="{BB962C8B-B14F-4D97-AF65-F5344CB8AC3E}">
        <p14:creationId xmlns:p14="http://schemas.microsoft.com/office/powerpoint/2010/main" val="2417519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82FD6C-90F8-1614-D0AA-04E2221C6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Funkcje przełączające.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07BD38C-CC16-78E3-4A53-19D17B1792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Funkcje przełączające to funkcje matematyczne, które opisują zależność pomiędzy wejściami a wyjściami w </a:t>
            </a:r>
            <a:r>
              <a:rPr lang="pl-PL" b="1" dirty="0"/>
              <a:t>układach logicznych</a:t>
            </a:r>
            <a:r>
              <a:rPr lang="pl-PL" dirty="0"/>
              <a:t>.</a:t>
            </a:r>
          </a:p>
          <a:p>
            <a:r>
              <a:rPr lang="pl-PL" b="1" dirty="0"/>
              <a:t>Pierwsza postać kanoniczna (Sum of Products – SOP)</a:t>
            </a:r>
            <a:r>
              <a:rPr lang="pl-PL" dirty="0"/>
              <a:t> – suma iloczynów </a:t>
            </a:r>
            <a:r>
              <a:rPr lang="pl-PL" dirty="0" err="1"/>
              <a:t>mintermów</a:t>
            </a:r>
            <a:r>
              <a:rPr lang="pl-PL" dirty="0"/>
              <a:t> (w których funkcja przyjmuje wartość 1).</a:t>
            </a:r>
          </a:p>
          <a:p>
            <a:r>
              <a:rPr lang="pl-PL" b="1" dirty="0"/>
              <a:t>Druga postać kanoniczna (Product of </a:t>
            </a:r>
            <a:r>
              <a:rPr lang="pl-PL" b="1" dirty="0" err="1"/>
              <a:t>Sums</a:t>
            </a:r>
            <a:r>
              <a:rPr lang="pl-PL" b="1" dirty="0"/>
              <a:t> – POS)</a:t>
            </a:r>
            <a:r>
              <a:rPr lang="pl-PL" dirty="0"/>
              <a:t> – iloczyn sum </a:t>
            </a:r>
            <a:r>
              <a:rPr lang="pl-PL" dirty="0" err="1"/>
              <a:t>maxtermów</a:t>
            </a:r>
            <a:r>
              <a:rPr lang="pl-PL" dirty="0"/>
              <a:t> (dla wartości 0).</a:t>
            </a:r>
          </a:p>
        </p:txBody>
      </p:sp>
    </p:spTree>
    <p:extLst>
      <p:ext uri="{BB962C8B-B14F-4D97-AF65-F5344CB8AC3E}">
        <p14:creationId xmlns:p14="http://schemas.microsoft.com/office/powerpoint/2010/main" val="25988790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3E11AC0-DC95-FFB6-B35B-50EC43088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Metoda minimalizacji funkcji metodą tablic </a:t>
            </a:r>
            <a:r>
              <a:rPr lang="pl-PL" dirty="0" err="1"/>
              <a:t>Karnaugha</a:t>
            </a:r>
            <a:r>
              <a:rPr lang="pl-PL" dirty="0"/>
              <a:t>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61B5960-498C-055E-DE18-E006F9DC6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Metoda tablicy </a:t>
            </a:r>
            <a:r>
              <a:rPr lang="pl-PL" dirty="0" err="1"/>
              <a:t>Karnaugha</a:t>
            </a:r>
            <a:r>
              <a:rPr lang="pl-PL" dirty="0"/>
              <a:t> należy do najszybszych metod minimalizacji funkcji przełączających dla małej liczby zmiennych, ponieważ wraz ze wzrostem liczby zmiennych wzrasta stopień skomplikowania ich zapisu.</a:t>
            </a:r>
          </a:p>
        </p:txBody>
      </p:sp>
    </p:spTree>
    <p:extLst>
      <p:ext uri="{BB962C8B-B14F-4D97-AF65-F5344CB8AC3E}">
        <p14:creationId xmlns:p14="http://schemas.microsoft.com/office/powerpoint/2010/main" val="495258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1EDAE22-0479-AA6B-CFAE-19D7886E8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Kod Graya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D67E390-20D9-2571-2881-45EAA4C6AB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Kod Graya to system kodowania binarnego, w którym kolejne liczby różnią się dokładnie jednym bitem. Dzięki temu sąsiadujące komórki w mapie </a:t>
            </a:r>
            <a:r>
              <a:rPr lang="pl-PL" dirty="0" err="1"/>
              <a:t>Karnaugha</a:t>
            </a:r>
            <a:r>
              <a:rPr lang="pl-PL" dirty="0"/>
              <a:t> mogą być łatwo grupowane podczas minimalizacji funkcji logicznych.</a:t>
            </a:r>
          </a:p>
          <a:p>
            <a:r>
              <a:rPr lang="pl-PL" dirty="0"/>
              <a:t>To kluczowe, ponieważ upraszczanie funkcji logicznych polega na łączeniu sąsiednich komórek zawierających wartość „1”, które różnią się tylko jednym bitem.</a:t>
            </a:r>
          </a:p>
          <a:p>
            <a:r>
              <a:rPr lang="pl-PL" dirty="0"/>
              <a:t>Bez kodu Graya, sąsiednie komórki mogłyby różnić się więcej niż jednym bitem, co utrudniałoby upraszczanie funkcji.</a:t>
            </a:r>
          </a:p>
        </p:txBody>
      </p:sp>
    </p:spTree>
    <p:extLst>
      <p:ext uri="{BB962C8B-B14F-4D97-AF65-F5344CB8AC3E}">
        <p14:creationId xmlns:p14="http://schemas.microsoft.com/office/powerpoint/2010/main" val="165066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8DD668B-D52D-CDCB-0B17-F6DF32D4B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Prawo sklejania</a:t>
            </a:r>
          </a:p>
        </p:txBody>
      </p:sp>
      <p:sp>
        <p:nvSpPr>
          <p:cNvPr id="7" name="Symbol zastępczy zawartości 6">
            <a:extLst>
              <a:ext uri="{FF2B5EF4-FFF2-40B4-BE49-F238E27FC236}">
                <a16:creationId xmlns:a16="http://schemas.microsoft.com/office/drawing/2014/main" id="{F5F876C7-3F6D-5A2B-239D-D14500296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to jedno z podstawowych praw upraszczania funkcji logicznych. Wykorzystywane jest szczególnie przy minimalizacji funkcji za pomocą map </a:t>
            </a:r>
            <a:r>
              <a:rPr lang="pl-PL" dirty="0" err="1"/>
              <a:t>Karnaugha</a:t>
            </a:r>
            <a:r>
              <a:rPr lang="pl-PL" dirty="0"/>
              <a:t>.</a:t>
            </a:r>
            <a:br>
              <a:rPr lang="pl-PL" dirty="0"/>
            </a:br>
            <a:r>
              <a:rPr lang="pt-BR" dirty="0"/>
              <a:t>A⋅B+A⋅B</a:t>
            </a:r>
            <a:r>
              <a:rPr lang="pl-PL" dirty="0"/>
              <a:t>’</a:t>
            </a:r>
            <a:r>
              <a:rPr lang="pt-BR" dirty="0"/>
              <a:t>=A</a:t>
            </a:r>
            <a:r>
              <a:rPr lang="pl-PL" dirty="0"/>
              <a:t> lub </a:t>
            </a:r>
            <a:r>
              <a:rPr lang="pt-BR" dirty="0"/>
              <a:t>(A+B)⋅(A+B</a:t>
            </a:r>
            <a:r>
              <a:rPr lang="pl-PL" dirty="0"/>
              <a:t>’</a:t>
            </a:r>
            <a:r>
              <a:rPr lang="pt-BR" dirty="0"/>
              <a:t>)=A </a:t>
            </a:r>
            <a:endParaRPr lang="pl-PL" dirty="0"/>
          </a:p>
          <a:p>
            <a:endParaRPr lang="pl-PL" dirty="0"/>
          </a:p>
          <a:p>
            <a:pPr>
              <a:buNone/>
            </a:pPr>
            <a:r>
              <a:rPr lang="pl-PL" dirty="0"/>
              <a:t>W przypadku tablicy </a:t>
            </a:r>
            <a:r>
              <a:rPr lang="pl-PL" dirty="0" err="1"/>
              <a:t>Karnaugha</a:t>
            </a:r>
            <a:r>
              <a:rPr lang="pl-PL" dirty="0"/>
              <a:t>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dirty="0"/>
              <a:t>Dwa sąsiednie </a:t>
            </a:r>
            <a:r>
              <a:rPr lang="pl-PL" dirty="0" err="1"/>
              <a:t>mintermy</a:t>
            </a:r>
            <a:r>
              <a:rPr lang="pl-PL" dirty="0"/>
              <a:t> lub </a:t>
            </a:r>
            <a:r>
              <a:rPr lang="pl-PL" dirty="0" err="1"/>
              <a:t>makstermy</a:t>
            </a:r>
            <a:r>
              <a:rPr lang="pl-PL" dirty="0"/>
              <a:t> różniące się tylko jednym bitem mogą zostać połączone, eliminując tę zmienną.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801537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4BDC51-9E59-F969-97DB-87A6AF50B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dirty="0"/>
              <a:t>Tablice </a:t>
            </a:r>
            <a:r>
              <a:rPr lang="pl-PL" dirty="0" err="1"/>
              <a:t>Karnaugha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4598C90-3D2D-C261-D98C-11B5A2194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l-PL" sz="2000" dirty="0"/>
              <a:t>wiersze i kolumny tablicy </a:t>
            </a:r>
            <a:r>
              <a:rPr lang="pl-PL" sz="2000" dirty="0" err="1"/>
              <a:t>Karnaugha</a:t>
            </a:r>
            <a:r>
              <a:rPr lang="pl-PL" sz="2000" dirty="0"/>
              <a:t> opisane są w kodzie Graya, tzn. każdy kolejny wiersz i kolumna różnią się od siebie o negację jednej zmiennej, </a:t>
            </a:r>
          </a:p>
          <a:p>
            <a:r>
              <a:rPr lang="pl-PL" sz="2000" dirty="0"/>
              <a:t>zakreślając jedynki (zera), tworzy się grupy liczące 2, 4, 8, 16 ... elementów, </a:t>
            </a:r>
          </a:p>
          <a:p>
            <a:r>
              <a:rPr lang="pl-PL" sz="2000" dirty="0"/>
              <a:t>zawsze zakreśla się grupy z największą możliwą ilością jedynek (zer), przy czym należy pamiętać o możliwości sklejenia ze sobą krawędzi równoległych tablicy, </a:t>
            </a:r>
          </a:p>
          <a:p>
            <a:r>
              <a:rPr lang="pl-PL" sz="2000" dirty="0"/>
              <a:t>grupy mogą posiadać części wspólne, </a:t>
            </a:r>
          </a:p>
          <a:p>
            <a:r>
              <a:rPr lang="pl-PL" sz="2000" dirty="0"/>
              <a:t>liczba grup jedynek (zer) odpowiada liczbie składników sumy (iloczynu) poszukiwanej funkcji, </a:t>
            </a:r>
          </a:p>
          <a:p>
            <a:r>
              <a:rPr lang="pl-PL" sz="2000" dirty="0"/>
              <a:t>w przypadku kiedy istnieje możliwość zakreślenia grup na kilka sposobów, arbitralnie wybiera się jeden z nich, </a:t>
            </a:r>
          </a:p>
          <a:p>
            <a:r>
              <a:rPr lang="pl-PL" sz="2000" dirty="0"/>
              <a:t>dana grupa reprezentuje iloczyn (sumę) tych zmiennych, które nie zmieniają swojej wartości, </a:t>
            </a:r>
          </a:p>
          <a:p>
            <a:r>
              <a:rPr lang="pl-PL" sz="2000" dirty="0"/>
              <a:t>w przypadku gdy funkcja przełączająca posiada elementy o wartości nieokreślonej elementy te wpisujemy do tabeli wprowadzając dla nich specjalne oznaczenie np. – a następnie wykorzystujemy lub pomijamy w zależności od potrzeby przy tworzeniu grup (patrz punkt b). </a:t>
            </a:r>
          </a:p>
        </p:txBody>
      </p:sp>
    </p:spTree>
    <p:extLst>
      <p:ext uri="{BB962C8B-B14F-4D97-AF65-F5344CB8AC3E}">
        <p14:creationId xmlns:p14="http://schemas.microsoft.com/office/powerpoint/2010/main" val="3938077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447F52-C846-2651-8BBF-665AD4E6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Tablice </a:t>
            </a:r>
            <a:r>
              <a:rPr lang="pl-PL" dirty="0" err="1"/>
              <a:t>Karnaugha</a:t>
            </a:r>
            <a:r>
              <a:rPr lang="pl-PL" dirty="0"/>
              <a:t>- warunki obojętne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8E8FBE5-55C5-5B53-6837-942F62E3C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To sytuacje, w których dana kombinacja wejść </a:t>
            </a:r>
            <a:r>
              <a:rPr lang="pl-PL" b="1" dirty="0"/>
              <a:t>nigdy nie występuje</a:t>
            </a:r>
            <a:r>
              <a:rPr lang="pl-PL" dirty="0"/>
              <a:t> lub jej wynik </a:t>
            </a:r>
            <a:r>
              <a:rPr lang="pl-PL" b="1" dirty="0"/>
              <a:t>nie wpływa</a:t>
            </a:r>
            <a:r>
              <a:rPr lang="pl-PL" dirty="0"/>
              <a:t> na działanie systemu.</a:t>
            </a:r>
          </a:p>
        </p:txBody>
      </p:sp>
    </p:spTree>
    <p:extLst>
      <p:ext uri="{BB962C8B-B14F-4D97-AF65-F5344CB8AC3E}">
        <p14:creationId xmlns:p14="http://schemas.microsoft.com/office/powerpoint/2010/main" val="5120714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062C0F0-E9DD-F0CC-3034-1E55B494B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Bibliografia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F8CADA-921F-93BA-84BD-17A3F8EB7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Technika cyfrowa Synteza układów kombinacyjnych (I) Wykład dla studentów III roku Informatyki Sławomir Kulesza</a:t>
            </a:r>
          </a:p>
          <a:p>
            <a:r>
              <a:rPr lang="pl-PL" dirty="0">
                <a:hlinkClick r:id="rId2"/>
              </a:rPr>
              <a:t>https://esezam.okno.pw.edu.pl/mod/book/view.php?id=38&amp;chapterid=778</a:t>
            </a:r>
            <a:endParaRPr lang="pl-PL" dirty="0"/>
          </a:p>
          <a:p>
            <a:r>
              <a:rPr lang="pl-PL" dirty="0"/>
              <a:t>Wykład nr 1 Techniki Mikroprocesorowe dr inż. Artur Cichowski</a:t>
            </a:r>
          </a:p>
        </p:txBody>
      </p:sp>
    </p:spTree>
    <p:extLst>
      <p:ext uri="{BB962C8B-B14F-4D97-AF65-F5344CB8AC3E}">
        <p14:creationId xmlns:p14="http://schemas.microsoft.com/office/powerpoint/2010/main" val="2457045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8BF7AD-B202-A6B5-5B03-9C7343F6D6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l-PL" b="0" i="0" u="none" strike="noStrike" baseline="0" dirty="0">
                <a:solidFill>
                  <a:srgbClr val="000000"/>
                </a:solidFill>
              </a:rPr>
              <a:t>Twierdzenie Kroneckera - </a:t>
            </a:r>
            <a:r>
              <a:rPr lang="pl-PL" b="0" i="0" u="none" strike="noStrike" baseline="0" dirty="0" err="1">
                <a:solidFill>
                  <a:srgbClr val="000000"/>
                </a:solidFill>
              </a:rPr>
              <a:t>Capellego</a:t>
            </a:r>
            <a:r>
              <a:rPr lang="pl-PL" b="0" i="0" u="none" strike="noStrike" baseline="0" dirty="0">
                <a:solidFill>
                  <a:srgbClr val="000000"/>
                </a:solidFill>
              </a:rPr>
              <a:t> - rozwiązywanie ogólnych układów równań liniowych w postaci </a:t>
            </a:r>
            <a:r>
              <a:rPr lang="pl-PL" b="0" i="0" u="none" strike="noStrike" baseline="0" dirty="0" err="1">
                <a:solidFill>
                  <a:srgbClr val="000000"/>
                </a:solidFill>
              </a:rPr>
              <a:t>Ax</a:t>
            </a:r>
            <a:r>
              <a:rPr lang="pl-PL" b="0" i="0" u="none" strike="noStrike" baseline="0" dirty="0">
                <a:solidFill>
                  <a:srgbClr val="000000"/>
                </a:solidFill>
              </a:rPr>
              <a:t>=b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711170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519D-700F-1F3D-C368-D15D710B5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FF5FA2-9563-7F2C-7125-3D336FA89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i="0" dirty="0">
                <a:effectLst/>
              </a:rPr>
              <a:t>Twierdzenie Kroneckera-</a:t>
            </a:r>
            <a:r>
              <a:rPr lang="pl-PL" b="1" i="0" dirty="0" err="1">
                <a:effectLst/>
              </a:rPr>
              <a:t>Capellego</a:t>
            </a:r>
            <a:r>
              <a:rPr lang="pl-PL" b="1" i="0" dirty="0">
                <a:effectLst/>
              </a:rPr>
              <a:t> – teoria</a:t>
            </a:r>
            <a:endParaRPr lang="pl-PL" dirty="0"/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6EBDA7F4-F47B-59F9-3EE2-C395C1B23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b="1" i="0" dirty="0">
                <a:effectLst/>
                <a:latin typeface="Asap"/>
              </a:rPr>
              <a:t>Twierdzenie Kroneckera-</a:t>
            </a:r>
            <a:r>
              <a:rPr lang="pl-PL" b="1" i="0" dirty="0" err="1">
                <a:effectLst/>
                <a:latin typeface="Asap"/>
              </a:rPr>
              <a:t>Capellego</a:t>
            </a:r>
            <a:r>
              <a:rPr lang="pl-PL" b="0" i="0" dirty="0">
                <a:effectLst/>
                <a:latin typeface="Asap"/>
              </a:rPr>
              <a:t> służy do oceniania ilości rozwiązań układu równań, tzn. że </a:t>
            </a:r>
            <a:r>
              <a:rPr lang="pl-PL" b="1" i="0" dirty="0">
                <a:effectLst/>
                <a:latin typeface="Asap"/>
              </a:rPr>
              <a:t>odpowie nam na pytanie, czy w danym układzie równań jest jedno rozwiązanie, nieskończenie wiele lub brak rozwiązań.</a:t>
            </a:r>
            <a:r>
              <a:rPr lang="pl-PL" b="0" i="0" dirty="0">
                <a:effectLst/>
                <a:latin typeface="Asap"/>
              </a:rPr>
              <a:t> Twierdzenie to nie poda nam rozwiązania, aby rozwiązać układ równań możemy skorzystać np. z twierdzenia </a:t>
            </a:r>
            <a:r>
              <a:rPr lang="pl-PL" b="0" i="0" dirty="0" err="1">
                <a:effectLst/>
                <a:latin typeface="Asap"/>
              </a:rPr>
              <a:t>cramera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991859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56E33E2-063F-4FF0-E6E3-9697A5B3A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l-PL" b="1" i="0" dirty="0">
                <a:effectLst/>
              </a:rPr>
              <a:t>Twierdzenie Kroneckera-</a:t>
            </a:r>
            <a:r>
              <a:rPr lang="pl-PL" b="1" i="0" dirty="0" err="1">
                <a:effectLst/>
              </a:rPr>
              <a:t>Capellego</a:t>
            </a:r>
            <a:r>
              <a:rPr lang="pl-PL" b="1" i="0" dirty="0">
                <a:effectLst/>
              </a:rPr>
              <a:t> – </a:t>
            </a:r>
            <a:r>
              <a:rPr lang="pl-PL" b="1" dirty="0"/>
              <a:t>Rozwiązywanie równań</a:t>
            </a:r>
          </a:p>
        </p:txBody>
      </p:sp>
      <p:pic>
        <p:nvPicPr>
          <p:cNvPr id="8" name="Symbol zastępczy zawartości 7">
            <a:extLst>
              <a:ext uri="{FF2B5EF4-FFF2-40B4-BE49-F238E27FC236}">
                <a16:creationId xmlns:a16="http://schemas.microsoft.com/office/drawing/2014/main" id="{B2323998-13CB-172A-02B9-4175773F2E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2967" y="1774001"/>
            <a:ext cx="8526065" cy="3829584"/>
          </a:xfrm>
        </p:spPr>
      </p:pic>
    </p:spTree>
    <p:extLst>
      <p:ext uri="{BB962C8B-B14F-4D97-AF65-F5344CB8AC3E}">
        <p14:creationId xmlns:p14="http://schemas.microsoft.com/office/powerpoint/2010/main" val="2561403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B02C7DB-15DF-8DED-6EF8-753F083B4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Rząd macierzy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71AE15F-4AFA-EB0B-0DB9-01A03356E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solidFill>
                  <a:srgbClr val="000000"/>
                </a:solidFill>
                <a:latin typeface="Asap"/>
              </a:rPr>
              <a:t>R</a:t>
            </a:r>
            <a:r>
              <a:rPr lang="pl-PL" b="0" i="0" dirty="0">
                <a:solidFill>
                  <a:srgbClr val="000000"/>
                </a:solidFill>
                <a:effectLst/>
                <a:latin typeface="Asap"/>
              </a:rPr>
              <a:t>ząd macierzy </a:t>
            </a:r>
            <a:r>
              <a:rPr lang="pl-PL" b="1" i="0" dirty="0">
                <a:solidFill>
                  <a:srgbClr val="000000"/>
                </a:solidFill>
                <a:effectLst/>
                <a:latin typeface="Asap"/>
              </a:rPr>
              <a:t>nie może </a:t>
            </a:r>
            <a:r>
              <a:rPr lang="pl-PL" b="0" i="0" dirty="0">
                <a:solidFill>
                  <a:srgbClr val="000000"/>
                </a:solidFill>
                <a:effectLst/>
                <a:latin typeface="Asap"/>
              </a:rPr>
              <a:t>przekraczać żadnego z wymiarów macierzy</a:t>
            </a:r>
            <a:endParaRPr lang="pl-PL" dirty="0">
              <a:solidFill>
                <a:srgbClr val="000000"/>
              </a:solidFill>
              <a:latin typeface="Asap"/>
            </a:endParaRPr>
          </a:p>
          <a:p>
            <a:r>
              <a:rPr lang="pl-PL" dirty="0">
                <a:solidFill>
                  <a:srgbClr val="000000"/>
                </a:solidFill>
                <a:latin typeface="Asap"/>
              </a:rPr>
              <a:t>Dwa sposoby na określenie rzędu macierzy</a:t>
            </a:r>
            <a:endParaRPr lang="pl-PL" b="0" i="0" dirty="0">
              <a:solidFill>
                <a:srgbClr val="000000"/>
              </a:solidFill>
              <a:effectLst/>
              <a:latin typeface="Asap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pl-PL" dirty="0"/>
              <a:t>Korzystając z twierdzenia o macierzach równoważnych przekształcamy macierz w macierz trójkątną</a:t>
            </a:r>
          </a:p>
          <a:p>
            <a:pPr marL="914400" lvl="1" indent="-457200">
              <a:buFont typeface="+mj-lt"/>
              <a:buAutoNum type="arabicPeriod"/>
            </a:pPr>
            <a:r>
              <a:rPr lang="pl-PL" dirty="0"/>
              <a:t>Sprawdzając minory macierzy</a:t>
            </a:r>
            <a:r>
              <a:rPr lang="pl-PL" dirty="0">
                <a:solidFill>
                  <a:srgbClr val="000000"/>
                </a:solidFill>
                <a:latin typeface="Asap"/>
              </a:rPr>
              <a:t>. </a:t>
            </a:r>
            <a:r>
              <a:rPr lang="pl-PL" dirty="0"/>
              <a:t>Jeśli wyznacznik minora jest różny od 0 rząd macierzy jest równy temu wymiarowi</a:t>
            </a:r>
          </a:p>
        </p:txBody>
      </p:sp>
    </p:spTree>
    <p:extLst>
      <p:ext uri="{BB962C8B-B14F-4D97-AF65-F5344CB8AC3E}">
        <p14:creationId xmlns:p14="http://schemas.microsoft.com/office/powerpoint/2010/main" val="13862515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C1198-A4B6-FD6E-237D-0B3E670CC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CD2D23D-E9A3-3187-F3A6-C7B4D85BE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Bibliografia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9CD01CC-468F-CD3B-5051-2F50619CC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>
                <a:hlinkClick r:id="rId2"/>
              </a:rPr>
              <a:t>https://www.naukowiec.org/wiedza/matematyka/twierdzenie-kroneckera-capellego_615.html</a:t>
            </a:r>
            <a:endParaRPr lang="pl-PL" dirty="0"/>
          </a:p>
          <a:p>
            <a:r>
              <a:rPr lang="pl-PL" dirty="0"/>
              <a:t>https://math.uwb.edu.pl/~randrusz/Informatyka%20i%20Ekonometria%20Algebra%20liniowa/wyklad8infiekowersja2.pdf</a:t>
            </a:r>
          </a:p>
        </p:txBody>
      </p:sp>
    </p:spTree>
    <p:extLst>
      <p:ext uri="{BB962C8B-B14F-4D97-AF65-F5344CB8AC3E}">
        <p14:creationId xmlns:p14="http://schemas.microsoft.com/office/powerpoint/2010/main" val="33107009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FB60E7-A599-B2E4-6465-8C82D4158D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b="0" i="0" u="none" strike="noStrike" baseline="0" dirty="0">
                <a:solidFill>
                  <a:srgbClr val="000000"/>
                </a:solidFill>
              </a:rPr>
              <a:t>Podstawowe polecenia SQL.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BD3F35A-3991-5569-C0D1-1D344A2E2E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51892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37C6A6-91A9-E410-F5A0-AB22C180C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Podstawowe polecenia SQL.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245663B-B480-C6A1-844E-937DCEFA3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SQL (</a:t>
            </a:r>
            <a:r>
              <a:rPr lang="pl-PL" dirty="0" err="1"/>
              <a:t>Structured</a:t>
            </a:r>
            <a:r>
              <a:rPr lang="pl-PL" dirty="0"/>
              <a:t> Query Language) to język zapytań służący do zarządzania bazami danych. Polecenia SQL dzielą się na kilka kategorii, z których każda odpowiada za różne aspekty zarządzania danymi i strukturą bazy danych.</a:t>
            </a:r>
            <a:endParaRPr lang="pl-PL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pl-PL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Wszystkie systemy RDBMS takie jak MySQL, Dostęp MS, Oracle, </a:t>
            </a:r>
            <a:r>
              <a:rPr lang="pl-PL" b="0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Sybase</a:t>
            </a:r>
            <a:r>
              <a:rPr lang="pl-PL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, </a:t>
            </a:r>
            <a:r>
              <a:rPr lang="pl-PL" b="0" i="0" dirty="0" err="1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Postgres</a:t>
            </a:r>
            <a:r>
              <a:rPr lang="pl-PL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 i SQL Server używają SQL jako standardowego języka baz danych.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5398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6480EB-66E3-AF24-349E-B072A75CA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Rodzaje SQL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E8FFA48-83EA-0EFD-FD0B-09DDADE65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l-PL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Język definicji danych (DDL)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Język manipulacji danymi (DML)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Język kontroli danych (DCL)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Język kontroli transakcji (TCL)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l-PL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Język zapytań o dane (DQL)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208472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DD5A524-2767-DA1B-7D4A-84B61A9D0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DQL (Data Query Language)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08D7E69-0DCD-D901-6B91-3FFB9C200A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l-PL" dirty="0"/>
              <a:t>SELECT wyświetlanie rekordów</a:t>
            </a:r>
          </a:p>
          <a:p>
            <a:pPr marL="0" indent="0">
              <a:buNone/>
            </a:pPr>
            <a:endParaRPr lang="pl-PL" dirty="0"/>
          </a:p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 Pobranie wszystkich kolumn i rekordów z tabeli</a:t>
            </a:r>
          </a:p>
          <a:p>
            <a:pPr marL="0" indent="0">
              <a:buNone/>
            </a:pPr>
            <a:r>
              <a:rPr lang="pl-PL" dirty="0"/>
              <a:t>SELECT * FROM </a:t>
            </a:r>
            <a:r>
              <a:rPr lang="pl-PL" dirty="0" err="1"/>
              <a:t>employees</a:t>
            </a:r>
            <a:r>
              <a:rPr lang="pl-PL" dirty="0"/>
              <a:t>;</a:t>
            </a:r>
          </a:p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--Pobranie wybranych kolumn z tabeli</a:t>
            </a:r>
          </a:p>
          <a:p>
            <a:pPr marL="0" indent="0">
              <a:buNone/>
            </a:pPr>
            <a:r>
              <a:rPr lang="pl-PL" dirty="0"/>
              <a:t>SELECT </a:t>
            </a:r>
            <a:r>
              <a:rPr lang="pl-PL" dirty="0" err="1"/>
              <a:t>first_name</a:t>
            </a:r>
            <a:r>
              <a:rPr lang="pl-PL" dirty="0"/>
              <a:t>, </a:t>
            </a:r>
            <a:r>
              <a:rPr lang="pl-PL" dirty="0" err="1"/>
              <a:t>last_name</a:t>
            </a:r>
            <a:r>
              <a:rPr lang="pl-PL" dirty="0"/>
              <a:t> FROM </a:t>
            </a:r>
            <a:r>
              <a:rPr lang="pl-PL" dirty="0" err="1"/>
              <a:t>employees</a:t>
            </a:r>
            <a:r>
              <a:rPr lang="pl-PL" dirty="0"/>
              <a:t>;</a:t>
            </a:r>
          </a:p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--Filtrowanie danych - wybór pracowników z działu IT</a:t>
            </a:r>
          </a:p>
          <a:p>
            <a:pPr marL="0" indent="0">
              <a:buNone/>
            </a:pPr>
            <a:r>
              <a:rPr lang="pl-PL" dirty="0"/>
              <a:t>SELECT * FROM </a:t>
            </a:r>
            <a:r>
              <a:rPr lang="pl-PL" dirty="0" err="1"/>
              <a:t>employees</a:t>
            </a:r>
            <a:r>
              <a:rPr lang="pl-PL" dirty="0"/>
              <a:t> WHERE </a:t>
            </a:r>
            <a:r>
              <a:rPr lang="pl-PL" dirty="0" err="1"/>
              <a:t>department</a:t>
            </a:r>
            <a:r>
              <a:rPr lang="pl-PL" dirty="0"/>
              <a:t> = 'IT';</a:t>
            </a:r>
          </a:p>
        </p:txBody>
      </p:sp>
    </p:spTree>
    <p:extLst>
      <p:ext uri="{BB962C8B-B14F-4D97-AF65-F5344CB8AC3E}">
        <p14:creationId xmlns:p14="http://schemas.microsoft.com/office/powerpoint/2010/main" val="27997740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F1FE8B3-D52F-6B03-84C9-467AFF9F5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01706"/>
            <a:ext cx="10515600" cy="5454587"/>
          </a:xfrm>
        </p:spPr>
        <p:txBody>
          <a:bodyPr/>
          <a:lstStyle/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 Sortowanie danych alfabetycznie według nazwiska</a:t>
            </a:r>
          </a:p>
          <a:p>
            <a:pPr marL="0" indent="0">
              <a:buNone/>
            </a:pPr>
            <a:r>
              <a:rPr lang="pl-PL" dirty="0"/>
              <a:t>SELECT * FROM </a:t>
            </a:r>
            <a:r>
              <a:rPr lang="pl-PL" dirty="0" err="1"/>
              <a:t>employees</a:t>
            </a:r>
            <a:r>
              <a:rPr lang="pl-PL" dirty="0"/>
              <a:t> ORDER BY </a:t>
            </a:r>
            <a:r>
              <a:rPr lang="pl-PL" dirty="0" err="1"/>
              <a:t>last_name</a:t>
            </a:r>
            <a:r>
              <a:rPr lang="pl-PL" dirty="0"/>
              <a:t> ASC;</a:t>
            </a:r>
            <a:br>
              <a:rPr lang="pl-PL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 Grupowanie danych według działu i zliczanie liczby pracowników w każdym dziale</a:t>
            </a:r>
            <a:br>
              <a:rPr lang="pl-PL" dirty="0"/>
            </a:br>
            <a:r>
              <a:rPr lang="pl-PL" dirty="0"/>
              <a:t>SELECT </a:t>
            </a:r>
            <a:r>
              <a:rPr lang="pl-PL" dirty="0" err="1"/>
              <a:t>department</a:t>
            </a:r>
            <a:r>
              <a:rPr lang="pl-PL" dirty="0"/>
              <a:t>, COUNT(*) AS </a:t>
            </a:r>
            <a:r>
              <a:rPr lang="pl-PL" dirty="0" err="1"/>
              <a:t>employee_count</a:t>
            </a:r>
            <a:r>
              <a:rPr lang="pl-PL" dirty="0"/>
              <a:t> FROM </a:t>
            </a:r>
            <a:r>
              <a:rPr lang="pl-PL" dirty="0" err="1"/>
              <a:t>employees</a:t>
            </a:r>
            <a:r>
              <a:rPr lang="pl-PL" dirty="0"/>
              <a:t> GROUP BY </a:t>
            </a:r>
            <a:r>
              <a:rPr lang="pl-PL" dirty="0" err="1"/>
              <a:t>department</a:t>
            </a:r>
            <a:r>
              <a:rPr lang="pl-PL" dirty="0"/>
              <a:t>;</a:t>
            </a:r>
            <a:br>
              <a:rPr lang="pl-PL" dirty="0"/>
            </a:br>
            <a:r>
              <a:rPr lang="pl-PL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-- Filtrowanie wyników grupowania - tylko działy z więcej niż 5 pracownikami</a:t>
            </a:r>
            <a:br>
              <a:rPr lang="pl-PL" dirty="0"/>
            </a:br>
            <a:r>
              <a:rPr lang="pl-PL" dirty="0"/>
              <a:t>SELECT </a:t>
            </a:r>
            <a:r>
              <a:rPr lang="pl-PL" dirty="0" err="1"/>
              <a:t>department</a:t>
            </a:r>
            <a:r>
              <a:rPr lang="pl-PL" dirty="0"/>
              <a:t>, COUNT(*) AS </a:t>
            </a:r>
            <a:r>
              <a:rPr lang="pl-PL" dirty="0" err="1"/>
              <a:t>employee_count</a:t>
            </a:r>
            <a:r>
              <a:rPr lang="pl-PL" dirty="0"/>
              <a:t> FROM </a:t>
            </a:r>
            <a:r>
              <a:rPr lang="pl-PL" dirty="0" err="1"/>
              <a:t>employees</a:t>
            </a:r>
            <a:r>
              <a:rPr lang="pl-PL" dirty="0"/>
              <a:t> GROUP BY </a:t>
            </a:r>
            <a:r>
              <a:rPr lang="pl-PL" dirty="0" err="1"/>
              <a:t>department</a:t>
            </a:r>
            <a:r>
              <a:rPr lang="pl-PL" dirty="0"/>
              <a:t> HAVING COUNT(*) &gt; 5;</a:t>
            </a:r>
          </a:p>
        </p:txBody>
      </p:sp>
    </p:spTree>
    <p:extLst>
      <p:ext uri="{BB962C8B-B14F-4D97-AF65-F5344CB8AC3E}">
        <p14:creationId xmlns:p14="http://schemas.microsoft.com/office/powerpoint/2010/main" val="13604079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11D4272-ADE2-B91F-3B41-BEEA9E2EB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DML (Data </a:t>
            </a:r>
            <a:r>
              <a:rPr lang="pl-PL" dirty="0" err="1"/>
              <a:t>Manipulation</a:t>
            </a:r>
            <a:r>
              <a:rPr lang="pl-PL" dirty="0"/>
              <a:t> Language)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5B28E62-09A1-765D-5DD1-28A0794DA9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INSERT – dodawanie nowych rekordów.</a:t>
            </a:r>
            <a:br>
              <a:rPr lang="pl-PL" dirty="0"/>
            </a:br>
            <a:r>
              <a:rPr lang="en-US" sz="2000" dirty="0"/>
              <a:t>INSERT INTO TABLE_NAME  (col1, col2, col3,.... col N)  </a:t>
            </a:r>
            <a:br>
              <a:rPr lang="pl-PL" sz="2000" dirty="0"/>
            </a:br>
            <a:r>
              <a:rPr lang="en-US" sz="2000" dirty="0"/>
              <a:t>VALUES (value1, value2, value3, .... </a:t>
            </a:r>
            <a:r>
              <a:rPr lang="en-US" sz="2000" dirty="0" err="1"/>
              <a:t>valueN</a:t>
            </a:r>
            <a:r>
              <a:rPr lang="en-US" sz="2000" dirty="0"/>
              <a:t>);</a:t>
            </a:r>
            <a:endParaRPr lang="pl-PL" sz="2000" dirty="0"/>
          </a:p>
          <a:p>
            <a:r>
              <a:rPr lang="pl-PL" dirty="0"/>
              <a:t>UPDATE – aktualizacja istniejących danych.</a:t>
            </a:r>
            <a:br>
              <a:rPr lang="pl-PL" dirty="0"/>
            </a:br>
            <a:r>
              <a:rPr lang="en-US" sz="2000" dirty="0"/>
              <a:t>UPDATE </a:t>
            </a:r>
            <a:r>
              <a:rPr lang="en-US" sz="2000" dirty="0" err="1"/>
              <a:t>table_name</a:t>
            </a:r>
            <a:r>
              <a:rPr lang="en-US" sz="2000" dirty="0"/>
              <a:t> SET [column_name1= value1,...</a:t>
            </a:r>
            <a:r>
              <a:rPr lang="en-US" sz="2000" dirty="0" err="1"/>
              <a:t>column_nameN</a:t>
            </a:r>
            <a:r>
              <a:rPr lang="en-US" sz="2000" dirty="0"/>
              <a:t> = </a:t>
            </a:r>
            <a:r>
              <a:rPr lang="en-US" sz="2000" dirty="0" err="1"/>
              <a:t>valueN</a:t>
            </a:r>
            <a:r>
              <a:rPr lang="en-US" sz="2000" dirty="0"/>
              <a:t>] [WHERE CONDITION]</a:t>
            </a:r>
            <a:endParaRPr lang="pl-PL" sz="2000" dirty="0"/>
          </a:p>
          <a:p>
            <a:r>
              <a:rPr lang="pl-PL" dirty="0"/>
              <a:t>DELETE – usuwanie jednego lub większej liczby wierszy z tabeli.</a:t>
            </a:r>
            <a:br>
              <a:rPr lang="pl-PL" dirty="0"/>
            </a:br>
            <a:r>
              <a:rPr lang="en-US" sz="2000" dirty="0"/>
              <a:t>DELETE FROM </a:t>
            </a:r>
            <a:r>
              <a:rPr lang="en-US" sz="2000" dirty="0" err="1"/>
              <a:t>table_name</a:t>
            </a:r>
            <a:r>
              <a:rPr lang="en-US" sz="2000" dirty="0"/>
              <a:t> [WHERE condition];</a:t>
            </a:r>
            <a:br>
              <a:rPr lang="pl-PL" dirty="0"/>
            </a:b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233180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C02367-92DA-B374-7644-CCAFCCD2A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4DA2087-AF25-71E2-2E80-9C09BD79A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 Wstawianie nowego rekordu do tabeli</a:t>
            </a:r>
            <a:br>
              <a:rPr lang="pl-PL" dirty="0"/>
            </a:br>
            <a:r>
              <a:rPr lang="pl-PL" dirty="0"/>
              <a:t>INSERT INTO </a:t>
            </a:r>
            <a:r>
              <a:rPr lang="pl-PL" dirty="0" err="1"/>
              <a:t>employees</a:t>
            </a:r>
            <a:r>
              <a:rPr lang="pl-PL" dirty="0"/>
              <a:t> (</a:t>
            </a:r>
            <a:r>
              <a:rPr lang="pl-PL" dirty="0" err="1"/>
              <a:t>first_name</a:t>
            </a:r>
            <a:r>
              <a:rPr lang="pl-PL" dirty="0"/>
              <a:t>, </a:t>
            </a:r>
            <a:r>
              <a:rPr lang="pl-PL" dirty="0" err="1"/>
              <a:t>last_name</a:t>
            </a:r>
            <a:r>
              <a:rPr lang="pl-PL" dirty="0"/>
              <a:t>, </a:t>
            </a:r>
            <a:r>
              <a:rPr lang="pl-PL" dirty="0" err="1"/>
              <a:t>department</a:t>
            </a:r>
            <a:r>
              <a:rPr lang="pl-PL" dirty="0"/>
              <a:t>) VALUES ('John', '</a:t>
            </a:r>
            <a:r>
              <a:rPr lang="pl-PL" dirty="0" err="1"/>
              <a:t>Doe</a:t>
            </a:r>
            <a:r>
              <a:rPr lang="pl-PL" dirty="0"/>
              <a:t>', 'IT’);</a:t>
            </a:r>
            <a:br>
              <a:rPr lang="pl-PL" dirty="0"/>
            </a:b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 Aktualizacja danych - zmiana działu pracownika o ID 1</a:t>
            </a:r>
            <a:br>
              <a:rPr lang="pl-PL" dirty="0"/>
            </a:br>
            <a:r>
              <a:rPr lang="pl-PL" dirty="0"/>
              <a:t>UPDATE </a:t>
            </a:r>
            <a:r>
              <a:rPr lang="pl-PL" dirty="0" err="1"/>
              <a:t>employees</a:t>
            </a:r>
            <a:r>
              <a:rPr lang="pl-PL" dirty="0"/>
              <a:t> SET </a:t>
            </a:r>
            <a:r>
              <a:rPr lang="pl-PL" dirty="0" err="1"/>
              <a:t>department</a:t>
            </a:r>
            <a:r>
              <a:rPr lang="pl-PL" dirty="0"/>
              <a:t> = 'HR' WHERE </a:t>
            </a:r>
            <a:r>
              <a:rPr lang="pl-PL" dirty="0" err="1"/>
              <a:t>employee_id</a:t>
            </a:r>
            <a:r>
              <a:rPr lang="pl-PL" dirty="0"/>
              <a:t> = 1;</a:t>
            </a:r>
            <a:br>
              <a:rPr lang="pl-PL" dirty="0"/>
            </a:b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 Usunięcie rekordu pracownika o ID 1</a:t>
            </a:r>
            <a:br>
              <a:rPr lang="pl-PL" dirty="0"/>
            </a:br>
            <a:r>
              <a:rPr lang="pl-PL" dirty="0"/>
              <a:t>DELETE FROM </a:t>
            </a:r>
            <a:r>
              <a:rPr lang="pl-PL" dirty="0" err="1"/>
              <a:t>employees</a:t>
            </a:r>
            <a:r>
              <a:rPr lang="pl-PL" dirty="0"/>
              <a:t> WHERE </a:t>
            </a:r>
            <a:r>
              <a:rPr lang="pl-PL" dirty="0" err="1"/>
              <a:t>employee_id</a:t>
            </a:r>
            <a:r>
              <a:rPr lang="pl-PL" dirty="0"/>
              <a:t> = 1;</a:t>
            </a:r>
          </a:p>
        </p:txBody>
      </p:sp>
    </p:spTree>
    <p:extLst>
      <p:ext uri="{BB962C8B-B14F-4D97-AF65-F5344CB8AC3E}">
        <p14:creationId xmlns:p14="http://schemas.microsoft.com/office/powerpoint/2010/main" val="7689752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67E331-3286-92C0-23D2-214DCDD8D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DDL (Data Definition Language)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9180AA3-36D7-C379-8175-189C819797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CREATE TABLE – tworzenie nowej tabeli.</a:t>
            </a:r>
            <a:br>
              <a:rPr lang="pl-PL" dirty="0"/>
            </a:br>
            <a:r>
              <a:rPr lang="en-US" sz="2000" dirty="0"/>
              <a:t>CREATE TABLE TABLE_NAME (COLUMN_NAME DATATYPES[,....]);</a:t>
            </a:r>
            <a:endParaRPr lang="pl-PL" sz="3200" dirty="0"/>
          </a:p>
          <a:p>
            <a:r>
              <a:rPr lang="pl-PL" dirty="0"/>
              <a:t>ALTER TABLE – modyfikacja istniejącej tabeli.</a:t>
            </a:r>
            <a:br>
              <a:rPr lang="pl-PL" dirty="0"/>
            </a:br>
            <a:r>
              <a:rPr lang="en-US" sz="2000" dirty="0"/>
              <a:t>ALTER TABLE </a:t>
            </a:r>
            <a:r>
              <a:rPr lang="en-US" sz="2000" dirty="0" err="1"/>
              <a:t>table_name</a:t>
            </a:r>
            <a:r>
              <a:rPr lang="en-US" sz="2000" dirty="0"/>
              <a:t> ADD </a:t>
            </a:r>
            <a:r>
              <a:rPr lang="en-US" sz="2000" dirty="0" err="1"/>
              <a:t>column_name</a:t>
            </a:r>
            <a:r>
              <a:rPr lang="en-US" sz="2000" dirty="0"/>
              <a:t> COLUMN-definition; </a:t>
            </a:r>
            <a:endParaRPr lang="pl-PL" sz="2000" dirty="0"/>
          </a:p>
          <a:p>
            <a:r>
              <a:rPr lang="pl-PL" dirty="0"/>
              <a:t>DROP TABLE – usunięcie tabeli.</a:t>
            </a:r>
            <a:br>
              <a:rPr lang="pl-PL" dirty="0"/>
            </a:br>
            <a:r>
              <a:rPr lang="pl-PL" sz="2000" dirty="0"/>
              <a:t>Drop </a:t>
            </a:r>
            <a:r>
              <a:rPr lang="pl-PL" sz="2000" dirty="0" err="1"/>
              <a:t>object_type</a:t>
            </a:r>
            <a:r>
              <a:rPr lang="pl-PL" sz="2000" dirty="0"/>
              <a:t> </a:t>
            </a:r>
            <a:r>
              <a:rPr lang="pl-PL" sz="2000" dirty="0" err="1"/>
              <a:t>object_name</a:t>
            </a:r>
            <a:r>
              <a:rPr lang="pl-PL" sz="2000" dirty="0"/>
              <a:t>;</a:t>
            </a:r>
          </a:p>
          <a:p>
            <a:r>
              <a:rPr lang="pl-PL" dirty="0"/>
              <a:t>TRUNCATE TABLE – usunięcie wszystkich danych z tabeli.</a:t>
            </a:r>
            <a:br>
              <a:rPr lang="pl-PL" dirty="0"/>
            </a:br>
            <a:r>
              <a:rPr lang="pl-PL" sz="2000" dirty="0"/>
              <a:t>TRUNCATE TABLE </a:t>
            </a:r>
            <a:r>
              <a:rPr lang="pl-PL" sz="2000" dirty="0" err="1"/>
              <a:t>table_name</a:t>
            </a:r>
            <a:r>
              <a:rPr lang="pl-PL" sz="2000" dirty="0"/>
              <a:t>; </a:t>
            </a:r>
            <a:endParaRPr lang="pl-PL" sz="1800" dirty="0"/>
          </a:p>
        </p:txBody>
      </p:sp>
    </p:spTree>
    <p:extLst>
      <p:ext uri="{BB962C8B-B14F-4D97-AF65-F5344CB8AC3E}">
        <p14:creationId xmlns:p14="http://schemas.microsoft.com/office/powerpoint/2010/main" val="2476094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6E0B390-2014-7435-88A8-5E876552D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40080"/>
            <a:ext cx="10515600" cy="553688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 Tworzenie nowej tabeli dla pracowników</a:t>
            </a:r>
          </a:p>
          <a:p>
            <a:pPr marL="0" indent="0">
              <a:buNone/>
            </a:pPr>
            <a:r>
              <a:rPr lang="pl-PL" dirty="0"/>
              <a:t>CREATE TABLE </a:t>
            </a:r>
            <a:r>
              <a:rPr lang="pl-PL" dirty="0" err="1"/>
              <a:t>employees</a:t>
            </a:r>
            <a:r>
              <a:rPr lang="pl-PL" dirty="0"/>
              <a:t> (    </a:t>
            </a:r>
            <a:br>
              <a:rPr lang="pl-PL" dirty="0"/>
            </a:br>
            <a:r>
              <a:rPr lang="pl-PL" dirty="0" err="1"/>
              <a:t>employee_id</a:t>
            </a:r>
            <a:r>
              <a:rPr lang="pl-PL" dirty="0"/>
              <a:t> INT PRIMARY KEY,    </a:t>
            </a:r>
            <a:br>
              <a:rPr lang="pl-PL" dirty="0"/>
            </a:br>
            <a:r>
              <a:rPr lang="pl-PL" dirty="0" err="1"/>
              <a:t>first_name</a:t>
            </a:r>
            <a:r>
              <a:rPr lang="pl-PL" dirty="0"/>
              <a:t> VARCHAR(50),    </a:t>
            </a:r>
            <a:br>
              <a:rPr lang="pl-PL" dirty="0"/>
            </a:br>
            <a:r>
              <a:rPr lang="pl-PL" dirty="0" err="1"/>
              <a:t>last_name</a:t>
            </a:r>
            <a:r>
              <a:rPr lang="pl-PL" dirty="0"/>
              <a:t> VARCHAR(50),    </a:t>
            </a:r>
            <a:br>
              <a:rPr lang="pl-PL" dirty="0"/>
            </a:br>
            <a:r>
              <a:rPr lang="pl-PL" dirty="0" err="1"/>
              <a:t>department</a:t>
            </a:r>
            <a:r>
              <a:rPr lang="pl-PL" dirty="0"/>
              <a:t> VARCHAR(50));</a:t>
            </a:r>
          </a:p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--Dodawanie nowej kolumny z datą zatrudnienia</a:t>
            </a:r>
            <a:br>
              <a:rPr lang="pl-PL" dirty="0"/>
            </a:br>
            <a:r>
              <a:rPr lang="pl-PL" dirty="0"/>
              <a:t>ALTER TABLE </a:t>
            </a:r>
            <a:r>
              <a:rPr lang="pl-PL" dirty="0" err="1"/>
              <a:t>employees</a:t>
            </a:r>
            <a:r>
              <a:rPr lang="pl-PL" dirty="0"/>
              <a:t> ADD COLUMN </a:t>
            </a:r>
            <a:r>
              <a:rPr lang="pl-PL" dirty="0" err="1"/>
              <a:t>hire_date</a:t>
            </a:r>
            <a:r>
              <a:rPr lang="pl-PL" dirty="0"/>
              <a:t> DATE;</a:t>
            </a:r>
          </a:p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--Modyfikacja typu danych kolumny '</a:t>
            </a:r>
            <a:r>
              <a:rPr lang="pl-PL" dirty="0" err="1">
                <a:solidFill>
                  <a:schemeClr val="bg2">
                    <a:lumMod val="50000"/>
                  </a:schemeClr>
                </a:solidFill>
              </a:rPr>
              <a:t>first_name</a:t>
            </a: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’</a:t>
            </a:r>
            <a:br>
              <a:rPr lang="pl-PL" dirty="0"/>
            </a:br>
            <a:r>
              <a:rPr lang="pl-PL" dirty="0"/>
              <a:t>ALTER TABLE </a:t>
            </a:r>
            <a:r>
              <a:rPr lang="pl-PL" dirty="0" err="1"/>
              <a:t>employees</a:t>
            </a:r>
            <a:r>
              <a:rPr lang="pl-PL" dirty="0"/>
              <a:t> MODIFY COLUMN </a:t>
            </a:r>
            <a:r>
              <a:rPr lang="pl-PL" dirty="0" err="1"/>
              <a:t>first_name</a:t>
            </a:r>
            <a:r>
              <a:rPr lang="pl-PL" dirty="0"/>
              <a:t> VARCHAR(100);</a:t>
            </a:r>
          </a:p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--Usunięcie kolumny '</a:t>
            </a:r>
            <a:r>
              <a:rPr lang="pl-PL" dirty="0" err="1">
                <a:solidFill>
                  <a:schemeClr val="bg2">
                    <a:lumMod val="50000"/>
                  </a:schemeClr>
                </a:solidFill>
              </a:rPr>
              <a:t>hire_date</a:t>
            </a: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’</a:t>
            </a:r>
            <a:br>
              <a:rPr lang="pl-PL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pl-PL" dirty="0"/>
              <a:t>ALTER TABLE </a:t>
            </a:r>
            <a:r>
              <a:rPr lang="pl-PL" dirty="0" err="1"/>
              <a:t>employees</a:t>
            </a:r>
            <a:r>
              <a:rPr lang="pl-PL" dirty="0"/>
              <a:t> DROP COLUMN </a:t>
            </a:r>
            <a:r>
              <a:rPr lang="pl-PL" dirty="0" err="1"/>
              <a:t>hire_date</a:t>
            </a:r>
            <a:r>
              <a:rPr lang="pl-PL" dirty="0"/>
              <a:t>;</a:t>
            </a:r>
          </a:p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 Usunięcie całej tabeli '</a:t>
            </a:r>
            <a:r>
              <a:rPr lang="pl-PL" dirty="0" err="1">
                <a:solidFill>
                  <a:schemeClr val="bg2">
                    <a:lumMod val="50000"/>
                  </a:schemeClr>
                </a:solidFill>
              </a:rPr>
              <a:t>employees</a:t>
            </a: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’</a:t>
            </a:r>
            <a:br>
              <a:rPr lang="pl-PL" dirty="0"/>
            </a:br>
            <a:r>
              <a:rPr lang="pl-PL" dirty="0"/>
              <a:t>DROP TABLE </a:t>
            </a:r>
            <a:r>
              <a:rPr lang="pl-PL" dirty="0" err="1"/>
              <a:t>employees</a:t>
            </a:r>
            <a:r>
              <a:rPr lang="pl-PL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12361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2C13020-3235-34C8-81AE-084CD513F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DCL (Data Control Language)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C4F8070-F9AC-851E-6642-BECE6CEDAA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GRANT – nadawanie uprawnień użytkownikom.</a:t>
            </a:r>
            <a:br>
              <a:rPr lang="pl-PL" dirty="0"/>
            </a:br>
            <a:r>
              <a:rPr lang="en-US" sz="2000" dirty="0"/>
              <a:t>GRANT </a:t>
            </a:r>
            <a:r>
              <a:rPr lang="pl-PL" sz="2000" dirty="0"/>
              <a:t>PRIVELAGE </a:t>
            </a:r>
            <a:r>
              <a:rPr lang="en-US" sz="2000" dirty="0"/>
              <a:t>ON MY_TABLE TO SOME_USER, ANOTHER_USER;</a:t>
            </a:r>
            <a:endParaRPr lang="pl-PL" sz="2000" dirty="0"/>
          </a:p>
          <a:p>
            <a:r>
              <a:rPr lang="pl-PL" dirty="0"/>
              <a:t>REVOKE – cofnięcie uprawnień.</a:t>
            </a:r>
            <a:br>
              <a:rPr lang="pl-PL" dirty="0"/>
            </a:br>
            <a:r>
              <a:rPr lang="pl-PL" sz="2000" dirty="0"/>
              <a:t>REVOKE </a:t>
            </a:r>
            <a:r>
              <a:rPr lang="pl-PL" sz="2000" dirty="0" err="1"/>
              <a:t>privilege_nameON</a:t>
            </a:r>
            <a:r>
              <a:rPr lang="pl-PL" sz="2000" dirty="0"/>
              <a:t> </a:t>
            </a:r>
            <a:r>
              <a:rPr lang="pl-PL" sz="2000" dirty="0" err="1"/>
              <a:t>object_nameFROM</a:t>
            </a:r>
            <a:r>
              <a:rPr lang="pl-PL" sz="2000" dirty="0"/>
              <a:t> {</a:t>
            </a:r>
            <a:r>
              <a:rPr lang="pl-PL" sz="2000" dirty="0" err="1"/>
              <a:t>user_name</a:t>
            </a:r>
            <a:r>
              <a:rPr lang="pl-PL" sz="2000" dirty="0"/>
              <a:t> |PUBLIC |</a:t>
            </a:r>
            <a:r>
              <a:rPr lang="pl-PL" sz="2000" dirty="0" err="1"/>
              <a:t>role_name</a:t>
            </a:r>
            <a:r>
              <a:rPr lang="pl-PL" sz="2000" dirty="0"/>
              <a:t>}</a:t>
            </a:r>
          </a:p>
          <a:p>
            <a:r>
              <a:rPr lang="pl-PL" dirty="0"/>
              <a:t>CREATE ROLE – tworzenie ról w bazie danych.</a:t>
            </a:r>
            <a:br>
              <a:rPr lang="pl-PL" dirty="0"/>
            </a:br>
            <a:r>
              <a:rPr lang="pl-PL" sz="2000" dirty="0"/>
              <a:t>CREATE ROLE </a:t>
            </a:r>
            <a:r>
              <a:rPr lang="pl-PL" sz="2000" dirty="0" err="1"/>
              <a:t>role_name</a:t>
            </a:r>
            <a:r>
              <a:rPr lang="pl-PL" sz="2000" dirty="0"/>
              <a:t>;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5903152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2FACFF-F0ED-F66B-A6ED-7FC8C5663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0664"/>
            <a:ext cx="10515600" cy="53492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 Nadawanie uprawnień użytkownikowi user1 do odczytu i wstawiania danych do tabeli</a:t>
            </a:r>
          </a:p>
          <a:p>
            <a:pPr marL="0" indent="0">
              <a:buNone/>
            </a:pPr>
            <a:r>
              <a:rPr lang="pl-PL" dirty="0"/>
              <a:t>GRANT SELECT, INSERT ON </a:t>
            </a:r>
            <a:r>
              <a:rPr lang="pl-PL" dirty="0" err="1"/>
              <a:t>employees</a:t>
            </a:r>
            <a:r>
              <a:rPr lang="pl-PL" dirty="0"/>
              <a:t> TO user1;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 Cofnięcie uprawnienia do wstawiania danych</a:t>
            </a:r>
          </a:p>
          <a:p>
            <a:pPr marL="0" indent="0">
              <a:buNone/>
            </a:pPr>
            <a:r>
              <a:rPr lang="pl-PL" dirty="0"/>
              <a:t>REVOKE INSERT ON </a:t>
            </a:r>
            <a:r>
              <a:rPr lang="pl-PL" dirty="0" err="1"/>
              <a:t>employees</a:t>
            </a:r>
            <a:r>
              <a:rPr lang="pl-PL" dirty="0"/>
              <a:t> FROM user1;</a:t>
            </a:r>
          </a:p>
          <a:p>
            <a:endParaRPr lang="pl-PL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 Tworzenie nowej roli 'manager'</a:t>
            </a:r>
          </a:p>
          <a:p>
            <a:pPr marL="0" indent="0">
              <a:buNone/>
            </a:pPr>
            <a:r>
              <a:rPr lang="pl-PL" dirty="0"/>
              <a:t>CREATE ROLE manager;</a:t>
            </a:r>
          </a:p>
          <a:p>
            <a:endParaRPr lang="pl-PL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 Nadanie roli 'manager' uprawnień do odczytu i aktualizacji danych</a:t>
            </a:r>
          </a:p>
          <a:p>
            <a:pPr marL="0" indent="0">
              <a:buNone/>
            </a:pPr>
            <a:r>
              <a:rPr lang="pl-PL" dirty="0"/>
              <a:t>GRANT SELECT, UPDATE ON </a:t>
            </a:r>
            <a:r>
              <a:rPr lang="pl-PL" dirty="0" err="1"/>
              <a:t>employees</a:t>
            </a:r>
            <a:r>
              <a:rPr lang="pl-PL" dirty="0"/>
              <a:t> TO manager;</a:t>
            </a:r>
          </a:p>
          <a:p>
            <a:endParaRPr lang="pl-PL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pl-PL" dirty="0">
                <a:solidFill>
                  <a:schemeClr val="bg2">
                    <a:lumMod val="50000"/>
                  </a:schemeClr>
                </a:solidFill>
              </a:rPr>
              <a:t>-- Przypisanie roli 'manager' użytkownikowi 'user1'</a:t>
            </a:r>
          </a:p>
          <a:p>
            <a:pPr marL="0" indent="0">
              <a:buNone/>
            </a:pPr>
            <a:r>
              <a:rPr lang="pl-PL" dirty="0"/>
              <a:t>GRANT manager TO user1;</a:t>
            </a:r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341006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D54937-4A90-FDFE-D6D7-04B6DB2CC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Polecenia do zarządzania transakcjami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DB3764F-F235-1206-4913-332AEC3BF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BEGIN / START TRANSACTION – rozpoczęcie transakcji.</a:t>
            </a:r>
          </a:p>
          <a:p>
            <a:r>
              <a:rPr lang="pl-PL" dirty="0"/>
              <a:t>COMMIT – zatwierdzenie zmian w transakcji.</a:t>
            </a:r>
          </a:p>
          <a:p>
            <a:r>
              <a:rPr lang="pl-PL" dirty="0"/>
              <a:t>ROLLBACK – wycofanie zmian w transakcji.</a:t>
            </a:r>
          </a:p>
        </p:txBody>
      </p:sp>
    </p:spTree>
    <p:extLst>
      <p:ext uri="{BB962C8B-B14F-4D97-AF65-F5344CB8AC3E}">
        <p14:creationId xmlns:p14="http://schemas.microsoft.com/office/powerpoint/2010/main" val="580148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9E8C29B-204C-2E2A-D55E-0DEB8F4BF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6384"/>
            <a:ext cx="10515600" cy="539057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--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Rozpoczęcie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transakcji</a:t>
            </a:r>
            <a:endParaRPr lang="en-US" dirty="0">
              <a:solidFill>
                <a:schemeClr val="bg2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dirty="0"/>
              <a:t>START TRANSACTION;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--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Wstawienie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danych</a:t>
            </a:r>
            <a:br>
              <a:rPr lang="pl-PL" dirty="0"/>
            </a:br>
            <a:r>
              <a:rPr lang="en-US" dirty="0"/>
              <a:t>INSERT INTO employees (</a:t>
            </a:r>
            <a:r>
              <a:rPr lang="en-US" dirty="0" err="1"/>
              <a:t>employee_id</a:t>
            </a:r>
            <a:r>
              <a:rPr lang="en-US" dirty="0"/>
              <a:t>,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, department) VALUES (1, 'John', 'Doe', 'IT');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--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Zatwierdzenie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transakcji</a:t>
            </a:r>
            <a:br>
              <a:rPr lang="pl-PL" dirty="0"/>
            </a:br>
            <a:r>
              <a:rPr lang="en-US" dirty="0"/>
              <a:t>COMMIT;</a:t>
            </a:r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--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Rozpoczęcie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kolejnej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transakcji</a:t>
            </a:r>
            <a:br>
              <a:rPr lang="pl-PL" dirty="0"/>
            </a:br>
            <a:r>
              <a:rPr lang="en-US" dirty="0"/>
              <a:t>START TRANSACTION;</a:t>
            </a:r>
            <a:endParaRPr lang="pl-PL" dirty="0"/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--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Aktualizacja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danych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w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transakcji</a:t>
            </a:r>
            <a:br>
              <a:rPr lang="pl-PL" dirty="0"/>
            </a:br>
            <a:r>
              <a:rPr lang="en-US" dirty="0"/>
              <a:t>UPDATE employees SET department = 'HR' WHERE </a:t>
            </a:r>
            <a:r>
              <a:rPr lang="en-US" dirty="0" err="1"/>
              <a:t>employee_id</a:t>
            </a:r>
            <a:r>
              <a:rPr lang="en-US" dirty="0"/>
              <a:t> = 1;</a:t>
            </a:r>
            <a:endParaRPr lang="pl-PL" dirty="0"/>
          </a:p>
          <a:p>
            <a:pPr marL="0" indent="0">
              <a:buNone/>
            </a:pP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--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Wycofanie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zmian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w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razie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en-US" dirty="0" err="1">
                <a:solidFill>
                  <a:schemeClr val="bg2">
                    <a:lumMod val="50000"/>
                  </a:schemeClr>
                </a:solidFill>
              </a:rPr>
              <a:t>błędu</a:t>
            </a:r>
            <a:br>
              <a:rPr lang="pl-PL" dirty="0"/>
            </a:br>
            <a:r>
              <a:rPr lang="en-US" dirty="0"/>
              <a:t>ROLLBACK;  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475579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B8E130-355A-4BAE-0005-1DD3F8636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Bibliografia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689643C-0B1B-AB4F-45EC-C4945B725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dirty="0"/>
              <a:t>https://www.guru99.com/pl/sql-commands-dbms-query.html</a:t>
            </a:r>
          </a:p>
        </p:txBody>
      </p:sp>
    </p:spTree>
    <p:extLst>
      <p:ext uri="{BB962C8B-B14F-4D97-AF65-F5344CB8AC3E}">
        <p14:creationId xmlns:p14="http://schemas.microsoft.com/office/powerpoint/2010/main" val="3464539060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36BD6BD5557EF4CA6526425B8C6A1DB" ma:contentTypeVersion="3" ma:contentTypeDescription="Create a new document." ma:contentTypeScope="" ma:versionID="fc4260f82b948ef1b9de36abeeb3164e">
  <xsd:schema xmlns:xsd="http://www.w3.org/2001/XMLSchema" xmlns:xs="http://www.w3.org/2001/XMLSchema" xmlns:p="http://schemas.microsoft.com/office/2006/metadata/properties" xmlns:ns2="6f4ad519-54a4-4831-b150-602d719bcc04" targetNamespace="http://schemas.microsoft.com/office/2006/metadata/properties" ma:root="true" ma:fieldsID="bff2b58b3b25d79a121fed470b52d04d" ns2:_="">
    <xsd:import namespace="6f4ad519-54a4-4831-b150-602d719bcc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4ad519-54a4-4831-b150-602d719bcc0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5A9B1A-3307-414D-9CCB-826A6C293425}"/>
</file>

<file path=customXml/itemProps2.xml><?xml version="1.0" encoding="utf-8"?>
<ds:datastoreItem xmlns:ds="http://schemas.openxmlformats.org/officeDocument/2006/customXml" ds:itemID="{F03FD745-E7CD-445C-93F3-1D3A0CCDE1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892FA0-D8DD-4533-8F9C-A6D747A81510}">
  <ds:schemaRefs>
    <ds:schemaRef ds:uri="http://schemas.microsoft.com/office/2006/documentManagement/types"/>
    <ds:schemaRef ds:uri="http://purl.org/dc/elements/1.1/"/>
    <ds:schemaRef ds:uri="94a927ae-f9b7-419f-b0dc-68d7b0a8b07b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5a069365-c728-4c70-8acc-df93ea39e52b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658</TotalTime>
  <Words>1694</Words>
  <Application>Microsoft Office PowerPoint</Application>
  <PresentationFormat>Panoramiczny</PresentationFormat>
  <Paragraphs>130</Paragraphs>
  <Slides>32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32</vt:i4>
      </vt:variant>
    </vt:vector>
  </HeadingPairs>
  <TitlesOfParts>
    <vt:vector size="38" baseType="lpstr">
      <vt:lpstr>Aptos</vt:lpstr>
      <vt:lpstr>Aptos Display</vt:lpstr>
      <vt:lpstr>Arial</vt:lpstr>
      <vt:lpstr>Asap</vt:lpstr>
      <vt:lpstr>Source Sans Pro</vt:lpstr>
      <vt:lpstr>Motyw pakietu Office</vt:lpstr>
      <vt:lpstr>Pytania na egzamin inżynierski z informatyki 2, 14, 26</vt:lpstr>
      <vt:lpstr>Spis treści</vt:lpstr>
      <vt:lpstr>System funkcjonalnie pełny (SFP)</vt:lpstr>
      <vt:lpstr>Systemy funkcjonalnie pełne </vt:lpstr>
      <vt:lpstr>Przykłady SFP</vt:lpstr>
      <vt:lpstr>Dlaczego funkcjonalnie pełne zbiory są istotne?</vt:lpstr>
      <vt:lpstr>Funkcje przełączające.</vt:lpstr>
      <vt:lpstr>Metoda minimalizacji funkcji metodą tablic Karnaugha </vt:lpstr>
      <vt:lpstr>Kod Graya</vt:lpstr>
      <vt:lpstr>Prawo sklejania</vt:lpstr>
      <vt:lpstr>Tablice Karnaugha</vt:lpstr>
      <vt:lpstr>Tablice Karnaugha- warunki obojętne</vt:lpstr>
      <vt:lpstr>Bibliografia</vt:lpstr>
      <vt:lpstr>Twierdzenie Kroneckera - Capellego - rozwiązywanie ogólnych układów równań liniowych w postaci Ax=b</vt:lpstr>
      <vt:lpstr>Twierdzenie Kroneckera-Capellego – teoria</vt:lpstr>
      <vt:lpstr>Twierdzenie Kroneckera-Capellego – Rozwiązywanie równań</vt:lpstr>
      <vt:lpstr>Rząd macierzy</vt:lpstr>
      <vt:lpstr>Bibliografia</vt:lpstr>
      <vt:lpstr>Podstawowe polecenia SQL.</vt:lpstr>
      <vt:lpstr>Podstawowe polecenia SQL. </vt:lpstr>
      <vt:lpstr>Rodzaje SQL</vt:lpstr>
      <vt:lpstr>DQL (Data Query Language)</vt:lpstr>
      <vt:lpstr>Prezentacja programu PowerPoint</vt:lpstr>
      <vt:lpstr>DML (Data Manipulation Language)</vt:lpstr>
      <vt:lpstr>Prezentacja programu PowerPoint</vt:lpstr>
      <vt:lpstr>DDL (Data Definition Language)</vt:lpstr>
      <vt:lpstr>Prezentacja programu PowerPoint</vt:lpstr>
      <vt:lpstr>DCL (Data Control Language)</vt:lpstr>
      <vt:lpstr>Prezentacja programu PowerPoint</vt:lpstr>
      <vt:lpstr>Polecenia do zarządzania transakcjami</vt:lpstr>
      <vt:lpstr>Prezentacja programu PowerPoint</vt:lpstr>
      <vt:lpstr>Bibliografia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Martyna Dawidowicz</dc:creator>
  <cp:lastModifiedBy>Martyna Dawidowicz</cp:lastModifiedBy>
  <cp:revision>6</cp:revision>
  <dcterms:created xsi:type="dcterms:W3CDTF">2025-03-09T20:59:39Z</dcterms:created>
  <dcterms:modified xsi:type="dcterms:W3CDTF">2025-03-17T22:48:42Z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0x010100536BD6BD5557EF4CA6526425B8C6A1DB</vt:lpwstr>
  </property>
</Properties>
</file>