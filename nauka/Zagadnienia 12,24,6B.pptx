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95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9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5" r:id="rId32"/>
    <p:sldId id="286" r:id="rId33"/>
    <p:sldId id="284" r:id="rId34"/>
    <p:sldId id="287" r:id="rId35"/>
    <p:sldId id="288" r:id="rId36"/>
    <p:sldId id="297" r:id="rId37"/>
    <p:sldId id="289" r:id="rId38"/>
    <p:sldId id="290" r:id="rId39"/>
    <p:sldId id="291" r:id="rId40"/>
    <p:sldId id="292" r:id="rId41"/>
    <p:sldId id="293" r:id="rId42"/>
    <p:sldId id="294" r:id="rId43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>
        <p:scale>
          <a:sx n="75" d="100"/>
          <a:sy n="75" d="100"/>
        </p:scale>
        <p:origin x="91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50" Type="http://schemas.openxmlformats.org/officeDocument/2006/relationships/customXml" Target="../customXml/item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customXml" Target="../customXml/item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D15128F-7A7A-671F-C276-6ED4E54672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B64CD0CF-C0AD-550E-E3BC-83C9D408D7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8A8BD1F4-3E5C-A009-F5BE-10A741BC5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5D25-F8C8-41C1-81E0-52A67737C0DC}" type="datetimeFigureOut">
              <a:rPr lang="pl-PL" smtClean="0"/>
              <a:t>06.05.2025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4F6973E9-378D-9C40-989E-EB5FA5119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9FC62D86-3D6A-08E2-3CC3-A5036D3E9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BB9F0-53B8-4FC3-A521-D0FC3E1B1A4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47028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67B9B87-D393-4B61-1464-574060A63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267DAD4-E4BE-822D-EACE-D7ECD0B2D4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8A9B0175-938D-3B90-73B5-91C8C9276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5D25-F8C8-41C1-81E0-52A67737C0DC}" type="datetimeFigureOut">
              <a:rPr lang="pl-PL" smtClean="0"/>
              <a:t>06.05.2025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A156E4FF-0535-EA41-C321-8326C5AB9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4AA8FFE3-7AA1-9ED5-DFD0-7B0BFB583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BB9F0-53B8-4FC3-A521-D0FC3E1B1A4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9686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41667DB-F51F-7188-96BC-1F9D0E7C3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0097991E-D5AA-5A79-28BA-88651B840E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A981DD00-A94C-2255-B75C-E4A9DE41F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5D25-F8C8-41C1-81E0-52A67737C0DC}" type="datetimeFigureOut">
              <a:rPr lang="pl-PL" smtClean="0"/>
              <a:t>06.05.2025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E1F616FE-178E-F440-A2B7-764C9DDB2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E0A65D51-F625-444A-9062-5B99985EE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BB9F0-53B8-4FC3-A521-D0FC3E1B1A4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471447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789E647-6EE0-DBC7-B3C0-9E6F3DE94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5DA46DD-B267-7F80-8D7B-3944DD5A45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D3DC2131-B763-8412-967D-37E7734743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0FA88CBC-C455-F1A5-047D-0BBF26C9D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5D25-F8C8-41C1-81E0-52A67737C0DC}" type="datetimeFigureOut">
              <a:rPr lang="pl-PL" smtClean="0"/>
              <a:t>06.05.2025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89EC3797-9879-28C6-6E76-734412FBD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DF5C6536-12CE-623D-A8F6-822F35F9B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BB9F0-53B8-4FC3-A521-D0FC3E1B1A4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12053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6097140-A670-7AEE-6576-90C0644C3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3E4F13BF-0C6F-CB9B-A7F7-13749F8C69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869D1F7E-0653-C737-45DA-3552CA3A3C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8A29D1F3-3FEF-6871-34F7-36EFA2F698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B56F594F-EF31-D29E-C9C1-DDEE12877F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CDAE9817-6B42-6EFF-3040-A49E2D4E0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5D25-F8C8-41C1-81E0-52A67737C0DC}" type="datetimeFigureOut">
              <a:rPr lang="pl-PL" smtClean="0"/>
              <a:t>06.05.2025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A18885C0-8A1A-ED92-1775-A11009EC9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13665E0C-3496-7D87-5FF1-166D9B61F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BB9F0-53B8-4FC3-A521-D0FC3E1B1A4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228187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E4CD5A6-9326-52CD-BB2A-9C3153BA3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46C5A01B-97C6-6BE7-ECCA-5F9DED955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5D25-F8C8-41C1-81E0-52A67737C0DC}" type="datetimeFigureOut">
              <a:rPr lang="pl-PL" smtClean="0"/>
              <a:t>06.05.2025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35D670AB-2089-33A6-8189-54F5B2E6F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7C12C2EE-E30A-0E59-EB39-67205AA31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BB9F0-53B8-4FC3-A521-D0FC3E1B1A4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185001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B42EF74A-7A39-2F30-EFE4-32907111D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5D25-F8C8-41C1-81E0-52A67737C0DC}" type="datetimeFigureOut">
              <a:rPr lang="pl-PL" smtClean="0"/>
              <a:t>06.05.2025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3D7B7EDA-A43F-5D29-CE60-0F7CB0BAE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C2203777-706E-188A-966B-581C88537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BB9F0-53B8-4FC3-A521-D0FC3E1B1A4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1698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6204E85-FCE9-5C36-9A1D-027C4A0C3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28916AB-49F2-278C-384F-DAC4B328C5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62B6BF8B-AAF7-ED87-7000-87691691E8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7F3DD524-A434-A7A2-0D8A-BCAB7E34B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5D25-F8C8-41C1-81E0-52A67737C0DC}" type="datetimeFigureOut">
              <a:rPr lang="pl-PL" smtClean="0"/>
              <a:t>06.05.2025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A691B248-2DBE-7A1C-85D9-154FC2FF3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DA898643-D00D-8F61-0996-E02292A2F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BB9F0-53B8-4FC3-A521-D0FC3E1B1A4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518324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8C4A177-85D7-E342-4750-89AB88307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0837BB1E-A2C7-9F99-7C63-1E2588A9C4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4ED702B3-C96F-6E91-3FFC-30710EBAC0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C0996084-1FB4-FE32-423E-551BC7930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5D25-F8C8-41C1-81E0-52A67737C0DC}" type="datetimeFigureOut">
              <a:rPr lang="pl-PL" smtClean="0"/>
              <a:t>06.05.2025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7348242A-AC16-C156-786A-4C1F94C5D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A508D58D-B483-91DD-D964-2DC0CEB34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BB9F0-53B8-4FC3-A521-D0FC3E1B1A4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08948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9F1C8E8-FE1B-6816-95DC-6DAE50375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479617FF-F71D-D227-10C2-BACEF5219E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2067E5A0-998A-1C07-1D72-AFC42E187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5D25-F8C8-41C1-81E0-52A67737C0DC}" type="datetimeFigureOut">
              <a:rPr lang="pl-PL" smtClean="0"/>
              <a:t>06.05.2025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6FF68C7C-57E8-61EB-2D0C-BBBC5E9DF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AAA5564D-77A2-19F0-0FD3-FFD69724D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BB9F0-53B8-4FC3-A521-D0FC3E1B1A4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47924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4491C08F-D646-AD29-E914-EE70068F2B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EF77362A-AC45-46D1-662C-AA15ECCBA1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22EAF475-B9AD-F362-4C38-8EB2C1E95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85D25-F8C8-41C1-81E0-52A67737C0DC}" type="datetimeFigureOut">
              <a:rPr lang="pl-PL" smtClean="0"/>
              <a:t>06.05.2025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F81AC3D4-0FBC-3DCB-0D1B-30727839E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C80C127A-A07E-6AAD-109A-2F807EF91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BB9F0-53B8-4FC3-A521-D0FC3E1B1A4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639440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7DB2BC31-F8BE-DE7E-6CF0-F7C8A499B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A00CC2E0-3B11-3EA6-2CF0-E8BA79FFC9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C2EAC110-3944-4B1F-ADF5-C1CC134223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D85D25-F8C8-41C1-81E0-52A67737C0DC}" type="datetimeFigureOut">
              <a:rPr lang="pl-PL" smtClean="0"/>
              <a:t>06.05.2025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B135696F-A56C-DE50-DADD-8D4B310365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8A68850A-64D7-259C-3E64-557B4B69C4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5BB9F0-53B8-4FC3-A521-D0FC3E1B1A4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92914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hyperlink" Target="https://tutorial.math.lamar.edu/Classes/DE/FourierSeries.aspx" TargetMode="External"/><Relationship Id="rId3" Type="http://schemas.openxmlformats.org/officeDocument/2006/relationships/hyperlink" Target="https://wyznacznik.pl/analiza/pochodne-funkcji-wielu-zmiennych" TargetMode="External"/><Relationship Id="rId7" Type="http://schemas.openxmlformats.org/officeDocument/2006/relationships/hyperlink" Target="https://www.fourier-transform.com/" TargetMode="External"/><Relationship Id="rId2" Type="http://schemas.openxmlformats.org/officeDocument/2006/relationships/hyperlink" Target="https://pl.wikipedia.org/wiki/Pochodna_cz%C4%85stkowa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watch?v=mqbi7V4Dd5M" TargetMode="External"/><Relationship Id="rId5" Type="http://schemas.openxmlformats.org/officeDocument/2006/relationships/hyperlink" Target="https://www.istqb.org/sdm_downloads/istqb-certified-tester-foundation-level-syllabus-v4-0/" TargetMode="External"/><Relationship Id="rId4" Type="http://schemas.openxmlformats.org/officeDocument/2006/relationships/hyperlink" Target="https://etrapez.pl/" TargetMode="Externa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DEEDDB3E-C8E9-30B1-C3E6-99DE0F9382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451381"/>
            <a:ext cx="10512552" cy="4066540"/>
          </a:xfrm>
        </p:spPr>
        <p:txBody>
          <a:bodyPr anchor="b">
            <a:normAutofit/>
          </a:bodyPr>
          <a:lstStyle/>
          <a:p>
            <a:pPr algn="l"/>
            <a:r>
              <a:rPr lang="pl-PL" sz="6600" dirty="0"/>
              <a:t>Zagadnienia 12, 24, 6B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CA1F06C4-8959-8024-A741-B255EC7653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9" y="4983276"/>
            <a:ext cx="10512552" cy="1126680"/>
          </a:xfrm>
        </p:spPr>
        <p:txBody>
          <a:bodyPr>
            <a:normAutofit/>
          </a:bodyPr>
          <a:lstStyle/>
          <a:p>
            <a:pPr algn="l"/>
            <a:r>
              <a:rPr lang="pl-PL" dirty="0"/>
              <a:t>Mateusz Pękalak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3714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1FF0C5F3-A8D0-2824-F613-44D389ED9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pl-PL" sz="5400" b="1"/>
              <a:t>Pochodna funkcji wielu zmiennych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B2B6486-CD16-4BA1-71A1-2B847DCADD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pl-PL" sz="2200" dirty="0"/>
              <a:t>Pochodna cząstkowa</a:t>
            </a:r>
          </a:p>
          <a:p>
            <a:r>
              <a:rPr lang="pl-PL" sz="2200" dirty="0"/>
              <a:t>Pochodna kierunkowa</a:t>
            </a:r>
          </a:p>
          <a:p>
            <a:r>
              <a:rPr lang="pl-PL" sz="2200" dirty="0"/>
              <a:t>Pochodne wyższych rzędów</a:t>
            </a:r>
          </a:p>
          <a:p>
            <a:r>
              <a:rPr lang="pl-PL" sz="2200" dirty="0"/>
              <a:t>Macierz Hessego i warunki na ekstremum</a:t>
            </a:r>
          </a:p>
          <a:p>
            <a:r>
              <a:rPr lang="pl-PL" sz="2200" dirty="0"/>
              <a:t>Ekstrema warunkowe — mnożniki </a:t>
            </a:r>
            <a:r>
              <a:rPr lang="pl-PL" sz="2200" dirty="0" err="1"/>
              <a:t>Lagrange’a</a:t>
            </a:r>
            <a:endParaRPr lang="pl-PL" sz="2200" dirty="0"/>
          </a:p>
          <a:p>
            <a:r>
              <a:rPr lang="pl-PL" sz="2200" dirty="0"/>
              <a:t>Warunki konieczne i dostateczne istnienia ekstremów</a:t>
            </a:r>
          </a:p>
        </p:txBody>
      </p:sp>
    </p:spTree>
    <p:extLst>
      <p:ext uri="{BB962C8B-B14F-4D97-AF65-F5344CB8AC3E}">
        <p14:creationId xmlns:p14="http://schemas.microsoft.com/office/powerpoint/2010/main" val="18664870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68C3E626-2769-8F01-4B12-7E396AA1E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pl-PL" sz="5400" b="1"/>
              <a:t>Pochodna cząstkowa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ymbol zastępczy zawartości 2">
                <a:extLst>
                  <a:ext uri="{FF2B5EF4-FFF2-40B4-BE49-F238E27FC236}">
                    <a16:creationId xmlns:a16="http://schemas.microsoft.com/office/drawing/2014/main" id="{B39F7E03-084F-D703-119F-AAD72A25E05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929384"/>
                <a:ext cx="10515600" cy="4251960"/>
              </a:xfrm>
            </p:spPr>
            <p:txBody>
              <a:bodyPr>
                <a:normAutofit/>
              </a:bodyPr>
              <a:lstStyle/>
              <a:p>
                <a:r>
                  <a:rPr lang="pl-PL" sz="2200"/>
                  <a:t>Pochodna cząstkowa to pojęcie, które pozwala na badanie, jak funkcja zmienia się względem jednej zmiennej, traktując pozostałe zmienne jako stałe. Jest to bardzo ważny temat w analizie funkcji wielu zmiennych.</a:t>
                </a:r>
              </a:p>
              <a:p>
                <a:endParaRPr lang="pl-PL" sz="2200"/>
              </a:p>
              <a:p>
                <a:pPr marL="0" indent="0">
                  <a:buNone/>
                </a:pPr>
                <a:r>
                  <a:rPr lang="pl-PL" sz="2200"/>
                  <a:t>Pochodna w określonym punkcie 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l-PL" sz="2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l-PL" sz="22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l-PL" sz="2200" i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pl-PL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pl-PL" sz="2200" b="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pl-PL" sz="2200" b="0" i="1">
                                <a:latin typeface="Cambria Math" panose="02040503050406030204" pitchFamily="18" charset="0"/>
                              </a:rPr>
                              <m:t>→0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pl-PL" sz="2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l-PL" sz="2200" b="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pl-PL" sz="2200" b="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pl-PL" sz="22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l-PL" sz="2200" b="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pl-PL" sz="2200" b="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pl-PL" sz="2200" b="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pl-PL" sz="22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∆</m:t>
                                </m:r>
                                <m:r>
                                  <a:rPr lang="pl-PL" sz="22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pl-PL" sz="2200" b="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pl-PL" sz="2200" b="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pl-PL" sz="2200" b="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pl-PL" sz="2200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l-PL" sz="2200" b="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pl-PL" sz="2200" b="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pl-PL" sz="2200" b="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pl-PL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pl-PL" sz="2200" b="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func>
                  </m:oMath>
                </a14:m>
                <a:endParaRPr lang="pl-PL" sz="2200"/>
              </a:p>
              <a:p>
                <a:pPr marL="0" indent="0">
                  <a:buNone/>
                </a:pPr>
                <a:endParaRPr lang="pl-PL" sz="2200"/>
              </a:p>
              <a:p>
                <a:pPr marL="0" indent="0">
                  <a:buNone/>
                </a:pPr>
                <a:r>
                  <a:rPr lang="pl-PL" sz="2200"/>
                  <a:t>Pochodna w dowolnym punkcie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pl-PL" sz="2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l-PL" sz="22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l-PL" sz="2200" i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pl-PL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pl-PL" sz="2200" b="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pl-PL" sz="2200" b="0" i="1">
                                <a:latin typeface="Cambria Math" panose="02040503050406030204" pitchFamily="18" charset="0"/>
                              </a:rPr>
                              <m:t>→0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pl-PL" sz="2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l-PL" sz="2200" b="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pl-PL" sz="2200" b="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l-PL" sz="2200" b="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pl-PL" sz="2200" b="0" i="1">
                                    <a:latin typeface="Cambria Math" panose="02040503050406030204" pitchFamily="18" charset="0"/>
                                  </a:rPr>
                                  <m:t>+∆</m:t>
                                </m:r>
                                <m:r>
                                  <a:rPr lang="pl-PL" sz="22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pl-PL" sz="2200" b="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pl-PL" sz="2200" b="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pl-PL" sz="2200" b="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pl-PL" sz="2200" b="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pl-PL" sz="2200" b="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pl-PL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pl-PL" sz="2200" b="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func>
                  </m:oMath>
                </a14:m>
                <a:endParaRPr lang="pl-PL" sz="2200"/>
              </a:p>
            </p:txBody>
          </p:sp>
        </mc:Choice>
        <mc:Fallback xmlns="">
          <p:sp>
            <p:nvSpPr>
              <p:cNvPr id="3" name="Symbol zastępczy zawartości 2">
                <a:extLst>
                  <a:ext uri="{FF2B5EF4-FFF2-40B4-BE49-F238E27FC236}">
                    <a16:creationId xmlns:a16="http://schemas.microsoft.com/office/drawing/2014/main" id="{B39F7E03-084F-D703-119F-AAD72A25E0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929384"/>
                <a:ext cx="10515600" cy="4251960"/>
              </a:xfrm>
              <a:blipFill>
                <a:blip r:embed="rId2"/>
                <a:stretch>
                  <a:fillRect l="-754" t="-1722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0430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E67D44AB-B169-EC11-7A85-2AD80E521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/>
              <a:t>Przydatne wzory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Obraz 6" descr="Obraz zawierający tekst, Czcionka, diagram, pismo odręczne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4C0824FB-094F-EB3D-BD66-F6B3FE6036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6436" y="2283014"/>
            <a:ext cx="3777035" cy="3605784"/>
          </a:xfrm>
          <a:prstGeom prst="rect">
            <a:avLst/>
          </a:prstGeom>
        </p:spPr>
      </p:pic>
      <p:pic>
        <p:nvPicPr>
          <p:cNvPr id="5" name="Symbol zastępczy zawartości 4" descr="Obraz zawierający tekst, zrzut ekranu, Czcionka, numer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752A0295-20B7-DD26-58E5-A765801C58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783" y="2283014"/>
            <a:ext cx="4229658" cy="3605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5940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66412D8B-C62A-54AB-2481-EB62554E4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pl-PL" sz="5400" b="1"/>
              <a:t>Pochodna kierunkowa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ymbol zastępczy zawartości 2">
                <a:extLst>
                  <a:ext uri="{FF2B5EF4-FFF2-40B4-BE49-F238E27FC236}">
                    <a16:creationId xmlns:a16="http://schemas.microsoft.com/office/drawing/2014/main" id="{F07698BA-2D43-508E-0708-987840E864B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929384"/>
                <a:ext cx="10515600" cy="4251960"/>
              </a:xfrm>
            </p:spPr>
            <p:txBody>
              <a:bodyPr>
                <a:normAutofit/>
              </a:bodyPr>
              <a:lstStyle/>
              <a:p>
                <a:r>
                  <a:rPr lang="pl-PL" sz="2000"/>
                  <a:t>Pochodna kierunkowa jest uogólnieniem pojęcia pochodnej cząstkowej na dowolne kierunki, przy czym pochodne cząstkowe są tożsame z pochodnymi w kierunkach wektorów jednostkowych bazy układu współrzędnych.</a:t>
                </a:r>
              </a:p>
              <a:p>
                <a:endParaRPr lang="pl-PL" sz="2000"/>
              </a:p>
              <a:p>
                <a:r>
                  <a:rPr lang="pl-PL" sz="2000"/>
                  <a:t>Jeżeli istnieje gradient funkcji</a:t>
                </a:r>
                <a14:m>
                  <m:oMath xmlns:m="http://schemas.openxmlformats.org/officeDocument/2006/math">
                    <m:r>
                      <a:rPr lang="pl-PL" sz="2000" b="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pl-PL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pl-PL" sz="20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pl-PL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l-PL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pl-PL" sz="2000"/>
                  <a:t> w punkcie </a:t>
                </a:r>
                <a14:m>
                  <m:oMath xmlns:m="http://schemas.openxmlformats.org/officeDocument/2006/math">
                    <m:r>
                      <a:rPr lang="pl-PL" sz="2000" b="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pl-PL" sz="2000"/>
              </a:p>
              <a:p>
                <a:pPr marL="0" indent="0">
                  <a:buNone/>
                </a:pPr>
                <a:endParaRPr lang="pl-PL" sz="2000"/>
              </a:p>
              <a:p>
                <a:pPr marL="457200" lvl="1" indent="0">
                  <a:buNone/>
                </a:pPr>
                <a:r>
                  <a:rPr lang="pl-PL" sz="2000"/>
                  <a:t>			Gradient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l-PL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pl-PL" sz="20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pl-PL" sz="20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d>
                      <m:dPr>
                        <m:begChr m:val="["/>
                        <m:endChr m:val="]"/>
                        <m:ctrlPr>
                          <a:rPr lang="pl-PL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pl-PL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l-PL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pl-PL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num>
                          <m:den>
                            <m:r>
                              <a:rPr lang="pl-PL" sz="20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pl-PL" sz="20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l-PL" sz="20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pl-PL" sz="20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  <m:r>
                          <a:rPr lang="pl-PL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,…,</m:t>
                        </m:r>
                        <m:f>
                          <m:fPr>
                            <m:ctrlPr>
                              <a:rPr lang="pl-PL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l-PL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pl-PL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num>
                          <m:den>
                            <m:r>
                              <a:rPr lang="pl-PL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pl-PL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l-PL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pl-PL" sz="20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endParaRPr lang="pl-PL" sz="2000"/>
              </a:p>
              <a:p>
                <a:pPr marL="457200" lvl="1" indent="0">
                  <a:buNone/>
                </a:pPr>
                <a:endParaRPr lang="pl-PL" sz="2000"/>
              </a:p>
              <a:p>
                <a:pPr marL="457200" lvl="1" indent="0">
                  <a:buNone/>
                </a:pPr>
                <a:r>
                  <a:rPr lang="pl-PL" sz="2000"/>
                  <a:t>to pochodna kierunkowa funkcji f w kierunku wektora u jest równa iloczynowi skalarnemu gradientu funkcji f i wektora u.</a:t>
                </a:r>
              </a:p>
              <a:p>
                <a:pPr marL="457200" lvl="1" indent="0">
                  <a:buNone/>
                </a:pPr>
                <a:endParaRPr lang="pl-PL" sz="200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l-PL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pl-PL" sz="2000" b="0" i="1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r>
                        <a:rPr lang="pl-PL" sz="2000" b="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pl-PL" sz="20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sz="2000" b="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l-PL" sz="2000" b="0" i="1"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sty m:val="p"/>
                        </m:rPr>
                        <a:rPr lang="pl-PL" sz="20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pl-PL" sz="20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pl-PL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sz="20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l-PL" sz="20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r>
                        <a:rPr lang="pl-PL" sz="20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pl-PL" sz="2000"/>
              </a:p>
            </p:txBody>
          </p:sp>
        </mc:Choice>
        <mc:Fallback xmlns="">
          <p:sp>
            <p:nvSpPr>
              <p:cNvPr id="3" name="Symbol zastępczy zawartości 2">
                <a:extLst>
                  <a:ext uri="{FF2B5EF4-FFF2-40B4-BE49-F238E27FC236}">
                    <a16:creationId xmlns:a16="http://schemas.microsoft.com/office/drawing/2014/main" id="{F07698BA-2D43-508E-0708-987840E864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929384"/>
                <a:ext cx="10515600" cy="4251960"/>
              </a:xfrm>
              <a:blipFill>
                <a:blip r:embed="rId2"/>
                <a:stretch>
                  <a:fillRect l="-522" t="-1435" r="-754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40279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E37928E2-7448-631B-C0F0-65EA636F0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pl-PL" sz="5400"/>
              <a:t>Przykład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ymbol zastępczy zawartości 2">
                <a:extLst>
                  <a:ext uri="{FF2B5EF4-FFF2-40B4-BE49-F238E27FC236}">
                    <a16:creationId xmlns:a16="http://schemas.microsoft.com/office/drawing/2014/main" id="{19F7F947-EF95-2D6E-27DA-82E8D405B9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929384"/>
                <a:ext cx="10515600" cy="4251960"/>
              </a:xfrm>
            </p:spPr>
            <p:txBody>
              <a:bodyPr>
                <a:normAutofit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pl-PL" sz="2200"/>
                  <a:t>Niech będzie dana funkcja </a:t>
                </a:r>
                <a14:m>
                  <m:oMath xmlns:m="http://schemas.openxmlformats.org/officeDocument/2006/math">
                    <m:r>
                      <a:rPr lang="pl-PL" sz="22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pl-PL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l-PL" sz="22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pl-PL" sz="2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l-PL" sz="2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pl-PL" sz="22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pl-PL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l-PL" sz="2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pl-PL" sz="2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l-PL" sz="22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pl-PL" sz="2200" i="1">
                        <a:latin typeface="Cambria Math" panose="02040503050406030204" pitchFamily="18" charset="0"/>
                      </a:rPr>
                      <m:t>𝑥𝑦</m:t>
                    </m:r>
                    <m:r>
                      <a:rPr lang="pl-PL" sz="2200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pl-PL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l-PL" sz="2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pl-PL" sz="2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pl-PL" sz="220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pl-PL" sz="2200"/>
                  <a:t>Gradient funkcji f wynosi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l-PL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pl-PL" sz="22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pl-PL" sz="2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l-PL" sz="2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pl-PL" sz="2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pl-PL" sz="2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pl-PL" sz="22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pl-PL" sz="2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pl-PL" sz="22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l-PL" sz="22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pl-PL" sz="22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pl-PL" sz="22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pl-PL" sz="22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pl-PL" sz="22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pl-PL" sz="22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pl-PL" sz="22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pl-PL" sz="22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pl-PL" sz="22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a:rPr lang="pl-PL" sz="2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pl-PL" sz="22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l-PL" sz="22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pl-PL" sz="22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pl-PL" sz="22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pl-PL" sz="22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pl-PL" sz="22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pl-PL" sz="22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pl-PL" sz="22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pl-PL" sz="22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pl-PL" sz="22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e>
                    </m:d>
                  </m:oMath>
                </a14:m>
                <a:r>
                  <a:rPr lang="pl-PL" sz="2200"/>
                  <a:t>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pl-PL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l-PL" sz="2200" b="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pl-PL" sz="2200" b="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pl-PL" sz="2200" b="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pl-PL" sz="2200" b="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pl-PL" sz="2200" b="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l-PL" sz="2200" b="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pl-PL" sz="2200" b="0" i="1"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pl-PL" sz="2200" b="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pl-PL" sz="220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pl-PL" sz="2200"/>
                  <a:t>Pochodna kierunkowa funkcji f w kierunku jednostkowego wektora </a:t>
                </a:r>
                <a14:m>
                  <m:oMath xmlns:m="http://schemas.openxmlformats.org/officeDocument/2006/math">
                    <m:r>
                      <a:rPr lang="pl-PL" sz="2200" b="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pl-PL" sz="2200" b="0" i="1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["/>
                        <m:endChr m:val="]"/>
                        <m:ctrlPr>
                          <a:rPr lang="pl-PL" sz="22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pl-PL" sz="2200" b="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l-PL" sz="2200" b="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pl-PL" sz="2200" b="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pl-PL" sz="2200" b="0" i="1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den>
                        </m:f>
                        <m:r>
                          <a:rPr lang="pl-PL" sz="2200" b="0" i="1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pl-PL" sz="2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l-PL" sz="2200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pl-PL" sz="22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pl-PL" sz="2200" i="1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lang="pl-PL" sz="2200"/>
                  <a:t> dana jest zależnością</a:t>
                </a:r>
              </a:p>
              <a:p>
                <a:pPr marL="914400" lvl="2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l-PL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pl-PL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pl-PL" sz="2200" b="0" i="1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  <m:r>
                      <a:rPr lang="pl-PL" sz="2200" b="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pl-PL" sz="22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l-PL" sz="2200" b="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pl-PL" sz="2200" b="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l-PL" sz="2200" b="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pl-PL" sz="2200" b="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pl-PL" sz="22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pl-PL" sz="22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pl-PL" sz="2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l-PL" sz="2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pl-PL" sz="2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pl-PL" sz="2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pl-PL" sz="22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</m:t>
                    </m:r>
                    <m:r>
                      <a:rPr lang="pl-PL" sz="22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  <m:r>
                      <a:rPr lang="pl-PL" sz="22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d>
                      <m:dPr>
                        <m:begChr m:val="["/>
                        <m:endChr m:val="]"/>
                        <m:ctrlPr>
                          <a:rPr lang="pl-PL" sz="2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l-PL" sz="2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pl-PL" sz="2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pl-PL" sz="2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pl-PL" sz="2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pl-PL" sz="2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pl-PL" sz="2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pl-PL" sz="2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−2</m:t>
                        </m:r>
                        <m:r>
                          <a:rPr lang="pl-PL" sz="2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pl-PL" sz="2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pl-PL" sz="2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l-PL" sz="2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pl-PL" sz="22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pl-PL" sz="2200" i="1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den>
                        </m:f>
                        <m:r>
                          <a:rPr lang="pl-PL" sz="2200" i="1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pl-PL" sz="2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l-PL" sz="2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pl-PL" sz="22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pl-PL" sz="2200" i="1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lang="pl-PL" sz="2200"/>
                  <a:t>,</a:t>
                </a:r>
              </a:p>
              <a:p>
                <a:pPr marL="914400" lvl="2" indent="0">
                  <a:buNone/>
                </a:pPr>
                <a:endParaRPr lang="pl-PL" sz="2200"/>
              </a:p>
              <a:p>
                <a:pPr marL="914400" lvl="2" indent="0">
                  <a:buNone/>
                </a:pPr>
                <a:r>
                  <a:rPr lang="pl-PL" sz="2200"/>
                  <a:t>Czyli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pl-PL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pl-PL" sz="2200" b="0" i="1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  <m:r>
                      <a:rPr lang="pl-PL" sz="2200" b="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pl-PL" sz="22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l-PL" sz="2200" b="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pl-PL" sz="2200" b="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l-PL" sz="2200" b="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pl-PL" sz="2200" b="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l-PL" sz="2200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l-PL" sz="2200" b="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pl-PL" sz="2200" b="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pl-PL" sz="2200" b="0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  <m:d>
                      <m:dPr>
                        <m:ctrlPr>
                          <a:rPr lang="pl-PL" sz="22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l-PL" sz="2200" b="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pl-PL" sz="2200" b="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pl-PL" sz="2200" b="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pl-PL" sz="2200" b="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pl-PL" sz="2200" b="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pl-PL" sz="2200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l-PL" sz="2200" b="0" i="1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pl-PL" sz="2200" b="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pl-PL" sz="2200" b="0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  <m:d>
                      <m:dPr>
                        <m:ctrlPr>
                          <a:rPr lang="pl-PL" sz="22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l-PL" sz="2200" b="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pl-PL" sz="2200" b="0" i="1"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pl-PL" sz="2200" b="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pl-PL" sz="2200" b="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l-PL" sz="2200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l-PL" sz="2200" b="0" i="1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pl-PL" sz="2200" b="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pl-PL" sz="2200" b="0" i="1">
                            <a:latin typeface="Cambria Math" panose="02040503050406030204" pitchFamily="18" charset="0"/>
                          </a:rPr>
                          <m:t>−3</m:t>
                        </m:r>
                        <m:r>
                          <a:rPr lang="pl-PL" sz="2200" b="0" i="1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pl-PL" sz="2200" b="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pl-PL" sz="2200" b="0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endParaRPr lang="pl-PL" sz="2200"/>
              </a:p>
              <a:p>
                <a:pPr marL="0" indent="0">
                  <a:buNone/>
                </a:pPr>
                <a:endParaRPr lang="pl-PL" sz="2200"/>
              </a:p>
              <a:p>
                <a:pPr marL="0" indent="0">
                  <a:buNone/>
                </a:pPr>
                <a:endParaRPr lang="pl-PL" sz="2200" b="0"/>
              </a:p>
            </p:txBody>
          </p:sp>
        </mc:Choice>
        <mc:Fallback xmlns="">
          <p:sp>
            <p:nvSpPr>
              <p:cNvPr id="3" name="Symbol zastępczy zawartości 2">
                <a:extLst>
                  <a:ext uri="{FF2B5EF4-FFF2-40B4-BE49-F238E27FC236}">
                    <a16:creationId xmlns:a16="http://schemas.microsoft.com/office/drawing/2014/main" id="{19F7F947-EF95-2D6E-27DA-82E8D405B9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929384"/>
                <a:ext cx="10515600" cy="4251960"/>
              </a:xfrm>
              <a:blipFill>
                <a:blip r:embed="rId2"/>
                <a:stretch>
                  <a:fillRect l="-812" t="-1865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69722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A15F7839-D91F-19F7-E236-247DC0B04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pl-PL" sz="5400"/>
              <a:t>Pochodne wyższych rzędów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7929559-31CF-8351-535D-D5BA7BCA0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l-PL" sz="2200"/>
              <a:t>Pochodna wyższego rzędu funkcji to pochodna uzyskana poprzez wielokrotne zastosowanie operacji różniczkowania. Formalnie, pochodna n-tego rzędu funkcji f oznacza wynik zastosowania operacji różniczkowania n razy względem zmiennej niezależnej.</a:t>
            </a:r>
          </a:p>
          <a:p>
            <a:pPr>
              <a:buNone/>
            </a:pPr>
            <a:r>
              <a:rPr lang="pl-PL" sz="2200"/>
              <a:t>Dla funkcji f(x)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sz="2200"/>
              <a:t>f′(x) to pochodna pierwszego rzędu,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sz="2200"/>
              <a:t>f′′(x) to pochodna drugiego rzędu (pochodna pochodnej f′(x)),</a:t>
            </a:r>
          </a:p>
          <a:p>
            <a:pPr marL="0" indent="0">
              <a:buNone/>
            </a:pPr>
            <a:endParaRPr lang="pl-PL" sz="2200"/>
          </a:p>
        </p:txBody>
      </p:sp>
    </p:spTree>
    <p:extLst>
      <p:ext uri="{BB962C8B-B14F-4D97-AF65-F5344CB8AC3E}">
        <p14:creationId xmlns:p14="http://schemas.microsoft.com/office/powerpoint/2010/main" val="4830766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300FF963-B884-5D2A-446E-F94D5CA89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pl-PL" sz="5400"/>
              <a:t>Przykłady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ymbol zastępczy zawartości 2">
                <a:extLst>
                  <a:ext uri="{FF2B5EF4-FFF2-40B4-BE49-F238E27FC236}">
                    <a16:creationId xmlns:a16="http://schemas.microsoft.com/office/drawing/2014/main" id="{E985A94C-F71A-EFCF-D202-54757FB23E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929384"/>
                <a:ext cx="10515600" cy="4251960"/>
              </a:xfrm>
            </p:spPr>
            <p:txBody>
              <a:bodyPr>
                <a:normAutofit/>
              </a:bodyPr>
              <a:lstStyle/>
              <a:p>
                <a:r>
                  <a:rPr lang="pl-PL" sz="2000"/>
                  <a:t>Funkcja </a:t>
                </a:r>
                <a14:m>
                  <m:oMath xmlns:m="http://schemas.openxmlformats.org/officeDocument/2006/math">
                    <m:r>
                      <a:rPr lang="pl-PL" sz="2000" b="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pl-PL" sz="20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l-PL" sz="2000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pl-PL" sz="2000" b="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pl-PL" sz="20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l-PL" sz="2000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pl-PL" sz="2000" b="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pl-PL" sz="2000" b="0"/>
              </a:p>
              <a:p>
                <a:pPr marL="0" indent="0">
                  <a:buNone/>
                </a:pPr>
                <a:r>
                  <a:rPr lang="pl-PL" sz="2000"/>
                  <a:t>	Pierwsza pochodna: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0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l-PL" sz="2000" b="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pl-PL" sz="2000" b="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pl-PL" sz="20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l-PL" sz="2000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pl-PL" sz="2000" b="0" i="1">
                        <a:latin typeface="Cambria Math" panose="02040503050406030204" pitchFamily="18" charset="0"/>
                      </a:rPr>
                      <m:t>=3</m:t>
                    </m:r>
                    <m:sSup>
                      <m:sSupPr>
                        <m:ctrlPr>
                          <a:rPr lang="pl-PL" sz="20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l-PL" sz="2000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pl-PL" sz="2000" b="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pl-PL" sz="2000"/>
              </a:p>
              <a:p>
                <a:pPr marL="0" indent="0">
                  <a:buNone/>
                </a:pPr>
                <a:r>
                  <a:rPr lang="pl-PL" sz="2000"/>
                  <a:t>	 Druga pochodna: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0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l-PL" sz="2000" b="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pl-PL" sz="2000" b="0" i="1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p>
                    <m:d>
                      <m:dPr>
                        <m:ctrlPr>
                          <a:rPr lang="pl-PL" sz="20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l-PL" sz="2000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pl-PL" sz="2000" b="0" i="1">
                        <a:latin typeface="Cambria Math" panose="02040503050406030204" pitchFamily="18" charset="0"/>
                      </a:rPr>
                      <m:t>=6</m:t>
                    </m:r>
                    <m:r>
                      <a:rPr lang="pl-PL" sz="2000" b="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pl-PL" sz="2000"/>
              </a:p>
              <a:p>
                <a:pPr marL="0" indent="0">
                  <a:buNone/>
                </a:pPr>
                <a:r>
                  <a:rPr lang="pl-PL" sz="2000"/>
                  <a:t>	 Trzecia pochodna: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0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l-PL" sz="2000" b="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pl-PL" sz="2000" b="0" i="1">
                            <a:latin typeface="Cambria Math" panose="02040503050406030204" pitchFamily="18" charset="0"/>
                          </a:rPr>
                          <m:t>′′′</m:t>
                        </m:r>
                      </m:sup>
                    </m:sSup>
                    <m:d>
                      <m:dPr>
                        <m:ctrlPr>
                          <a:rPr lang="pl-PL" sz="20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l-PL" sz="2000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pl-PL" sz="2000" b="0" i="1"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endParaRPr lang="pl-PL" sz="2000"/>
              </a:p>
              <a:p>
                <a:pPr marL="0" indent="0">
                  <a:buNone/>
                </a:pPr>
                <a:r>
                  <a:rPr lang="pl-PL" sz="2000"/>
                  <a:t>	 Czwarta pochodna: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0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l-PL" sz="2000" b="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pl-PL" sz="2000" b="0" i="1">
                            <a:latin typeface="Cambria Math" panose="02040503050406030204" pitchFamily="18" charset="0"/>
                          </a:rPr>
                          <m:t>′′′′</m:t>
                        </m:r>
                      </m:sup>
                    </m:sSup>
                    <m:d>
                      <m:dPr>
                        <m:ctrlPr>
                          <a:rPr lang="pl-PL" sz="20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l-PL" sz="2000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pl-PL" sz="2000" b="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pl-PL" sz="2000"/>
              </a:p>
              <a:p>
                <a:r>
                  <a:rPr lang="pl-PL" sz="2000"/>
                  <a:t>Funkcja </a:t>
                </a:r>
                <a14:m>
                  <m:oMath xmlns:m="http://schemas.openxmlformats.org/officeDocument/2006/math">
                    <m:r>
                      <a:rPr lang="pl-PL" sz="2000" b="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pl-PL" sz="20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l-PL" sz="2000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pl-PL" sz="2000" b="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pl-PL" sz="2000" b="0" i="0">
                        <a:latin typeface="Cambria Math" panose="02040503050406030204" pitchFamily="18" charset="0"/>
                      </a:rPr>
                      <m:t>sin</m:t>
                    </m:r>
                    <m:r>
                      <a:rPr lang="pl-PL" sz="2000" b="0" i="1">
                        <a:latin typeface="Cambria Math" panose="02040503050406030204" pitchFamily="18" charset="0"/>
                      </a:rPr>
                      <m:t>⁡(</m:t>
                    </m:r>
                    <m:r>
                      <a:rPr lang="pl-PL" sz="2000" b="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pl-PL" sz="2000" b="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l-PL" sz="2000" b="0"/>
              </a:p>
              <a:p>
                <a:pPr marL="0" indent="0">
                  <a:buNone/>
                </a:pPr>
                <a:r>
                  <a:rPr lang="pl-PL" sz="2000"/>
                  <a:t>	Pierwsza pochodna: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0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l-PL" sz="2000" b="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pl-PL" sz="2000" b="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pl-PL" sz="20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l-PL" sz="2000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pl-PL" sz="2000" b="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pl-PL" sz="2000" b="0" i="0">
                        <a:latin typeface="Cambria Math" panose="02040503050406030204" pitchFamily="18" charset="0"/>
                      </a:rPr>
                      <m:t>cos</m:t>
                    </m:r>
                    <m:r>
                      <a:rPr lang="pl-PL" sz="2000" b="0" i="1">
                        <a:latin typeface="Cambria Math" panose="02040503050406030204" pitchFamily="18" charset="0"/>
                      </a:rPr>
                      <m:t>⁡(</m:t>
                    </m:r>
                    <m:r>
                      <a:rPr lang="pl-PL" sz="2000" b="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pl-PL" sz="2000" b="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l-PL" sz="2000"/>
              </a:p>
              <a:p>
                <a:pPr marL="0" indent="0">
                  <a:buNone/>
                </a:pPr>
                <a:r>
                  <a:rPr lang="pl-PL" sz="2000"/>
                  <a:t>	 Druga pochodna: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0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l-PL" sz="2000" b="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pl-PL" sz="2000" b="0" i="1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p>
                    <m:d>
                      <m:dPr>
                        <m:ctrlPr>
                          <a:rPr lang="pl-PL" sz="20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l-PL" sz="2000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pl-PL" sz="2000" b="0" i="1">
                        <a:latin typeface="Cambria Math" panose="02040503050406030204" pitchFamily="18" charset="0"/>
                      </a:rPr>
                      <m:t>=−</m:t>
                    </m:r>
                    <m:r>
                      <m:rPr>
                        <m:sty m:val="p"/>
                      </m:rPr>
                      <a:rPr lang="pl-PL" sz="2000" b="0" i="0">
                        <a:latin typeface="Cambria Math" panose="02040503050406030204" pitchFamily="18" charset="0"/>
                      </a:rPr>
                      <m:t>sin</m:t>
                    </m:r>
                    <m:r>
                      <a:rPr lang="pl-PL" sz="2000" b="0" i="1">
                        <a:latin typeface="Cambria Math" panose="02040503050406030204" pitchFamily="18" charset="0"/>
                      </a:rPr>
                      <m:t>⁡(</m:t>
                    </m:r>
                    <m:r>
                      <a:rPr lang="pl-PL" sz="2000" b="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pl-PL" sz="2000" b="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l-PL" sz="2000"/>
              </a:p>
              <a:p>
                <a:pPr marL="0" indent="0">
                  <a:buNone/>
                </a:pPr>
                <a:r>
                  <a:rPr lang="pl-PL" sz="2000"/>
                  <a:t>	 Trzecia pochodna: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0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l-PL" sz="2000" b="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pl-PL" sz="2000" b="0" i="1">
                            <a:latin typeface="Cambria Math" panose="02040503050406030204" pitchFamily="18" charset="0"/>
                          </a:rPr>
                          <m:t>′′′</m:t>
                        </m:r>
                      </m:sup>
                    </m:sSup>
                    <m:d>
                      <m:dPr>
                        <m:ctrlPr>
                          <a:rPr lang="pl-PL" sz="20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l-PL" sz="2000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pl-PL" sz="2000" b="0" i="1">
                        <a:latin typeface="Cambria Math" panose="02040503050406030204" pitchFamily="18" charset="0"/>
                      </a:rPr>
                      <m:t>=−</m:t>
                    </m:r>
                    <m:r>
                      <m:rPr>
                        <m:sty m:val="p"/>
                      </m:rPr>
                      <a:rPr lang="pl-PL" sz="2000" b="0" i="0">
                        <a:latin typeface="Cambria Math" panose="02040503050406030204" pitchFamily="18" charset="0"/>
                      </a:rPr>
                      <m:t>cos</m:t>
                    </m:r>
                    <m:r>
                      <a:rPr lang="pl-PL" sz="2000" b="0" i="1">
                        <a:latin typeface="Cambria Math" panose="02040503050406030204" pitchFamily="18" charset="0"/>
                      </a:rPr>
                      <m:t>⁡(</m:t>
                    </m:r>
                    <m:r>
                      <a:rPr lang="pl-PL" sz="2000" b="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pl-PL" sz="2000" b="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l-PL" sz="2000"/>
              </a:p>
              <a:p>
                <a:pPr marL="0" indent="0">
                  <a:buNone/>
                </a:pPr>
                <a:r>
                  <a:rPr lang="pl-PL" sz="2000"/>
                  <a:t>	 Czwarta pochodna: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20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l-PL" sz="2000" b="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pl-PL" sz="2000" b="0" i="1">
                            <a:latin typeface="Cambria Math" panose="02040503050406030204" pitchFamily="18" charset="0"/>
                          </a:rPr>
                          <m:t>′′′′</m:t>
                        </m:r>
                      </m:sup>
                    </m:sSup>
                    <m:d>
                      <m:dPr>
                        <m:ctrlPr>
                          <a:rPr lang="pl-PL" sz="20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l-PL" sz="2000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pl-PL" sz="2000" b="0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pl-PL" sz="2000" b="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l-PL" sz="2000" b="0" i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pl-PL" sz="2000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l-PL" sz="2000" b="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</m:oMath>
                </a14:m>
                <a:r>
                  <a:rPr lang="pl-PL" sz="2000"/>
                  <a:t>  (funkcja powraca do postaci 									początkowej)</a:t>
                </a:r>
              </a:p>
              <a:p>
                <a:pPr marL="0" indent="0">
                  <a:buNone/>
                </a:pPr>
                <a:endParaRPr lang="pl-PL" sz="2000"/>
              </a:p>
              <a:p>
                <a:pPr marL="0" indent="0">
                  <a:buNone/>
                </a:pPr>
                <a:endParaRPr lang="pl-PL" sz="2000"/>
              </a:p>
            </p:txBody>
          </p:sp>
        </mc:Choice>
        <mc:Fallback xmlns="">
          <p:sp>
            <p:nvSpPr>
              <p:cNvPr id="3" name="Symbol zastępczy zawartości 2">
                <a:extLst>
                  <a:ext uri="{FF2B5EF4-FFF2-40B4-BE49-F238E27FC236}">
                    <a16:creationId xmlns:a16="http://schemas.microsoft.com/office/drawing/2014/main" id="{E985A94C-F71A-EFCF-D202-54757FB23E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929384"/>
                <a:ext cx="10515600" cy="4251960"/>
              </a:xfrm>
              <a:blipFill>
                <a:blip r:embed="rId2"/>
                <a:stretch>
                  <a:fillRect l="-522" t="-1435" b="-2582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45891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815BB12E-E4A1-6420-A310-C6D9701BA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pl-PL" sz="5400"/>
              <a:t>Ekstremum lokalne funkcji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E240641-9D58-FBE4-85BD-DEE07DFC69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pl-PL" sz="2200"/>
              <a:t>Ekstremum lokalne funkcji wielu zmiennych to minimum lub maksimum lokalne, czyli punkt, w którym funkcja przyjmuje wartość mniejszą lub większą niż w sąsiadujących punktach. Aby znaleźć ekstrema, oblicza się pochodne cząstkowe, przyrównuje je do zera i rozwiązuje otrzymany układ równań, aby znaleźć punkty stacjonarne. Następnie, za pomocą macierzy Hessego i jej wyznacznika, bada się charakter tych punktów (czy są to minima, maksima, czy też punkty siodłowe.</a:t>
            </a:r>
          </a:p>
        </p:txBody>
      </p:sp>
    </p:spTree>
    <p:extLst>
      <p:ext uri="{BB962C8B-B14F-4D97-AF65-F5344CB8AC3E}">
        <p14:creationId xmlns:p14="http://schemas.microsoft.com/office/powerpoint/2010/main" val="12929147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63753FA5-23BE-7D74-9102-A9BE84A51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pl-PL" sz="5400"/>
              <a:t>Rozwiązywanie krok po kroku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ymbol zastępczy zawartości 2">
                <a:extLst>
                  <a:ext uri="{FF2B5EF4-FFF2-40B4-BE49-F238E27FC236}">
                    <a16:creationId xmlns:a16="http://schemas.microsoft.com/office/drawing/2014/main" id="{310FC34F-E369-B05F-309C-6D827356A5B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929384"/>
                <a:ext cx="10515600" cy="4251960"/>
              </a:xfrm>
            </p:spPr>
            <p:txBody>
              <a:bodyPr>
                <a:normAutofit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pl-PL" sz="2200"/>
                  <a:t>Wyznaczanie punktów krytycznych</a:t>
                </a:r>
              </a:p>
              <a:p>
                <a:pPr marL="0" indent="0">
                  <a:buNone/>
                </a:pPr>
                <a:r>
                  <a:rPr lang="pl-PL" sz="2200"/>
                  <a:t>Liczymy pochodne cząstkowe funkcji f(x,y) względem każdej</a:t>
                </a:r>
              </a:p>
              <a:p>
                <a:pPr marL="0" indent="0">
                  <a:buNone/>
                </a:pPr>
                <a:r>
                  <a:rPr lang="pl-PL" sz="2200"/>
                  <a:t> zmiennej: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l-PL" sz="2200" b="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pl-PL" sz="2200" b="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d>
                      <m:dPr>
                        <m:ctrlPr>
                          <a:rPr lang="pl-PL" sz="22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l-PL" sz="2200" b="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pl-PL" sz="2200" b="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l-PL" sz="2200" b="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pl-PL" sz="2200" b="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l-PL" sz="2200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l-PL" sz="2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pl-PL" sz="2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pl-PL" sz="2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pl-PL" sz="2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pl-PL" sz="2200" b="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pl-PL" sz="2200"/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l-PL" sz="22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pl-PL" sz="2200" b="0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d>
                      <m:dPr>
                        <m:ctrlPr>
                          <a:rPr lang="pl-PL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l-PL" sz="22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pl-PL" sz="2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l-PL" sz="2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pl-PL" sz="22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l-PL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l-PL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pl-PL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pl-PL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pl-PL" sz="2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endParaRPr lang="pl-PL" sz="2200"/>
              </a:p>
              <a:p>
                <a:pPr marL="457200" lvl="1" indent="0">
                  <a:buNone/>
                </a:pPr>
                <a:r>
                  <a:rPr lang="pl-PL" sz="2200"/>
                  <a:t>Rozwiązujemy układ równań:</a:t>
                </a:r>
              </a:p>
              <a:p>
                <a:pPr marL="457200" lvl="1" indent="0">
                  <a:buNone/>
                </a:pPr>
                <a:r>
                  <a:rPr lang="pl-PL" sz="2200"/>
                  <a:t>	</a:t>
                </a:r>
              </a:p>
              <a:p>
                <a:pPr marL="457200" lvl="1" indent="0">
                  <a:buNone/>
                </a:pPr>
                <a:r>
                  <a:rPr lang="pl-PL" sz="220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l-PL" sz="2200" b="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pl-PL" sz="2200" b="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d>
                      <m:dPr>
                        <m:ctrlPr>
                          <a:rPr lang="pl-PL" sz="22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l-PL" sz="2200" b="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pl-PL" sz="2200" b="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l-PL" sz="2200" b="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pl-PL" sz="2200" b="0" i="1">
                        <a:latin typeface="Cambria Math" panose="02040503050406030204" pitchFamily="18" charset="0"/>
                      </a:rPr>
                      <m:t>=0,  </m:t>
                    </m:r>
                    <m:sSub>
                      <m:sSubPr>
                        <m:ctrlPr>
                          <a:rPr lang="pl-PL" sz="22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l-PL" sz="2200" b="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pl-PL" sz="2200" b="0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d>
                      <m:dPr>
                        <m:ctrlPr>
                          <a:rPr lang="pl-PL" sz="22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l-PL" sz="2200" b="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pl-PL" sz="2200" b="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l-PL" sz="2200" b="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pl-PL" sz="2200" b="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pl-PL" sz="2200" b="0"/>
              </a:p>
              <a:p>
                <a:pPr marL="457200" lvl="1" indent="0">
                  <a:buNone/>
                </a:pPr>
                <a:endParaRPr lang="pl-PL" sz="2200"/>
              </a:p>
              <a:p>
                <a:pPr marL="457200" lvl="1" indent="0">
                  <a:buNone/>
                </a:pPr>
                <a:r>
                  <a:rPr lang="pl-PL" sz="2200"/>
                  <a:t>Aby znaleźć punkty krytyczne (potencjalne miejsca ekstremów)</a:t>
                </a:r>
              </a:p>
            </p:txBody>
          </p:sp>
        </mc:Choice>
        <mc:Fallback xmlns="">
          <p:sp>
            <p:nvSpPr>
              <p:cNvPr id="3" name="Symbol zastępczy zawartości 2">
                <a:extLst>
                  <a:ext uri="{FF2B5EF4-FFF2-40B4-BE49-F238E27FC236}">
                    <a16:creationId xmlns:a16="http://schemas.microsoft.com/office/drawing/2014/main" id="{310FC34F-E369-B05F-309C-6D827356A5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929384"/>
                <a:ext cx="10515600" cy="4251960"/>
              </a:xfrm>
              <a:blipFill>
                <a:blip r:embed="rId2"/>
                <a:stretch>
                  <a:fillRect l="-812" t="-1865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44463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FEC908F3-39AD-65AC-BCAF-A46411804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pl-PL" sz="5400"/>
              <a:t>Rozwiązywanie krok po kroku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ymbol zastępczy zawartości 2">
                <a:extLst>
                  <a:ext uri="{FF2B5EF4-FFF2-40B4-BE49-F238E27FC236}">
                    <a16:creationId xmlns:a16="http://schemas.microsoft.com/office/drawing/2014/main" id="{2B3A5275-AB9F-CF11-8596-49715223EE3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929384"/>
                <a:ext cx="10515600" cy="4251960"/>
              </a:xfrm>
            </p:spPr>
            <p:txBody>
              <a:bodyPr>
                <a:normAutofit/>
              </a:bodyPr>
              <a:lstStyle/>
              <a:p>
                <a:pPr marL="514350" indent="-514350">
                  <a:buAutoNum type="arabicPeriod" startAt="2"/>
                </a:pPr>
                <a:r>
                  <a:rPr lang="pl-PL" sz="2200" dirty="0"/>
                  <a:t>Warunki Hessego</a:t>
                </a:r>
              </a:p>
              <a:p>
                <a:pPr marL="457200" lvl="1" indent="0">
                  <a:buNone/>
                </a:pPr>
                <a:r>
                  <a:rPr lang="pl-PL" sz="2200" dirty="0"/>
                  <a:t>Liczymy pochodne cząstkowe drugiego rzędu</a:t>
                </a:r>
              </a:p>
              <a:p>
                <a:pPr marL="457200" lvl="1" indent="0">
                  <a:buNone/>
                </a:pPr>
                <a:r>
                  <a:rPr lang="pl-PL" sz="220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l-PL" sz="2200" b="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pl-PL" sz="2200" b="0" i="1">
                            <a:latin typeface="Cambria Math" panose="02040503050406030204" pitchFamily="18" charset="0"/>
                          </a:rPr>
                          <m:t>𝑥𝑥</m:t>
                        </m:r>
                      </m:sub>
                    </m:sSub>
                    <m:r>
                      <a:rPr lang="pl-PL" sz="2200" b="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l-PL" sz="2200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pl-PL" sz="22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l-PL" sz="22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pl-PL" sz="22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pl-PL" sz="2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pl-PL" sz="2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pl-PL" sz="22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l-PL" sz="22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pl-PL" sz="22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pl-PL" sz="2200" b="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pl-PL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l-PL" sz="22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pl-PL" sz="2200" b="0" i="1">
                            <a:latin typeface="Cambria Math" panose="02040503050406030204" pitchFamily="18" charset="0"/>
                          </a:rPr>
                          <m:t>𝑦𝑦</m:t>
                        </m:r>
                      </m:sub>
                    </m:sSub>
                    <m:r>
                      <a:rPr lang="pl-PL" sz="22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l-PL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pl-PL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l-PL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pl-PL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pl-PL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pl-PL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pl-PL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l-PL" sz="22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pl-PL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pl-PL" sz="22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pl-PL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l-PL" sz="22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pl-PL" sz="22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pl-PL" sz="2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pl-PL" sz="22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l-PL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pl-PL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l-PL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pl-PL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pl-PL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pl-PL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pl-PL" sz="2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pl-PL" sz="2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pl-PL" sz="2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endParaRPr lang="pl-PL" sz="2200" dirty="0">
                  <a:ea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:r>
                  <a:rPr lang="pl-PL" sz="2200" dirty="0"/>
                  <a:t>Obliczamy wyznacznik Hessego w punkcie krytycznym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l-PL" sz="2200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l-PL" sz="2200" b="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l-PL" sz="2200" b="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pl-PL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l-PL" sz="2200" b="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pl-PL" sz="2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l-PL" sz="2200" dirty="0"/>
                  <a:t>):</a:t>
                </a:r>
              </a:p>
              <a:p>
                <a:pPr marL="457200" lvl="1" indent="0">
                  <a:buNone/>
                </a:pPr>
                <a:r>
                  <a:rPr lang="pl-PL" sz="2200" dirty="0"/>
                  <a:t>	</a:t>
                </a:r>
                <a14:m>
                  <m:oMath xmlns:m="http://schemas.openxmlformats.org/officeDocument/2006/math">
                    <m:r>
                      <a:rPr lang="pl-PL" sz="2200" b="0" i="1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pl-PL" sz="22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l-PL" sz="22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l-PL" sz="2200" b="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l-PL" sz="2200" b="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pl-PL" sz="2200" b="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pl-PL" sz="22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l-PL" sz="2200" b="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pl-PL" sz="2200" b="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pl-PL" sz="2200" b="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l-PL" sz="22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l-PL" sz="2200" b="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pl-PL" sz="2200" b="0" i="1">
                            <a:latin typeface="Cambria Math" panose="02040503050406030204" pitchFamily="18" charset="0"/>
                          </a:rPr>
                          <m:t>𝑥𝑥</m:t>
                        </m:r>
                      </m:sub>
                    </m:sSub>
                    <m:d>
                      <m:dPr>
                        <m:ctrlPr>
                          <a:rPr lang="pl-PL" sz="22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l-PL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l-PL" sz="2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l-PL" sz="22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pl-PL" sz="22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pl-PL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l-PL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pl-PL" sz="22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pl-PL" sz="2200" b="0" i="1">
                        <a:latin typeface="Cambria Math" panose="02040503050406030204" pitchFamily="18" charset="0"/>
                      </a:rPr>
                      <m:t> ∗</m:t>
                    </m:r>
                    <m:sSub>
                      <m:sSubPr>
                        <m:ctrlPr>
                          <a:rPr lang="pl-PL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l-PL" sz="22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pl-PL" sz="2200" b="0" i="1">
                            <a:latin typeface="Cambria Math" panose="02040503050406030204" pitchFamily="18" charset="0"/>
                          </a:rPr>
                          <m:t>𝑦𝑦</m:t>
                        </m:r>
                      </m:sub>
                    </m:sSub>
                    <m:d>
                      <m:dPr>
                        <m:ctrlPr>
                          <a:rPr lang="pl-PL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l-PL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l-PL" sz="2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l-PL" sz="22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pl-PL" sz="22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pl-PL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l-PL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pl-PL" sz="22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pl-PL" sz="2200" b="0" i="1">
                        <a:latin typeface="Cambria Math" panose="02040503050406030204" pitchFamily="18" charset="0"/>
                      </a:rPr>
                      <m:t> −</m:t>
                    </m:r>
                    <m:sSub>
                      <m:sSubPr>
                        <m:ctrlPr>
                          <a:rPr lang="pl-PL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l-PL" sz="2200" b="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l-PL" sz="22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pl-PL" sz="2200" b="0" i="1"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  <m:d>
                      <m:dPr>
                        <m:ctrlPr>
                          <a:rPr lang="pl-PL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l-PL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l-PL" sz="2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l-PL" sz="22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pl-PL" sz="22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pl-PL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l-PL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pl-PL" sz="22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pl-PL" sz="2200" b="0" i="1">
                        <a:latin typeface="Cambria Math" panose="02040503050406030204" pitchFamily="18" charset="0"/>
                      </a:rPr>
                      <m:t>)</m:t>
                    </m:r>
                    <m:sSup>
                      <m:sSupPr>
                        <m:ctrlPr>
                          <a:rPr lang="pl-PL" sz="22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l-PL" sz="2200" b="0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p>
                        <m:r>
                          <a:rPr lang="pl-PL" sz="2200" b="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pl-PL" sz="2200" dirty="0"/>
              </a:p>
            </p:txBody>
          </p:sp>
        </mc:Choice>
        <mc:Fallback>
          <p:sp>
            <p:nvSpPr>
              <p:cNvPr id="3" name="Symbol zastępczy zawartości 2">
                <a:extLst>
                  <a:ext uri="{FF2B5EF4-FFF2-40B4-BE49-F238E27FC236}">
                    <a16:creationId xmlns:a16="http://schemas.microsoft.com/office/drawing/2014/main" id="{2B3A5275-AB9F-CF11-8596-49715223EE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929384"/>
                <a:ext cx="10515600" cy="4251960"/>
              </a:xfrm>
              <a:blipFill>
                <a:blip r:embed="rId2"/>
                <a:stretch>
                  <a:fillRect l="-812" t="-1865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97301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17714715-D49B-CEB4-342C-1DD13E308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pl-PL" sz="5400"/>
              <a:t>Rozwiązywanie krok po kroku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ymbol zastępczy zawartości 2">
                <a:extLst>
                  <a:ext uri="{FF2B5EF4-FFF2-40B4-BE49-F238E27FC236}">
                    <a16:creationId xmlns:a16="http://schemas.microsoft.com/office/drawing/2014/main" id="{C0034069-F100-F796-44A3-51EBB963FEB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929384"/>
                <a:ext cx="10515600" cy="425196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pl-PL" sz="2200"/>
                  <a:t>3. Ocena rodzaju punktu krytycznego</a:t>
                </a:r>
              </a:p>
              <a:p>
                <a:pPr lvl="2"/>
                <a:r>
                  <a:rPr lang="pl-PL" sz="2200"/>
                  <a:t>Jeśli </a:t>
                </a:r>
                <a14:m>
                  <m:oMath xmlns:m="http://schemas.openxmlformats.org/officeDocument/2006/math">
                    <m:r>
                      <a:rPr lang="pl-PL" sz="2200" b="0" i="1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pl-PL" sz="22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l-PL" sz="22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l-PL" sz="2200" b="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l-PL" sz="2200" b="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pl-PL" sz="2200" b="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pl-PL" sz="22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l-PL" sz="2200" b="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pl-PL" sz="2200" b="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pl-PL" sz="2200" b="0" i="1">
                        <a:latin typeface="Cambria Math" panose="02040503050406030204" pitchFamily="18" charset="0"/>
                      </a:rPr>
                      <m:t>&gt;0 </m:t>
                    </m:r>
                    <m:r>
                      <a:rPr lang="pl-PL" sz="2200" b="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pl-PL" sz="2200" b="0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pl-PL" sz="22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l-PL" sz="2200" b="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pl-PL" sz="2200" b="0" i="1">
                            <a:latin typeface="Cambria Math" panose="02040503050406030204" pitchFamily="18" charset="0"/>
                          </a:rPr>
                          <m:t>𝑥𝑥</m:t>
                        </m:r>
                      </m:sub>
                    </m:sSub>
                    <m:d>
                      <m:dPr>
                        <m:ctrlPr>
                          <a:rPr lang="pl-PL" sz="22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l-PL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l-PL" sz="2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l-PL" sz="22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pl-PL" sz="22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pl-PL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l-PL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pl-PL" sz="22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pl-PL" sz="2200" b="0" i="1">
                        <a:latin typeface="Cambria Math" panose="02040503050406030204" pitchFamily="18" charset="0"/>
                      </a:rPr>
                      <m:t>&gt;0 </m:t>
                    </m:r>
                  </m:oMath>
                </a14:m>
                <a:endParaRPr lang="pl-PL" sz="2200" b="0" i="1">
                  <a:latin typeface="Cambria Math" panose="02040503050406030204" pitchFamily="18" charset="0"/>
                </a:endParaRPr>
              </a:p>
              <a:p>
                <a:pPr marL="914400" lvl="2" indent="0">
                  <a:buNone/>
                </a:pPr>
                <a14:m>
                  <m:oMath xmlns:m="http://schemas.openxmlformats.org/officeDocument/2006/math">
                    <m:r>
                      <a:rPr lang="pl-PL" sz="2200" b="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pl-PL" sz="2200" b="0" i="1">
                        <a:latin typeface="Cambria Math" panose="02040503050406030204" pitchFamily="18" charset="0"/>
                      </a:rPr>
                      <m:t>𝑚𝑖𝑛𝑖𝑚𝑢𝑚</m:t>
                    </m:r>
                    <m:r>
                      <a:rPr lang="pl-PL" sz="2200" b="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pl-PL" sz="2200" b="0" i="1">
                        <a:latin typeface="Cambria Math" panose="02040503050406030204" pitchFamily="18" charset="0"/>
                      </a:rPr>
                      <m:t>𝑙𝑜𝑘𝑎𝑙𝑛𝑒</m:t>
                    </m:r>
                    <m:r>
                      <a:rPr lang="pl-PL" sz="2200" b="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l-PL" sz="2200"/>
                  <a:t> </a:t>
                </a:r>
              </a:p>
              <a:p>
                <a:pPr lvl="2"/>
                <a:r>
                  <a:rPr lang="pl-PL" sz="2200"/>
                  <a:t>Jeśli </a:t>
                </a:r>
                <a14:m>
                  <m:oMath xmlns:m="http://schemas.openxmlformats.org/officeDocument/2006/math">
                    <m:r>
                      <a:rPr lang="pl-PL" sz="2200" b="0" i="1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pl-PL" sz="22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l-PL" sz="22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l-PL" sz="2200" b="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l-PL" sz="2200" b="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pl-PL" sz="2200" b="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pl-PL" sz="22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l-PL" sz="2200" b="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pl-PL" sz="2200" b="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pl-PL" sz="2200" b="0" i="1">
                        <a:latin typeface="Cambria Math" panose="02040503050406030204" pitchFamily="18" charset="0"/>
                      </a:rPr>
                      <m:t>&gt;0 </m:t>
                    </m:r>
                    <m:r>
                      <a:rPr lang="pl-PL" sz="2200" b="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pl-PL" sz="2200" b="0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pl-PL" sz="22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l-PL" sz="2200" b="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pl-PL" sz="2200" b="0" i="1">
                            <a:latin typeface="Cambria Math" panose="02040503050406030204" pitchFamily="18" charset="0"/>
                          </a:rPr>
                          <m:t>𝑥𝑥</m:t>
                        </m:r>
                      </m:sub>
                    </m:sSub>
                    <m:d>
                      <m:dPr>
                        <m:ctrlPr>
                          <a:rPr lang="pl-PL" sz="22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l-PL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l-PL" sz="2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l-PL" sz="22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pl-PL" sz="22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pl-PL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l-PL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pl-PL" sz="22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pl-PL" sz="2200" b="0" i="1">
                        <a:latin typeface="Cambria Math" panose="02040503050406030204" pitchFamily="18" charset="0"/>
                      </a:rPr>
                      <m:t>&lt;0 </m:t>
                    </m:r>
                  </m:oMath>
                </a14:m>
                <a:endParaRPr lang="pl-PL" sz="2200" b="0" i="1">
                  <a:latin typeface="Cambria Math" panose="02040503050406030204" pitchFamily="18" charset="0"/>
                </a:endParaRPr>
              </a:p>
              <a:p>
                <a:pPr marL="914400" lvl="2" indent="0">
                  <a:buNone/>
                </a:pPr>
                <a14:m>
                  <m:oMath xmlns:m="http://schemas.openxmlformats.org/officeDocument/2006/math">
                    <m:r>
                      <a:rPr lang="pl-PL" sz="2200" b="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pl-PL" sz="2200" b="0" i="1">
                        <a:latin typeface="Cambria Math" panose="02040503050406030204" pitchFamily="18" charset="0"/>
                      </a:rPr>
                      <m:t>𝑚𝑎𝑘𝑠𝑖𝑚𝑢𝑚</m:t>
                    </m:r>
                    <m:r>
                      <a:rPr lang="pl-PL" sz="2200" b="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pl-PL" sz="2200" b="0" i="1">
                        <a:latin typeface="Cambria Math" panose="02040503050406030204" pitchFamily="18" charset="0"/>
                      </a:rPr>
                      <m:t>𝑙𝑜𝑘𝑎𝑙𝑛𝑒</m:t>
                    </m:r>
                    <m:r>
                      <a:rPr lang="pl-PL" sz="2200" b="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l-PL" sz="2200"/>
                  <a:t> </a:t>
                </a:r>
              </a:p>
              <a:p>
                <a:pPr lvl="2"/>
                <a:r>
                  <a:rPr lang="pl-PL" sz="2200"/>
                  <a:t>Jeśli </a:t>
                </a:r>
                <a14:m>
                  <m:oMath xmlns:m="http://schemas.openxmlformats.org/officeDocument/2006/math">
                    <m:r>
                      <a:rPr lang="pl-PL" sz="2200" b="0" i="1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pl-PL" sz="22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l-PL" sz="22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l-PL" sz="2200" b="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l-PL" sz="2200" b="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pl-PL" sz="2200" b="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pl-PL" sz="22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l-PL" sz="2200" b="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pl-PL" sz="2200" b="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pl-PL" sz="2200" b="0" i="1">
                        <a:latin typeface="Cambria Math" panose="02040503050406030204" pitchFamily="18" charset="0"/>
                      </a:rPr>
                      <m:t>&lt;0−</m:t>
                    </m:r>
                    <m:r>
                      <a:rPr lang="pl-PL" sz="2200" b="0" i="1">
                        <a:latin typeface="Cambria Math" panose="02040503050406030204" pitchFamily="18" charset="0"/>
                      </a:rPr>
                      <m:t>𝑝𝑢𝑛𝑘𝑡</m:t>
                    </m:r>
                    <m:r>
                      <a:rPr lang="pl-PL" sz="2200" b="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pl-PL" sz="2200" b="0" i="1">
                        <a:latin typeface="Cambria Math" panose="02040503050406030204" pitchFamily="18" charset="0"/>
                      </a:rPr>
                      <m:t>𝑠𝑖𝑜𝑑</m:t>
                    </m:r>
                    <m:r>
                      <a:rPr lang="pl-PL" sz="2200" b="0" i="1">
                        <a:latin typeface="Cambria Math" panose="02040503050406030204" pitchFamily="18" charset="0"/>
                      </a:rPr>
                      <m:t>ł</m:t>
                    </m:r>
                    <m:r>
                      <a:rPr lang="pl-PL" sz="2200" b="0" i="1">
                        <a:latin typeface="Cambria Math" panose="02040503050406030204" pitchFamily="18" charset="0"/>
                      </a:rPr>
                      <m:t>𝑜𝑤𝑦</m:t>
                    </m:r>
                    <m:r>
                      <a:rPr lang="pl-PL" sz="2200" b="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l-PL" sz="2200"/>
                  <a:t> </a:t>
                </a:r>
              </a:p>
              <a:p>
                <a:pPr lvl="2"/>
                <a:r>
                  <a:rPr lang="pl-PL" sz="2200"/>
                  <a:t>Jeśli </a:t>
                </a:r>
                <a14:m>
                  <m:oMath xmlns:m="http://schemas.openxmlformats.org/officeDocument/2006/math">
                    <m:r>
                      <a:rPr lang="pl-PL" sz="2200" b="0" i="1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pl-PL" sz="22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l-PL" sz="22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l-PL" sz="2200" b="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l-PL" sz="2200" b="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pl-PL" sz="2200" b="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pl-PL" sz="22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l-PL" sz="2200" b="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pl-PL" sz="2200" b="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pl-PL" sz="2200" b="0" i="1">
                        <a:latin typeface="Cambria Math" panose="02040503050406030204" pitchFamily="18" charset="0"/>
                      </a:rPr>
                      <m:t>=0 </m:t>
                    </m:r>
                  </m:oMath>
                </a14:m>
                <a:endParaRPr lang="pl-PL" sz="2200" b="0" i="1">
                  <a:latin typeface="Cambria Math" panose="02040503050406030204" pitchFamily="18" charset="0"/>
                </a:endParaRPr>
              </a:p>
              <a:p>
                <a:pPr marL="91440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200" b="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l-PL" sz="2200" b="0" i="1">
                          <a:latin typeface="Cambria Math" panose="02040503050406030204" pitchFamily="18" charset="0"/>
                        </a:rPr>
                        <m:t>𝑡𝑒𝑠𝑡</m:t>
                      </m:r>
                      <m:r>
                        <a:rPr lang="pl-PL" sz="2200" b="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l-PL" sz="2200" b="0" i="1">
                          <a:latin typeface="Cambria Math" panose="02040503050406030204" pitchFamily="18" charset="0"/>
                        </a:rPr>
                        <m:t>𝑛𝑖𝑒</m:t>
                      </m:r>
                      <m:r>
                        <a:rPr lang="pl-PL" sz="2200" b="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l-PL" sz="2200" b="0" i="1">
                          <a:latin typeface="Cambria Math" panose="02040503050406030204" pitchFamily="18" charset="0"/>
                        </a:rPr>
                        <m:t>𝑟𝑜𝑧𝑠𝑡𝑟𝑧𝑦𝑔𝑎</m:t>
                      </m:r>
                      <m:r>
                        <a:rPr lang="pl-PL" sz="2200" b="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l-PL" sz="2200" b="0" i="1">
                          <a:latin typeface="Cambria Math" panose="02040503050406030204" pitchFamily="18" charset="0"/>
                        </a:rPr>
                        <m:t>𝑟𝑜𝑑𝑧𝑎𝑗𝑢</m:t>
                      </m:r>
                      <m:r>
                        <a:rPr lang="pl-PL" sz="2200" b="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l-PL" sz="2200" b="0" i="1">
                          <a:latin typeface="Cambria Math" panose="02040503050406030204" pitchFamily="18" charset="0"/>
                        </a:rPr>
                        <m:t>𝑝𝑢𝑛𝑘𝑡𝑢</m:t>
                      </m:r>
                      <m:r>
                        <a:rPr lang="pl-PL" sz="2200" b="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l-PL" sz="2200" b="0" i="1">
                          <a:latin typeface="Cambria Math" panose="02040503050406030204" pitchFamily="18" charset="0"/>
                        </a:rPr>
                        <m:t>𝑘𝑟𝑦𝑡𝑦𝑐𝑧𝑛𝑒𝑔𝑜</m:t>
                      </m:r>
                    </m:oMath>
                  </m:oMathPara>
                </a14:m>
                <a:endParaRPr lang="pl-PL" sz="2200"/>
              </a:p>
              <a:p>
                <a:pPr lvl="2"/>
                <a:endParaRPr lang="pl-PL" sz="2200"/>
              </a:p>
            </p:txBody>
          </p:sp>
        </mc:Choice>
        <mc:Fallback xmlns="">
          <p:sp>
            <p:nvSpPr>
              <p:cNvPr id="3" name="Symbol zastępczy zawartości 2">
                <a:extLst>
                  <a:ext uri="{FF2B5EF4-FFF2-40B4-BE49-F238E27FC236}">
                    <a16:creationId xmlns:a16="http://schemas.microsoft.com/office/drawing/2014/main" id="{C0034069-F100-F796-44A3-51EBB963FE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929384"/>
                <a:ext cx="10515600" cy="4251960"/>
              </a:xfrm>
              <a:blipFill>
                <a:blip r:embed="rId2"/>
                <a:stretch>
                  <a:fillRect l="-754" t="-1722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10472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AAA87303-710D-1BE5-AFAB-137A385F3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pl-PL" sz="5400"/>
              <a:t>Przykład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ymbol zastępczy zawartości 2">
                <a:extLst>
                  <a:ext uri="{FF2B5EF4-FFF2-40B4-BE49-F238E27FC236}">
                    <a16:creationId xmlns:a16="http://schemas.microsoft.com/office/drawing/2014/main" id="{D825E772-1159-3995-D0D0-1AEE971EF8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929384"/>
                <a:ext cx="10515600" cy="425196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pl-PL" sz="2200"/>
                  <a:t>Załóżmy, że mamy funkcje </a:t>
                </a:r>
              </a:p>
              <a:p>
                <a:pPr marL="0" indent="0">
                  <a:buNone/>
                </a:pPr>
                <a:r>
                  <a:rPr lang="pl-PL" sz="2200"/>
                  <a:t>	</a:t>
                </a:r>
                <a14:m>
                  <m:oMath xmlns:m="http://schemas.openxmlformats.org/officeDocument/2006/math">
                    <m:r>
                      <a:rPr lang="pl-PL" sz="2200" b="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pl-PL" sz="22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l-PL" sz="2200" b="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pl-PL" sz="2200" b="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l-PL" sz="2200" b="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pl-PL" sz="2200" b="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pl-PL" sz="22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l-PL" sz="2200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pl-PL" sz="2200" b="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l-PL" sz="2200" b="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pl-PL" sz="22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l-PL" sz="2200" b="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pl-PL" sz="2200" b="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l-PL" sz="2200" b="0" i="1">
                        <a:latin typeface="Cambria Math" panose="02040503050406030204" pitchFamily="18" charset="0"/>
                      </a:rPr>
                      <m:t>−4</m:t>
                    </m:r>
                    <m:r>
                      <a:rPr lang="pl-PL" sz="2200" b="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pl-PL" sz="2200" b="0" i="1">
                        <a:latin typeface="Cambria Math" panose="02040503050406030204" pitchFamily="18" charset="0"/>
                      </a:rPr>
                      <m:t>−6</m:t>
                    </m:r>
                    <m:r>
                      <a:rPr lang="pl-PL" sz="2200" b="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pl-PL" sz="2200" b="0" i="1">
                        <a:latin typeface="Cambria Math" panose="02040503050406030204" pitchFamily="18" charset="0"/>
                      </a:rPr>
                      <m:t>+13</m:t>
                    </m:r>
                  </m:oMath>
                </a14:m>
                <a:endParaRPr lang="pl-PL" sz="2200"/>
              </a:p>
              <a:p>
                <a:pPr marL="514350" indent="-514350">
                  <a:buAutoNum type="arabicPeriod"/>
                </a:pPr>
                <a:r>
                  <a:rPr lang="pl-PL" sz="2200"/>
                  <a:t>Liczymy pochodne cząstkowe</a:t>
                </a:r>
              </a:p>
              <a:p>
                <a:pPr marL="0" indent="0">
                  <a:buNone/>
                </a:pPr>
                <a:r>
                  <a:rPr lang="pl-PL" sz="220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l-PL" sz="2200" b="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pl-PL" sz="2200" b="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pl-PL" sz="2200" b="0" i="1">
                        <a:latin typeface="Cambria Math" panose="02040503050406030204" pitchFamily="18" charset="0"/>
                      </a:rPr>
                      <m:t>=2</m:t>
                    </m:r>
                    <m:r>
                      <a:rPr lang="pl-PL" sz="2200" b="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pl-PL" sz="2200" b="0" i="1">
                        <a:latin typeface="Cambria Math" panose="02040503050406030204" pitchFamily="18" charset="0"/>
                      </a:rPr>
                      <m:t>−4,    </m:t>
                    </m:r>
                    <m:sSub>
                      <m:sSubPr>
                        <m:ctrlPr>
                          <a:rPr lang="pl-PL" sz="22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l-PL" sz="2200" b="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pl-PL" sz="2200" b="0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pl-PL" sz="2200" b="0" i="1">
                        <a:latin typeface="Cambria Math" panose="02040503050406030204" pitchFamily="18" charset="0"/>
                      </a:rPr>
                      <m:t>=2</m:t>
                    </m:r>
                    <m:r>
                      <a:rPr lang="pl-PL" sz="2200" b="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pl-PL" sz="2200" b="0" i="1">
                        <a:latin typeface="Cambria Math" panose="02040503050406030204" pitchFamily="18" charset="0"/>
                      </a:rPr>
                      <m:t> −6 </m:t>
                    </m:r>
                  </m:oMath>
                </a14:m>
                <a:endParaRPr lang="pl-PL" sz="2200"/>
              </a:p>
              <a:p>
                <a:pPr marL="0" indent="0">
                  <a:buNone/>
                </a:pPr>
                <a:r>
                  <a:rPr lang="pl-PL" sz="2200"/>
                  <a:t>        Rozwiązujemy układ równań:</a:t>
                </a:r>
              </a:p>
              <a:p>
                <a:pPr marL="0" indent="0">
                  <a:buNone/>
                </a:pPr>
                <a:r>
                  <a:rPr lang="pl-PL" sz="2200"/>
                  <a:t>	</a:t>
                </a:r>
                <a14:m>
                  <m:oMath xmlns:m="http://schemas.openxmlformats.org/officeDocument/2006/math">
                    <m:r>
                      <a:rPr lang="pl-PL" sz="2200" b="0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pl-PL" sz="2200" b="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pl-PL" sz="2200" b="0" i="1">
                        <a:latin typeface="Cambria Math" panose="02040503050406030204" pitchFamily="18" charset="0"/>
                      </a:rPr>
                      <m:t>−4=0⇒</m:t>
                    </m:r>
                    <m:r>
                      <a:rPr lang="pl-PL" sz="2200" b="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pl-PL" sz="2200" b="0" i="1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pl-PL" sz="2200" b="0"/>
              </a:p>
              <a:p>
                <a:pPr marL="0" indent="0">
                  <a:buNone/>
                </a:pPr>
                <a:r>
                  <a:rPr lang="pl-PL" sz="2200"/>
                  <a:t>	</a:t>
                </a:r>
                <a14:m>
                  <m:oMath xmlns:m="http://schemas.openxmlformats.org/officeDocument/2006/math">
                    <m:r>
                      <a:rPr lang="pl-PL" sz="2200" b="0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pl-PL" sz="2200" b="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pl-PL" sz="2200" b="0" i="1">
                        <a:latin typeface="Cambria Math" panose="02040503050406030204" pitchFamily="18" charset="0"/>
                      </a:rPr>
                      <m:t>−6=0⇒</m:t>
                    </m:r>
                    <m:r>
                      <a:rPr lang="pl-PL" sz="2200" b="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pl-PL" sz="2200" b="0" i="1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pl-PL" sz="2200" b="0"/>
              </a:p>
              <a:p>
                <a:pPr marL="0" indent="0">
                  <a:buNone/>
                </a:pPr>
                <a:r>
                  <a:rPr lang="pl-PL" sz="2200"/>
                  <a:t>Punkt krytyczny: (2,3). </a:t>
                </a:r>
              </a:p>
            </p:txBody>
          </p:sp>
        </mc:Choice>
        <mc:Fallback xmlns="">
          <p:sp>
            <p:nvSpPr>
              <p:cNvPr id="3" name="Symbol zastępczy zawartości 2">
                <a:extLst>
                  <a:ext uri="{FF2B5EF4-FFF2-40B4-BE49-F238E27FC236}">
                    <a16:creationId xmlns:a16="http://schemas.microsoft.com/office/drawing/2014/main" id="{D825E772-1159-3995-D0D0-1AEE971EF8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929384"/>
                <a:ext cx="10515600" cy="4251960"/>
              </a:xfrm>
              <a:blipFill>
                <a:blip r:embed="rId2"/>
                <a:stretch>
                  <a:fillRect l="-812" t="-1722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11936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6FFEE13D-F3B2-EE0E-8458-327EAC983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pl-PL" sz="5400"/>
              <a:t>Przykład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ymbol zastępczy zawartości 2">
                <a:extLst>
                  <a:ext uri="{FF2B5EF4-FFF2-40B4-BE49-F238E27FC236}">
                    <a16:creationId xmlns:a16="http://schemas.microsoft.com/office/drawing/2014/main" id="{15ADBF3C-60F0-6EBE-3F36-D8AD099295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929384"/>
                <a:ext cx="10515600" cy="425196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pl-PL" sz="2200"/>
                  <a:t>2. Liczymy pochodne drugiego rzędu</a:t>
                </a:r>
              </a:p>
              <a:p>
                <a:pPr marL="0" indent="0">
                  <a:buNone/>
                </a:pPr>
                <a:r>
                  <a:rPr lang="pl-PL" sz="220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l-PL" sz="2200" b="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pl-PL" sz="2200" b="0" i="1">
                            <a:latin typeface="Cambria Math" panose="02040503050406030204" pitchFamily="18" charset="0"/>
                          </a:rPr>
                          <m:t>𝑥𝑥</m:t>
                        </m:r>
                      </m:sub>
                    </m:sSub>
                    <m:r>
                      <a:rPr lang="pl-PL" sz="2200" b="0" i="1">
                        <a:latin typeface="Cambria Math" panose="02040503050406030204" pitchFamily="18" charset="0"/>
                      </a:rPr>
                      <m:t>=2,  </m:t>
                    </m:r>
                    <m:sSub>
                      <m:sSubPr>
                        <m:ctrlPr>
                          <a:rPr lang="pl-PL" sz="22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l-PL" sz="2200" b="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pl-PL" sz="2200" b="0" i="1">
                            <a:latin typeface="Cambria Math" panose="02040503050406030204" pitchFamily="18" charset="0"/>
                          </a:rPr>
                          <m:t>𝑦𝑦</m:t>
                        </m:r>
                      </m:sub>
                    </m:sSub>
                    <m:r>
                      <a:rPr lang="pl-PL" sz="2200" b="0" i="1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pl-PL" sz="220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l-PL" sz="22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pl-PL" sz="2200" b="0" i="1"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  <m:r>
                      <a:rPr lang="pl-PL" sz="2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l-PL" sz="2200" b="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pl-PL" sz="2200"/>
                  <a:t> </a:t>
                </a:r>
              </a:p>
              <a:p>
                <a:pPr marL="0" indent="0">
                  <a:buNone/>
                </a:pPr>
                <a:r>
                  <a:rPr lang="pl-PL" sz="2200"/>
                  <a:t>	Obliczamy Hesjan:</a:t>
                </a:r>
              </a:p>
              <a:p>
                <a:pPr marL="0" indent="0">
                  <a:buNone/>
                </a:pPr>
                <a:r>
                  <a:rPr lang="pl-PL" sz="2200"/>
                  <a:t>	</a:t>
                </a:r>
                <a14:m>
                  <m:oMath xmlns:m="http://schemas.openxmlformats.org/officeDocument/2006/math">
                    <m:r>
                      <a:rPr lang="pl-PL" sz="2200" b="0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pl-PL" sz="2200" b="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pl-PL" sz="22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l-PL" sz="2200" b="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d>
                      <m:dPr>
                        <m:ctrlPr>
                          <a:rPr lang="pl-PL" sz="22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l-PL" sz="2200" b="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pl-PL" sz="2200" b="0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pl-PL" sz="22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pl-PL" sz="2200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l-PL" sz="2200" b="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  <m:sup>
                        <m:r>
                          <a:rPr lang="pl-PL" sz="2200" b="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l-PL" sz="2200" b="0" i="1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endParaRPr lang="pl-PL" sz="2200"/>
              </a:p>
              <a:p>
                <a:pPr marL="0" indent="0">
                  <a:buNone/>
                </a:pPr>
                <a:r>
                  <a:rPr lang="pl-PL" sz="2200"/>
                  <a:t>3. Analiza</a:t>
                </a:r>
              </a:p>
              <a:p>
                <a:pPr marL="0" indent="0">
                  <a:buNone/>
                </a:pPr>
                <a:r>
                  <a:rPr lang="pl-PL" sz="2200"/>
                  <a:t>	</a:t>
                </a:r>
                <a14:m>
                  <m:oMath xmlns:m="http://schemas.openxmlformats.org/officeDocument/2006/math">
                    <m:r>
                      <a:rPr lang="pl-PL" sz="2200" b="0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pl-PL" sz="2200" b="0" i="1">
                        <a:latin typeface="Cambria Math" panose="02040503050406030204" pitchFamily="18" charset="0"/>
                      </a:rPr>
                      <m:t>=4&gt;0</m:t>
                    </m:r>
                  </m:oMath>
                </a14:m>
                <a:endParaRPr lang="pl-PL" sz="2200" b="0"/>
              </a:p>
              <a:p>
                <a:pPr marL="0" indent="0">
                  <a:buNone/>
                </a:pPr>
                <a:r>
                  <a:rPr lang="pl-PL" sz="220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l-PL" sz="2200" b="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pl-PL" sz="2200" b="0" i="1">
                            <a:latin typeface="Cambria Math" panose="02040503050406030204" pitchFamily="18" charset="0"/>
                          </a:rPr>
                          <m:t>𝑥𝑥</m:t>
                        </m:r>
                      </m:sub>
                    </m:sSub>
                    <m:r>
                      <a:rPr lang="pl-PL" sz="2200" b="0" i="1">
                        <a:latin typeface="Cambria Math" panose="02040503050406030204" pitchFamily="18" charset="0"/>
                      </a:rPr>
                      <m:t>=2&gt;0, </m:t>
                    </m:r>
                    <m:r>
                      <a:rPr lang="pl-PL" sz="2200" b="0" i="1">
                        <a:latin typeface="Cambria Math" panose="02040503050406030204" pitchFamily="18" charset="0"/>
                      </a:rPr>
                      <m:t>𝑤𝑖</m:t>
                    </m:r>
                    <m:r>
                      <a:rPr lang="pl-PL" sz="2200" b="0" i="1">
                        <a:latin typeface="Cambria Math" panose="02040503050406030204" pitchFamily="18" charset="0"/>
                      </a:rPr>
                      <m:t>ę</m:t>
                    </m:r>
                    <m:r>
                      <a:rPr lang="pl-PL" sz="2200" b="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pl-PL" sz="2200" b="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pl-PL" sz="2200" b="0" i="1">
                        <a:latin typeface="Cambria Math" panose="02040503050406030204" pitchFamily="18" charset="0"/>
                      </a:rPr>
                      <m:t>𝑚𝑎𝑚𝑦</m:t>
                    </m:r>
                    <m:r>
                      <a:rPr lang="pl-PL" sz="2200" b="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pl-PL" sz="2200" b="0" i="1">
                        <a:latin typeface="Cambria Math" panose="02040503050406030204" pitchFamily="18" charset="0"/>
                      </a:rPr>
                      <m:t>𝑚𝑖𝑛𝑖𝑚𝑢𝑚</m:t>
                    </m:r>
                    <m:r>
                      <a:rPr lang="pl-PL" sz="2200" b="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pl-PL" sz="2200" b="0" i="1">
                        <a:latin typeface="Cambria Math" panose="02040503050406030204" pitchFamily="18" charset="0"/>
                      </a:rPr>
                      <m:t>𝑙𝑜𝑘𝑎𝑙𝑛𝑒</m:t>
                    </m:r>
                    <m:r>
                      <a:rPr lang="pl-PL" sz="2200" b="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pl-PL" sz="2200" b="0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pl-PL" sz="2200" b="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pl-PL" sz="2200" b="0" i="1">
                        <a:latin typeface="Cambria Math" panose="02040503050406030204" pitchFamily="18" charset="0"/>
                      </a:rPr>
                      <m:t>𝑝𝑢𝑛𝑘𝑐𝑖𝑒</m:t>
                    </m:r>
                    <m:r>
                      <a:rPr lang="pl-PL" sz="2200" b="0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pl-PL" sz="22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l-PL" sz="2200" b="0" i="1">
                            <a:latin typeface="Cambria Math" panose="02040503050406030204" pitchFamily="18" charset="0"/>
                          </a:rPr>
                          <m:t>2,3</m:t>
                        </m:r>
                      </m:e>
                    </m:d>
                    <m:r>
                      <a:rPr lang="pl-PL" sz="2200" b="0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pl-PL" sz="2200"/>
              </a:p>
            </p:txBody>
          </p:sp>
        </mc:Choice>
        <mc:Fallback xmlns="">
          <p:sp>
            <p:nvSpPr>
              <p:cNvPr id="3" name="Symbol zastępczy zawartości 2">
                <a:extLst>
                  <a:ext uri="{FF2B5EF4-FFF2-40B4-BE49-F238E27FC236}">
                    <a16:creationId xmlns:a16="http://schemas.microsoft.com/office/drawing/2014/main" id="{15ADBF3C-60F0-6EBE-3F36-D8AD099295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929384"/>
                <a:ext cx="10515600" cy="4251960"/>
              </a:xfrm>
              <a:blipFill>
                <a:blip r:embed="rId2"/>
                <a:stretch>
                  <a:fillRect l="-754" t="-1722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9778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2156168F-A78D-37BC-E8E9-3F1C10CB5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pl-PL" sz="5400"/>
              <a:t>Mnożnik Lagrange’a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267A510-E205-17DF-8638-6DCE1BCE5D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pl-PL" sz="2200" dirty="0"/>
              <a:t>Mnożnik </a:t>
            </a:r>
            <a:r>
              <a:rPr lang="pl-PL" sz="2200" dirty="0" err="1"/>
              <a:t>Lagrange’a</a:t>
            </a:r>
            <a:r>
              <a:rPr lang="pl-PL" sz="2200" dirty="0"/>
              <a:t> to metoda znajdowania ekstremów funkcji wielu zmiennych, z ograniczeniami. </a:t>
            </a:r>
          </a:p>
          <a:p>
            <a:endParaRPr lang="pl-PL" sz="2200" dirty="0"/>
          </a:p>
          <a:p>
            <a:pPr marL="457200" lvl="1" indent="0">
              <a:buNone/>
            </a:pPr>
            <a:r>
              <a:rPr lang="pl-PL" sz="2200" dirty="0"/>
              <a:t>Gdy mamy funkcję f (</a:t>
            </a:r>
            <a:r>
              <a:rPr lang="pl-PL" sz="2200" dirty="0" err="1"/>
              <a:t>x,y,z</a:t>
            </a:r>
            <a:r>
              <a:rPr lang="pl-PL" sz="2200" dirty="0"/>
              <a:t>,…), którą chcemy maksymalizować lub minimalizować, ale nie możemy zmieniać x, y, z dowolnie – muszą one </a:t>
            </a:r>
            <a:r>
              <a:rPr lang="pl-PL" sz="2200" dirty="0" err="1"/>
              <a:t>spałniać</a:t>
            </a:r>
            <a:r>
              <a:rPr lang="pl-PL" sz="2200" dirty="0"/>
              <a:t> jakieś ograniczenie w postaci równania g(x, y, z, …) = 0 – wtedy używamy mnożników </a:t>
            </a:r>
            <a:r>
              <a:rPr lang="pl-PL" sz="2200" dirty="0" err="1"/>
              <a:t>Lagrange’a</a:t>
            </a:r>
            <a:r>
              <a:rPr lang="pl-PL" sz="2200" dirty="0"/>
              <a:t>.</a:t>
            </a:r>
          </a:p>
          <a:p>
            <a:pPr marL="457200" lvl="1" indent="0">
              <a:buNone/>
            </a:pPr>
            <a:endParaRPr lang="pl-PL" sz="2200" dirty="0"/>
          </a:p>
          <a:p>
            <a:pPr marL="457200" lvl="1" indent="0">
              <a:buNone/>
            </a:pPr>
            <a:r>
              <a:rPr lang="pl-PL" sz="2200" dirty="0"/>
              <a:t>Mnożnik </a:t>
            </a:r>
            <a:r>
              <a:rPr lang="pl-PL" sz="2200" dirty="0" err="1"/>
              <a:t>Lagrange’a</a:t>
            </a:r>
            <a:r>
              <a:rPr lang="pl-PL" sz="2200" dirty="0"/>
              <a:t> jest oznaczany </a:t>
            </a:r>
            <a:r>
              <a:rPr lang="el-GR" sz="2200" dirty="0"/>
              <a:t>λ</a:t>
            </a:r>
            <a:endParaRPr lang="pl-PL" sz="2200" dirty="0"/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5D2FD879-1A58-25DD-17A8-80BCE66036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8488" y="4175760"/>
            <a:ext cx="2837515" cy="2472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10484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30BE6C4D-D4C7-C7D1-C3A0-ECDDAB761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pl-PL" sz="5400"/>
              <a:t>Używanie mnożnika Lagrange’a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ymbol zastępczy zawartości 2">
                <a:extLst>
                  <a:ext uri="{FF2B5EF4-FFF2-40B4-BE49-F238E27FC236}">
                    <a16:creationId xmlns:a16="http://schemas.microsoft.com/office/drawing/2014/main" id="{E7C11F84-B6AA-2B26-8532-80947FF2849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929384"/>
                <a:ext cx="10515600" cy="4251960"/>
              </a:xfrm>
            </p:spPr>
            <p:txBody>
              <a:bodyPr>
                <a:normAutofit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pl-PL" sz="2200" dirty="0"/>
                  <a:t>Budujemy funkcję </a:t>
                </a:r>
                <a:r>
                  <a:rPr lang="pl-PL" sz="2200" dirty="0" err="1"/>
                  <a:t>Lagrange’a</a:t>
                </a:r>
                <a:endParaRPr lang="pl-PL" sz="2200" dirty="0"/>
              </a:p>
              <a:p>
                <a:pPr marL="457200" lvl="1" indent="0">
                  <a:buNone/>
                </a:pPr>
                <a:r>
                  <a:rPr lang="pl-PL" sz="2200" dirty="0"/>
                  <a:t>Tworzymy nową funkcję:</a:t>
                </a:r>
              </a:p>
              <a:p>
                <a:pPr marL="457200" lvl="1" indent="0">
                  <a:buNone/>
                </a:pPr>
                <a:r>
                  <a:rPr lang="pl-PL" sz="2200" dirty="0"/>
                  <a:t>	</a:t>
                </a:r>
                <a14:m>
                  <m:oMath xmlns:m="http://schemas.openxmlformats.org/officeDocument/2006/math">
                    <m:r>
                      <a:rPr lang="pl-PL" sz="2200" b="0" i="1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pl-PL" sz="22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l-PL" sz="2200" b="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pl-PL" sz="2200" b="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l-PL" sz="2200" b="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pl-PL" sz="2200" b="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l-PL" sz="2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</m:d>
                    <m:r>
                      <a:rPr lang="pl-PL" sz="2200" b="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l-PL" sz="2200" b="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pl-PL" sz="22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l-PL" sz="2200" b="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pl-PL" sz="2200" b="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l-PL" sz="2200" b="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pl-PL" sz="2200" b="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pl-PL" sz="22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pl-PL" sz="22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pl-PL" sz="2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l-PL" sz="2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pl-PL" sz="2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pl-PL" sz="2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pl-PL" sz="2200" b="0" dirty="0">
                  <a:ea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:r>
                  <a:rPr lang="pl-PL" sz="2200" dirty="0"/>
                  <a:t>Poprawnie też można zapisać funkcje z -</a:t>
                </a:r>
              </a:p>
              <a:p>
                <a:pPr marL="457200" lvl="1" indent="0">
                  <a:buNone/>
                </a:pPr>
                <a:endParaRPr lang="pl-PL" sz="2200" dirty="0"/>
              </a:p>
              <a:p>
                <a:pPr marL="457200" lvl="1" indent="0">
                  <a:buNone/>
                </a:pPr>
                <a:r>
                  <a:rPr lang="pl-PL" sz="2200" dirty="0"/>
                  <a:t>2. Obliczamy pochodne cząstkowe i układamy układ równań</a:t>
                </a:r>
              </a:p>
              <a:p>
                <a:pPr marL="457200" lvl="1" indent="0">
                  <a:buNone/>
                </a:pPr>
                <a:endParaRPr lang="pl-PL" sz="2200" dirty="0"/>
              </a:p>
              <a:p>
                <a:pPr marL="457200" lvl="1" indent="0">
                  <a:buNone/>
                </a:pPr>
                <a:r>
                  <a:rPr lang="pl-PL" sz="2200" dirty="0"/>
                  <a:t>	Do policzenia mamy:</a:t>
                </a:r>
              </a:p>
              <a:p>
                <a:pPr marL="457200" lvl="1" indent="0">
                  <a:buNone/>
                </a:pPr>
                <a:r>
                  <a:rPr lang="pl-PL" sz="2200" dirty="0"/>
                  <a:t>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l-PL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l-PL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pl-PL" sz="2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pl-PL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pl-PL" sz="2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pl-PL" sz="2200" b="0" i="1">
                        <a:latin typeface="Cambria Math" panose="02040503050406030204" pitchFamily="18" charset="0"/>
                      </a:rPr>
                      <m:t>=0,</m:t>
                    </m:r>
                    <m:f>
                      <m:fPr>
                        <m:ctrlPr>
                          <a:rPr lang="pl-PL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l-PL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pl-PL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pl-PL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pl-PL" sz="22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a:rPr lang="pl-PL" sz="2200" i="1">
                        <a:latin typeface="Cambria Math" panose="02040503050406030204" pitchFamily="18" charset="0"/>
                      </a:rPr>
                      <m:t>=0,</m:t>
                    </m:r>
                  </m:oMath>
                </a14:m>
                <a:r>
                  <a:rPr lang="pl-PL" sz="22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l-PL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l-PL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pl-PL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pl-PL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m:rPr>
                            <m:sty m:val="p"/>
                          </m:rPr>
                          <a:rPr lang="el-GR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λ</m:t>
                        </m:r>
                      </m:den>
                    </m:f>
                    <m:r>
                      <a:rPr lang="pl-PL" sz="2200" i="1">
                        <a:latin typeface="Cambria Math" panose="02040503050406030204" pitchFamily="18" charset="0"/>
                      </a:rPr>
                      <m:t>=0,</m:t>
                    </m:r>
                  </m:oMath>
                </a14:m>
                <a:r>
                  <a:rPr lang="pl-PL" sz="2200" dirty="0"/>
                  <a:t> </a:t>
                </a:r>
              </a:p>
              <a:p>
                <a:pPr marL="457200" lvl="1" indent="0">
                  <a:buNone/>
                </a:pPr>
                <a:r>
                  <a:rPr lang="pl-PL" sz="2200" dirty="0"/>
                  <a:t>Trzy równania do rozwiązania – jedno dla każdej zmiennej i jedno dla ograniczenia</a:t>
                </a:r>
              </a:p>
            </p:txBody>
          </p:sp>
        </mc:Choice>
        <mc:Fallback>
          <p:sp>
            <p:nvSpPr>
              <p:cNvPr id="3" name="Symbol zastępczy zawartości 2">
                <a:extLst>
                  <a:ext uri="{FF2B5EF4-FFF2-40B4-BE49-F238E27FC236}">
                    <a16:creationId xmlns:a16="http://schemas.microsoft.com/office/drawing/2014/main" id="{E7C11F84-B6AA-2B26-8532-80947FF284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929384"/>
                <a:ext cx="10515600" cy="4251960"/>
              </a:xfrm>
              <a:blipFill>
                <a:blip r:embed="rId2"/>
                <a:stretch>
                  <a:fillRect l="-812" t="-1865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76026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861FBE55-F87D-2985-CDAF-31E3B4576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pl-PL" sz="5400"/>
              <a:t>Używanie mnożnika Lagrange’a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D7E6D0C-7C7F-7B44-A3AB-35EAA36CAB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sz="2200"/>
              <a:t>Rozwiązywanie układu równań</a:t>
            </a:r>
          </a:p>
          <a:p>
            <a:pPr marL="0" indent="0">
              <a:buNone/>
            </a:pPr>
            <a:r>
              <a:rPr lang="pl-PL" sz="2200"/>
              <a:t>	Szukamy x, y, λ</a:t>
            </a:r>
          </a:p>
          <a:p>
            <a:pPr marL="0" indent="0">
              <a:buNone/>
            </a:pPr>
            <a:r>
              <a:rPr lang="pl-PL" sz="2200"/>
              <a:t>		Wartości x, y to kandydaci na miejsca ekstremów (minimum lub maksimum) przy danym ograniczeniu.</a:t>
            </a:r>
          </a:p>
        </p:txBody>
      </p:sp>
    </p:spTree>
    <p:extLst>
      <p:ext uri="{BB962C8B-B14F-4D97-AF65-F5344CB8AC3E}">
        <p14:creationId xmlns:p14="http://schemas.microsoft.com/office/powerpoint/2010/main" val="35133474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E4116339-E225-05B8-75C0-0E5885604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pl-PL" sz="4200"/>
              <a:t>Techniki zapewniana jakości w poszczególnych fazach tworzenia oprogramowania 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29EE081-5D54-67C2-249D-DE2D157ED3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pl-PL" sz="1700" dirty="0"/>
              <a:t>Inżynieria wymagań</a:t>
            </a:r>
          </a:p>
          <a:p>
            <a:pPr marL="914400" lvl="1" indent="-457200">
              <a:buFont typeface="+mj-lt"/>
              <a:buAutoNum type="arabicPeriod"/>
            </a:pPr>
            <a:r>
              <a:rPr lang="pl-PL" sz="1700" dirty="0"/>
              <a:t>Pozyskiwanie wymagań</a:t>
            </a:r>
          </a:p>
          <a:p>
            <a:pPr marL="914400" lvl="1" indent="-457200">
              <a:buFont typeface="+mj-lt"/>
              <a:buAutoNum type="arabicPeriod"/>
            </a:pPr>
            <a:r>
              <a:rPr lang="pl-PL" sz="1700" dirty="0"/>
              <a:t>Analiza wymagań</a:t>
            </a:r>
          </a:p>
          <a:p>
            <a:pPr marL="914400" lvl="1" indent="-457200">
              <a:buFont typeface="+mj-lt"/>
              <a:buAutoNum type="arabicPeriod"/>
            </a:pPr>
            <a:r>
              <a:rPr lang="pl-PL" sz="1700" dirty="0"/>
              <a:t>Specyfikacja wymagań</a:t>
            </a:r>
          </a:p>
          <a:p>
            <a:pPr marL="914400" lvl="1" indent="-457200">
              <a:buFont typeface="+mj-lt"/>
              <a:buAutoNum type="arabicPeriod"/>
            </a:pPr>
            <a:r>
              <a:rPr lang="pl-PL" sz="1700" dirty="0"/>
              <a:t>Walidacja wymagań</a:t>
            </a:r>
          </a:p>
          <a:p>
            <a:pPr marL="914400" lvl="1" indent="-457200">
              <a:buFont typeface="+mj-lt"/>
              <a:buAutoNum type="arabicPeriod"/>
            </a:pPr>
            <a:r>
              <a:rPr lang="pl-PL" sz="1700" dirty="0"/>
              <a:t>Zarządzanie wymaganiami</a:t>
            </a:r>
          </a:p>
          <a:p>
            <a:r>
              <a:rPr lang="pl-PL" sz="1700" dirty="0"/>
              <a:t>Proces testowania</a:t>
            </a:r>
          </a:p>
          <a:p>
            <a:pPr marL="914400" lvl="1" indent="-457200">
              <a:buFont typeface="+mj-lt"/>
              <a:buAutoNum type="arabicPeriod"/>
            </a:pPr>
            <a:r>
              <a:rPr lang="pl-PL" sz="1700" dirty="0"/>
              <a:t>Planowanie testów</a:t>
            </a:r>
          </a:p>
          <a:p>
            <a:pPr marL="914400" lvl="1" indent="-457200">
              <a:buFont typeface="+mj-lt"/>
              <a:buAutoNum type="arabicPeriod"/>
            </a:pPr>
            <a:r>
              <a:rPr lang="pl-PL" sz="1700" dirty="0"/>
              <a:t>Projektowanie przypadków testowych</a:t>
            </a:r>
          </a:p>
          <a:p>
            <a:pPr marL="914400" lvl="1" indent="-457200">
              <a:buFont typeface="+mj-lt"/>
              <a:buAutoNum type="arabicPeriod"/>
            </a:pPr>
            <a:r>
              <a:rPr lang="pl-PL" sz="1700" dirty="0"/>
              <a:t>Przygotowanie środowiska testowego</a:t>
            </a:r>
          </a:p>
          <a:p>
            <a:pPr marL="914400" lvl="1" indent="-457200">
              <a:buFont typeface="+mj-lt"/>
              <a:buAutoNum type="arabicPeriod"/>
            </a:pPr>
            <a:r>
              <a:rPr lang="pl-PL" sz="1700" dirty="0"/>
              <a:t>Wykonanie testów</a:t>
            </a:r>
          </a:p>
          <a:p>
            <a:pPr marL="914400" lvl="1" indent="-457200">
              <a:buFont typeface="+mj-lt"/>
              <a:buAutoNum type="arabicPeriod"/>
            </a:pPr>
            <a:r>
              <a:rPr lang="pl-PL" sz="1700" dirty="0"/>
              <a:t>Rejestracja i raportowanie błędów</a:t>
            </a:r>
          </a:p>
          <a:p>
            <a:pPr marL="914400" lvl="1" indent="-457200">
              <a:buFont typeface="+mj-lt"/>
              <a:buAutoNum type="arabicPeriod"/>
            </a:pPr>
            <a:r>
              <a:rPr lang="pl-PL" sz="1700" dirty="0"/>
              <a:t>Retesty i testy regresyjne</a:t>
            </a:r>
          </a:p>
          <a:p>
            <a:pPr marL="914400" lvl="1" indent="-457200">
              <a:buFont typeface="+mj-lt"/>
              <a:buAutoNum type="arabicPeriod"/>
            </a:pPr>
            <a:r>
              <a:rPr lang="pl-PL" sz="1700" dirty="0"/>
              <a:t>Zamknięcie testów</a:t>
            </a:r>
          </a:p>
        </p:txBody>
      </p:sp>
    </p:spTree>
    <p:extLst>
      <p:ext uri="{BB962C8B-B14F-4D97-AF65-F5344CB8AC3E}">
        <p14:creationId xmlns:p14="http://schemas.microsoft.com/office/powerpoint/2010/main" val="22563158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BBA8AE69-B919-2134-8993-D8FA927E7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pl-PL" sz="5400"/>
              <a:t>Inżynieria wymagań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04EA79E-4965-C215-4EB1-226DDA1F71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pl-PL" sz="2200"/>
              <a:t>Inżynieria wymagań to proces zbierania, analizowania, dokumentowania i zarządzania wymaganiami dotyczącymi systemu informatycznego. Celem jest zapewnienie, że budowane oprogramowanie spełni realne potrzeby użytkowników.</a:t>
            </a:r>
          </a:p>
          <a:p>
            <a:endParaRPr lang="pl-PL" sz="2200"/>
          </a:p>
          <a:p>
            <a:r>
              <a:rPr lang="pl-PL" sz="2200"/>
              <a:t>Inżynierie wymagań podzielimy na 5 kroków.</a:t>
            </a:r>
          </a:p>
          <a:p>
            <a:pPr marL="914400" lvl="1" indent="-457200">
              <a:buFont typeface="+mj-lt"/>
              <a:buAutoNum type="arabicPeriod"/>
            </a:pPr>
            <a:r>
              <a:rPr lang="pl-PL" sz="2200"/>
              <a:t>Pozyskiwanie wymagań</a:t>
            </a:r>
          </a:p>
          <a:p>
            <a:pPr marL="914400" lvl="1" indent="-457200">
              <a:buFont typeface="+mj-lt"/>
              <a:buAutoNum type="arabicPeriod"/>
            </a:pPr>
            <a:r>
              <a:rPr lang="pl-PL" sz="2200"/>
              <a:t>Analiza wymagań</a:t>
            </a:r>
          </a:p>
          <a:p>
            <a:pPr marL="914400" lvl="1" indent="-457200">
              <a:buFont typeface="+mj-lt"/>
              <a:buAutoNum type="arabicPeriod"/>
            </a:pPr>
            <a:r>
              <a:rPr lang="pl-PL" sz="2200"/>
              <a:t>Specyfikacja wymagań</a:t>
            </a:r>
          </a:p>
          <a:p>
            <a:pPr marL="914400" lvl="1" indent="-457200">
              <a:buFont typeface="+mj-lt"/>
              <a:buAutoNum type="arabicPeriod"/>
            </a:pPr>
            <a:r>
              <a:rPr lang="pl-PL" sz="2200"/>
              <a:t>Walidacja wymagań</a:t>
            </a:r>
          </a:p>
          <a:p>
            <a:pPr marL="914400" lvl="1" indent="-457200">
              <a:buFont typeface="+mj-lt"/>
              <a:buAutoNum type="arabicPeriod"/>
            </a:pPr>
            <a:r>
              <a:rPr lang="pl-PL" sz="2200"/>
              <a:t>Zarządzanie wymaganiami</a:t>
            </a:r>
          </a:p>
        </p:txBody>
      </p:sp>
    </p:spTree>
    <p:extLst>
      <p:ext uri="{BB962C8B-B14F-4D97-AF65-F5344CB8AC3E}">
        <p14:creationId xmlns:p14="http://schemas.microsoft.com/office/powerpoint/2010/main" val="5654057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88ABC574-4DD3-6F4E-34A0-32F1BB05A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pl-PL" sz="5400"/>
              <a:t>Pozyskiwanie wymagań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C568201-B69F-6517-A80E-7FCBE8ACF5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l-PL" sz="1900"/>
              <a:t>Cel: Zebrać informacje, czego naprawdę oczekują użytkownicy i klienci.</a:t>
            </a:r>
          </a:p>
          <a:p>
            <a:pPr>
              <a:buNone/>
            </a:pPr>
            <a:r>
              <a:rPr lang="pl-PL" sz="1900"/>
              <a:t>Jak to wygląda w rzeczywistości?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sz="1900"/>
              <a:t>Wywiady z klientami lub użytkownikami końcowymi.</a:t>
            </a:r>
            <a:br>
              <a:rPr lang="pl-PL" sz="1900"/>
            </a:br>
            <a:r>
              <a:rPr lang="pl-PL" sz="1900"/>
              <a:t>(np. Product Owner rozmawia z klientem: „Jakie funkcje powinien mieć nowy sklep internetowy?”)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sz="1900"/>
              <a:t>Warsztaty – spotkania zespołowe (np. Design Thinking Workshop), aby wspólnie ustalić wymagania.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sz="1900"/>
              <a:t>Ankiety / formularze – szczególnie w projektach masowych (np. tworzenie aplikacji dla 1000 użytkowników).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sz="1900"/>
              <a:t>Analiza istniejących systemów – jeśli jest już podobne oprogramowanie, patrzy się, co działa, a co nie.</a:t>
            </a:r>
          </a:p>
          <a:p>
            <a:pPr marL="0" indent="0">
              <a:buNone/>
            </a:pPr>
            <a:r>
              <a:rPr lang="pl-PL" sz="1900"/>
              <a:t>Przykład:</a:t>
            </a:r>
            <a:br>
              <a:rPr lang="pl-PL" sz="1900"/>
            </a:br>
            <a:r>
              <a:rPr lang="pl-PL" sz="1900"/>
              <a:t>Firma robi nową aplikację bankową. Zespół UX organizuje warsztaty z klientami banku, podczas których zbierają pomysły na funkcje np.: szybki przelew, logowanie przez odcisk palca.</a:t>
            </a:r>
          </a:p>
          <a:p>
            <a:endParaRPr lang="pl-PL" sz="1900"/>
          </a:p>
        </p:txBody>
      </p:sp>
    </p:spTree>
    <p:extLst>
      <p:ext uri="{BB962C8B-B14F-4D97-AF65-F5344CB8AC3E}">
        <p14:creationId xmlns:p14="http://schemas.microsoft.com/office/powerpoint/2010/main" val="2779920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1BB6702B-F50F-ADB1-BBDF-1B87A52D5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pl-PL" sz="5400"/>
              <a:t>Analiza wymagań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B22A448-CC7F-3287-C530-F7EFBAA7C9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l-PL" sz="2000"/>
              <a:t>Cel: Uporządkować, wyczyścić i doprecyzować wymagania.</a:t>
            </a:r>
          </a:p>
          <a:p>
            <a:pPr>
              <a:buNone/>
            </a:pPr>
            <a:r>
              <a:rPr lang="pl-PL" sz="2000"/>
              <a:t>Jak to wygląda w rzeczywistości?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sz="2000"/>
              <a:t>Grupowanie wymagań na kategorie: funkcjonalne (co system robi) i niefunkcjonalne (wydajność, bezpieczeństwo).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sz="2000"/>
              <a:t>Wyszukiwanie sprzeczności – np. jeden klient chce, aby aplikacja była prosta, a inny – aby miała dużo funkcji.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sz="2000"/>
              <a:t>Priorytetyzacja wymagań – ustalanie, co jest kluczowe na start, a co może poczekać.</a:t>
            </a:r>
          </a:p>
          <a:p>
            <a:pPr marL="0" indent="0">
              <a:buNone/>
            </a:pPr>
            <a:r>
              <a:rPr lang="pl-PL" sz="2000"/>
              <a:t>Przykład:</a:t>
            </a:r>
            <a:br>
              <a:rPr lang="pl-PL" sz="2000"/>
            </a:br>
            <a:r>
              <a:rPr lang="pl-PL" sz="2000"/>
              <a:t>W projekcie aplikacji e-commerce analityk znajduje sprzeczność: marketing chce rejestracji przez Facebooka, a dział bezpieczeństwa się temu sprzeciwia. Analityk organizuje spotkanie, żeby wypracować kompromis (np. rejestracja przez Facebooka + dodatkowe zgody użytkownika).</a:t>
            </a:r>
          </a:p>
          <a:p>
            <a:pPr marL="0" indent="0">
              <a:buNone/>
            </a:pPr>
            <a:endParaRPr lang="pl-PL" sz="2000"/>
          </a:p>
        </p:txBody>
      </p:sp>
    </p:spTree>
    <p:extLst>
      <p:ext uri="{BB962C8B-B14F-4D97-AF65-F5344CB8AC3E}">
        <p14:creationId xmlns:p14="http://schemas.microsoft.com/office/powerpoint/2010/main" val="17706582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526A6B2A-BCA2-14DB-0810-3CD7A6219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pl-PL" sz="5400"/>
              <a:t>Specyfikacja wymagań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DC31037-CB7D-6EA0-1096-16CB69CE82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l-PL" sz="1900"/>
              <a:t>Cel: Formalne zapisanie wymagań w dokumentach lub narzędziach.</a:t>
            </a:r>
          </a:p>
          <a:p>
            <a:pPr>
              <a:buNone/>
            </a:pPr>
            <a:r>
              <a:rPr lang="pl-PL" sz="1900"/>
              <a:t>Jak to wygląda w rzeczywistości?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sz="1900"/>
              <a:t>Tworzenie SRS (Software Requirements Specification) – dokument opisujący wymagania.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sz="1900"/>
              <a:t>Rysowanie diagramów UML – np. przypadki użycia, diagramy przepływu procesów biznesowych.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sz="1900"/>
              <a:t>Pisanie user stories i akceptowalnych kryteriów (szczególnie w projektach Agile).</a:t>
            </a:r>
          </a:p>
          <a:p>
            <a:pPr marL="0" indent="0">
              <a:buNone/>
            </a:pPr>
            <a:r>
              <a:rPr lang="pl-PL" sz="1900"/>
              <a:t>Przykład:</a:t>
            </a:r>
            <a:br>
              <a:rPr lang="pl-PL" sz="1900"/>
            </a:br>
            <a:r>
              <a:rPr lang="pl-PL" sz="1900"/>
              <a:t>W projekcie platformy edukacyjnej analityk pisze User Story:</a:t>
            </a:r>
            <a:br>
              <a:rPr lang="pl-PL" sz="1900"/>
            </a:br>
            <a:r>
              <a:rPr lang="pl-PL" sz="1900"/>
              <a:t>„Jako student chcę mieć możliwość przeglądania historii moich ukończonych kursów, aby śledzić mój postęp.”</a:t>
            </a:r>
          </a:p>
          <a:p>
            <a:pPr>
              <a:buNone/>
            </a:pPr>
            <a:r>
              <a:rPr lang="pl-PL" sz="1900"/>
              <a:t>	Akceptacja: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sz="1900"/>
              <a:t>Historia kursów jest dostępna po zalogowaniu.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sz="1900"/>
              <a:t>Kursy są uporządkowane od najnowszych do najstarszych</a:t>
            </a:r>
          </a:p>
          <a:p>
            <a:endParaRPr lang="pl-PL" sz="1900"/>
          </a:p>
        </p:txBody>
      </p:sp>
    </p:spTree>
    <p:extLst>
      <p:ext uri="{BB962C8B-B14F-4D97-AF65-F5344CB8AC3E}">
        <p14:creationId xmlns:p14="http://schemas.microsoft.com/office/powerpoint/2010/main" val="30528373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7CF628DD-775D-356F-5138-0E1C50105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Diagramy UML</a:t>
            </a:r>
          </a:p>
        </p:txBody>
      </p:sp>
      <p:sp>
        <p:nvSpPr>
          <p:cNvPr id="1033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Unified Modeling Language (UML) / Zarządzanie projektami / Artykuły / IT  PWN - IT.PWN.PL">
            <a:extLst>
              <a:ext uri="{FF2B5EF4-FFF2-40B4-BE49-F238E27FC236}">
                <a16:creationId xmlns:a16="http://schemas.microsoft.com/office/drawing/2014/main" id="{3073F181-CEBF-78A7-1142-201634C6C41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54296" y="1368137"/>
            <a:ext cx="7214616" cy="4094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60902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5B462E92-DC96-5FEA-B767-4D80BB0DF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pl-PL" sz="5400"/>
              <a:t>Walidacja wymagań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FA2CE40-7DCB-E867-6DC5-9B28D51F68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l-PL" sz="2000" dirty="0"/>
              <a:t>Cel: Upewnić się, że wymagania są poprawne, kompletne i zgodne z oczekiwaniami klientów.</a:t>
            </a:r>
          </a:p>
          <a:p>
            <a:pPr>
              <a:buNone/>
            </a:pPr>
            <a:r>
              <a:rPr lang="pl-PL" sz="2000" dirty="0"/>
              <a:t>Jak to wygląda w rzeczywistości?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sz="2000" dirty="0"/>
              <a:t>Przeglądy wymagań z zespołem i klientami – wspólne spotkania, gdzie omawia się dokumenty/specyfikacje.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sz="2000" dirty="0"/>
              <a:t>Prototypowanie – tworzenie makiet (np. w </a:t>
            </a:r>
            <a:r>
              <a:rPr lang="pl-PL" sz="2000"/>
              <a:t>Figma</a:t>
            </a:r>
            <a:r>
              <a:rPr lang="pl-PL" sz="2000" dirty="0"/>
              <a:t>) i pokazywanie ich klientom przed kodowaniem.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sz="2000" dirty="0"/>
              <a:t>Testowanie wymagań – sprawdzanie, czy wymagania są mierzalne, osiągalne i testowalne.</a:t>
            </a:r>
          </a:p>
          <a:p>
            <a:pPr marL="0" indent="0">
              <a:buNone/>
            </a:pPr>
            <a:r>
              <a:rPr lang="pl-PL" sz="2000" dirty="0"/>
              <a:t>Przykład:</a:t>
            </a:r>
            <a:br>
              <a:rPr lang="pl-PL" sz="2000" dirty="0"/>
            </a:br>
            <a:r>
              <a:rPr lang="pl-PL" sz="2000" dirty="0"/>
              <a:t>UX designer tworzy prototyp nowej aplikacji do zamawiania jedzenia. Pokazuje go na spotkaniu klientowi, który zauważa brak ważnej funkcji – dodawania kilku adresów dostaw. Wymaganie zostaje dopisane do dokumentacji przed rozpoczęciem kodowania.</a:t>
            </a:r>
          </a:p>
          <a:p>
            <a:endParaRPr lang="pl-PL" sz="2000" dirty="0"/>
          </a:p>
        </p:txBody>
      </p:sp>
    </p:spTree>
    <p:extLst>
      <p:ext uri="{BB962C8B-B14F-4D97-AF65-F5344CB8AC3E}">
        <p14:creationId xmlns:p14="http://schemas.microsoft.com/office/powerpoint/2010/main" val="14334339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87DBAFB1-67AE-053A-9782-95B01D3BA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pl-PL" sz="5400"/>
              <a:t>Zarządzanie wymaganiami</a:t>
            </a:r>
          </a:p>
        </p:txBody>
      </p:sp>
      <p:sp>
        <p:nvSpPr>
          <p:cNvPr id="26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B1600CD-DC6C-B9FE-07BD-19A1013BB7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l-PL" sz="2200"/>
              <a:t>Cel: Utrzymać kontrolę nad wymaganiami w trakcie projektu (bo zmieniają się!).</a:t>
            </a:r>
          </a:p>
          <a:p>
            <a:pPr>
              <a:buNone/>
            </a:pPr>
            <a:r>
              <a:rPr lang="pl-PL" sz="2200"/>
              <a:t>Jak to wygląda w rzeczywistości?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sz="2200"/>
              <a:t>Śledzenie zmian – każda zmiana wymagań musi być zarejestrowana i zatwierdzona.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sz="2200"/>
              <a:t>Version Control – dokumentacja wymagań jest wersjonowana (np. w Confluence, Git).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sz="2200"/>
              <a:t>Impact Analysis – jeśli wymaganie się zmienia, analizuje się, jakie to ma skutki dla innych funkcji.</a:t>
            </a:r>
          </a:p>
          <a:p>
            <a:pPr marL="0" indent="0">
              <a:buNone/>
            </a:pPr>
            <a:r>
              <a:rPr lang="pl-PL" sz="2200"/>
              <a:t>Przykład:</a:t>
            </a:r>
            <a:br>
              <a:rPr lang="pl-PL" sz="2200"/>
            </a:br>
            <a:r>
              <a:rPr lang="pl-PL" sz="2200"/>
              <a:t>Podczas budowy aplikacji mobilnej klient zmienia wymaganie: zamiast loginu i hasła, chce logowanie biometryczne (odcisk palca). Analityk tworzy nowe User Story, aktualizuje backlog i robi analizę wpływu na backend, API i bezpieczeństwo.</a:t>
            </a:r>
          </a:p>
          <a:p>
            <a:endParaRPr lang="pl-PL" sz="2200"/>
          </a:p>
        </p:txBody>
      </p:sp>
    </p:spTree>
    <p:extLst>
      <p:ext uri="{BB962C8B-B14F-4D97-AF65-F5344CB8AC3E}">
        <p14:creationId xmlns:p14="http://schemas.microsoft.com/office/powerpoint/2010/main" val="611318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57292477-EE0C-F8A2-205A-176D9D450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pl-PL" sz="5400"/>
              <a:t>Proces testowania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0173627-A2CF-84D7-9772-C5B2FA32A2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pl-PL" sz="2000"/>
              <a:t>Proces testowania to zestaw działań mających na celu wykrycie błędów i sprawdzenie jakości tworzonego oprogramowania. Testowanie pozwala upewnić się, że produkt działa poprawnie i spełnia wymagania.</a:t>
            </a:r>
          </a:p>
          <a:p>
            <a:endParaRPr lang="pl-PL" sz="2000"/>
          </a:p>
          <a:p>
            <a:r>
              <a:rPr lang="pl-PL" sz="2000"/>
              <a:t>Proces testowania podzielimy na 7 kroków.</a:t>
            </a:r>
          </a:p>
          <a:p>
            <a:pPr marL="914400" lvl="1" indent="-457200">
              <a:buFont typeface="+mj-lt"/>
              <a:buAutoNum type="arabicPeriod"/>
            </a:pPr>
            <a:r>
              <a:rPr lang="pl-PL" sz="2000"/>
              <a:t>Planowanie testów</a:t>
            </a:r>
          </a:p>
          <a:p>
            <a:pPr marL="914400" lvl="1" indent="-457200">
              <a:buFont typeface="+mj-lt"/>
              <a:buAutoNum type="arabicPeriod"/>
            </a:pPr>
            <a:r>
              <a:rPr lang="pl-PL" sz="2000"/>
              <a:t>Projektowanie przypadków testowych</a:t>
            </a:r>
          </a:p>
          <a:p>
            <a:pPr marL="914400" lvl="1" indent="-457200">
              <a:buFont typeface="+mj-lt"/>
              <a:buAutoNum type="arabicPeriod"/>
            </a:pPr>
            <a:r>
              <a:rPr lang="pl-PL" sz="2000"/>
              <a:t>Przygotowanie środowiska testowego</a:t>
            </a:r>
          </a:p>
          <a:p>
            <a:pPr marL="914400" lvl="1" indent="-457200">
              <a:buFont typeface="+mj-lt"/>
              <a:buAutoNum type="arabicPeriod"/>
            </a:pPr>
            <a:r>
              <a:rPr lang="pl-PL" sz="2000"/>
              <a:t>Wykonanie testów</a:t>
            </a:r>
          </a:p>
          <a:p>
            <a:pPr marL="914400" lvl="1" indent="-457200">
              <a:buFont typeface="+mj-lt"/>
              <a:buAutoNum type="arabicPeriod"/>
            </a:pPr>
            <a:r>
              <a:rPr lang="pl-PL" sz="2000"/>
              <a:t>Rejestracja i raportowanie błędów</a:t>
            </a:r>
          </a:p>
          <a:p>
            <a:pPr marL="914400" lvl="1" indent="-457200">
              <a:buFont typeface="+mj-lt"/>
              <a:buAutoNum type="arabicPeriod"/>
            </a:pPr>
            <a:r>
              <a:rPr lang="pl-PL" sz="2000"/>
              <a:t>Retesty i testy regresyjne</a:t>
            </a:r>
          </a:p>
          <a:p>
            <a:pPr marL="914400" lvl="1" indent="-457200">
              <a:buFont typeface="+mj-lt"/>
              <a:buAutoNum type="arabicPeriod"/>
            </a:pPr>
            <a:r>
              <a:rPr lang="pl-PL" sz="2000"/>
              <a:t>Zamknięcie testów</a:t>
            </a:r>
          </a:p>
        </p:txBody>
      </p:sp>
    </p:spTree>
    <p:extLst>
      <p:ext uri="{BB962C8B-B14F-4D97-AF65-F5344CB8AC3E}">
        <p14:creationId xmlns:p14="http://schemas.microsoft.com/office/powerpoint/2010/main" val="6748908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C4FD32B5-8989-7201-7339-DF053F2AA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pl-PL" sz="5400"/>
              <a:t>Planowanie testów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B2F0870-ECC9-D2A4-33CA-E370244FE7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l-PL" sz="1500"/>
              <a:t>Cel: Zaplanować co będziemy testować, jak, czym i kto to zrobi.</a:t>
            </a:r>
          </a:p>
          <a:p>
            <a:pPr>
              <a:buNone/>
            </a:pPr>
            <a:r>
              <a:rPr lang="pl-PL" sz="1500"/>
              <a:t>Jak to wygląda w rzeczywistości?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sz="1500"/>
              <a:t>Tworzy się dokument Plan Testów (Test Plan).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sz="1500"/>
              <a:t>Ustala się zakres testów – co będzie testowane, a co nie.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sz="1500"/>
              <a:t>Wybiera się typy testów – funkcjonalne, wydajnościowe, bezpieczeństwa, itd.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sz="1500"/>
              <a:t>Definiuje się zasoby – ile testerów, jakie urządzenia, jakie narzędzia.</a:t>
            </a:r>
          </a:p>
          <a:p>
            <a:pPr>
              <a:buNone/>
            </a:pPr>
            <a:r>
              <a:rPr lang="pl-PL" sz="1500"/>
              <a:t>Przykład:</a:t>
            </a:r>
            <a:br>
              <a:rPr lang="pl-PL" sz="1500"/>
            </a:br>
            <a:r>
              <a:rPr lang="pl-PL" sz="1500"/>
              <a:t>Dla aplikacji mobilnej banku planujemy: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sz="1500"/>
              <a:t>Testy funkcjonalne (przelewy, historia konta),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sz="1500"/>
              <a:t>Testy bezpieczeństwa (logowanie biometryczne),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sz="1500"/>
              <a:t>Testy wydajności (czas ładowania aplikacji poniżej 2 sekund),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sz="1500"/>
              <a:t>2 testerów manualnych + 1 tester automatyzacji,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sz="1500"/>
              <a:t>Testowanie na iPhone 13, Samsung Galaxy S21 i emulatorze.</a:t>
            </a:r>
          </a:p>
          <a:p>
            <a:endParaRPr lang="pl-PL" sz="1500"/>
          </a:p>
        </p:txBody>
      </p:sp>
    </p:spTree>
    <p:extLst>
      <p:ext uri="{BB962C8B-B14F-4D97-AF65-F5344CB8AC3E}">
        <p14:creationId xmlns:p14="http://schemas.microsoft.com/office/powerpoint/2010/main" val="37346494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8D75889E-29D8-EBC8-725A-B138B59B3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pl-PL" sz="5400"/>
              <a:t>Projektowanie testów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880F1C5-71F4-68CE-B422-A4150B793D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l-PL" sz="2200"/>
              <a:t>Cel: Opracować konkretne przypadki testowe (co i jak sprawdzać).</a:t>
            </a:r>
          </a:p>
          <a:p>
            <a:pPr>
              <a:buNone/>
            </a:pPr>
            <a:r>
              <a:rPr lang="pl-PL" sz="2200"/>
              <a:t>Jak to wygląda w rzeczywistości?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sz="2200"/>
              <a:t>Tworzy się przypadki testowe (Test Cases) i scenariusze testowe (Test Scenarios).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sz="2200"/>
              <a:t>Przygotowuje się dane testowe (np. fikcyjni użytkownicy, produkty).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sz="2200"/>
              <a:t>Opisuje się kroki testowe i oczekiwane wyniki.</a:t>
            </a:r>
          </a:p>
          <a:p>
            <a:pPr>
              <a:buNone/>
            </a:pPr>
            <a:r>
              <a:rPr lang="pl-PL" sz="2200"/>
              <a:t>Przykład:</a:t>
            </a:r>
            <a:br>
              <a:rPr lang="pl-PL" sz="2200"/>
            </a:br>
            <a:r>
              <a:rPr lang="pl-PL" sz="2200"/>
              <a:t>Projektujemy przypadek testowy dla logowania: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sz="2200"/>
              <a:t>Wejdź na stronę logowania, wpisz poprawne dane, kliknij "Zaloguj", sprawdź, czy użytkownik zostaje przeniesiony na stronę główną.</a:t>
            </a:r>
          </a:p>
          <a:p>
            <a:r>
              <a:rPr lang="pl-PL" sz="2200"/>
              <a:t>Projektujemy też przypadki dla błędnych haseł, pustych pól, wygaśnięcia sesji itd.</a:t>
            </a:r>
          </a:p>
          <a:p>
            <a:endParaRPr lang="pl-PL" sz="2200"/>
          </a:p>
        </p:txBody>
      </p:sp>
    </p:spTree>
    <p:extLst>
      <p:ext uri="{BB962C8B-B14F-4D97-AF65-F5344CB8AC3E}">
        <p14:creationId xmlns:p14="http://schemas.microsoft.com/office/powerpoint/2010/main" val="27450682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82F4A27F-7720-D121-FCF4-A58E65642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pl-PL" sz="5400"/>
              <a:t>Przygotowanie środowiska testowego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3D2F6D1-FD5D-4BA7-8B06-1DEEE55636F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29384"/>
            <a:ext cx="10515600" cy="425196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pl-PL" altLang="pl-PL" sz="220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Cel: Przygotować systemy, narzędzia i dane, żeby móc rozpocząć testowanie.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pl-PL" altLang="pl-PL" sz="220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Jak to wygląda w rzeczywistości?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l-PL" altLang="pl-PL" sz="220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Instalacja aplikacji na serwerach testowych lub urządzeniach.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l-PL" altLang="pl-PL" sz="220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Konfiguracja baz danych z danymi testowymi.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l-PL" altLang="pl-PL" sz="220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Instalacja narzędzi testowych (np. Postman, Selenium, TestRail).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l-PL" altLang="pl-PL" sz="220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Przygotowanie kont testowych (admin, użytkownik standardowy).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pl-PL" altLang="pl-PL" sz="220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Przykład:</a:t>
            </a:r>
            <a:br>
              <a:rPr kumimoji="0" lang="pl-PL" altLang="pl-PL" sz="220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pl-PL" altLang="pl-PL" sz="220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Przed testowaniem nowego sklepu internetowego: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l-PL" altLang="pl-PL" sz="220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Stawiamy środowisko testowe </a:t>
            </a:r>
            <a:r>
              <a:rPr kumimoji="0" lang="pl-PL" altLang="pl-PL" sz="2200" i="0" u="none" strike="noStrike" cap="none" normalizeH="0" baseline="0">
                <a:ln>
                  <a:noFill/>
                </a:ln>
                <a:effectLst/>
                <a:latin typeface="Arial Unicode MS" panose="020B0604020202020204" pitchFamily="34" charset="-128"/>
              </a:rPr>
              <a:t>https://test.mojsklep.pl</a:t>
            </a:r>
            <a:r>
              <a:rPr kumimoji="0" lang="pl-PL" altLang="pl-PL" sz="2200" i="0" u="none" strike="noStrike" cap="none" normalizeH="0" baseline="0">
                <a:ln>
                  <a:noFill/>
                </a:ln>
                <a:effectLst/>
              </a:rPr>
              <a:t>,</a:t>
            </a:r>
            <a:endParaRPr kumimoji="0" lang="pl-PL" altLang="pl-PL" sz="220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l-PL" altLang="pl-PL" sz="220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Instalujemy kopię aplikacji i bazę danych z fikcyjnymi produktami,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l-PL" altLang="pl-PL" sz="220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Tworzymy 10 kont użytkowników do różnych scenariuszy zakupów.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l-PL" altLang="pl-PL" sz="22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14682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1E87018E-CD57-D037-57C5-C77366ED3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pl-PL" sz="5400"/>
              <a:t>Wykonanie testów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EE8D311-EB0E-181D-619F-255E0CA18B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l-PL" sz="2000"/>
              <a:t>Cel: Wykonać testy według zaplanowanych przypadków i zebrać wyniki.</a:t>
            </a:r>
          </a:p>
          <a:p>
            <a:pPr>
              <a:buNone/>
            </a:pPr>
            <a:r>
              <a:rPr lang="pl-PL" sz="2000"/>
              <a:t>Jak to wygląda w rzeczywistości?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sz="2000"/>
              <a:t>Testowanie według przygotowanych przypadków testowych.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sz="2000"/>
              <a:t>Rejestrowanie rezultatów: test przeszedł (Pass) lub nie przeszedł (Fail).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sz="2000"/>
              <a:t>Rejestrowanie błędów (Bug Reporting) w systemach typu Jira.</a:t>
            </a:r>
          </a:p>
          <a:p>
            <a:pPr>
              <a:buNone/>
            </a:pPr>
            <a:r>
              <a:rPr lang="pl-PL" sz="2000"/>
              <a:t>Przykład:</a:t>
            </a:r>
            <a:br>
              <a:rPr lang="pl-PL" sz="2000"/>
            </a:br>
            <a:r>
              <a:rPr lang="pl-PL" sz="2000"/>
              <a:t>Tester wykonuje przypadek testowy logowania: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sz="2000"/>
              <a:t>Test "logowanie poprawne" – Pass.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sz="2000"/>
              <a:t>Test "logowanie pustym hasłem" – Fail (aplikacja zawiesza się).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sz="2000"/>
              <a:t>Zgłasza błąd w Jira: „Aplikacja zawiesza się przy pustym haśle podczas logowania – krytyczny.”</a:t>
            </a:r>
          </a:p>
          <a:p>
            <a:endParaRPr lang="pl-PL" sz="2000"/>
          </a:p>
        </p:txBody>
      </p:sp>
    </p:spTree>
    <p:extLst>
      <p:ext uri="{BB962C8B-B14F-4D97-AF65-F5344CB8AC3E}">
        <p14:creationId xmlns:p14="http://schemas.microsoft.com/office/powerpoint/2010/main" val="12322925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7CBE9DB1-4B37-3181-CAA9-1AAD0165C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pl-PL" sz="5400"/>
              <a:t>Rejestracja i raportowanie błędów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1681FD1-556C-0AAE-6800-9A9D17C0AC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29384"/>
            <a:ext cx="10515600" cy="425196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pl-PL" altLang="pl-PL" sz="220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Cel: Zgłaszać i opisywać błędy znalezione w testach.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pl-PL" altLang="pl-PL" sz="220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W praktyce: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l-PL" altLang="pl-PL" sz="220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Rejestracja błędów w systemach typu Jira, Azure DevOps.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l-PL" altLang="pl-PL" sz="220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Opisanie: gdzie błąd występuje, jakie były kroki do jego odtworzenia.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l-PL" altLang="pl-PL" sz="220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Określanie priorytetów (np. Krytyczny, Wysoki, Średni, Niski).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pl-PL" altLang="pl-PL" sz="220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Przykład:</a:t>
            </a:r>
            <a:br>
              <a:rPr kumimoji="0" lang="pl-PL" altLang="pl-PL" sz="220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pl-PL" altLang="pl-PL" sz="220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Zgłoszenie do Jira: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l-PL" altLang="pl-PL" sz="220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Tytuł: "Nieprawidłowa walidacja adresu e-mail".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l-PL" altLang="pl-PL" sz="220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Kroki: Wprowadzono </a:t>
            </a:r>
            <a:r>
              <a:rPr kumimoji="0" lang="pl-PL" altLang="pl-PL" sz="2200" i="0" u="none" strike="noStrike" cap="none" normalizeH="0" baseline="0">
                <a:ln>
                  <a:noFill/>
                </a:ln>
                <a:effectLst/>
                <a:latin typeface="Arial Unicode MS" panose="020B0604020202020204" pitchFamily="34" charset="-128"/>
              </a:rPr>
              <a:t>abc@com</a:t>
            </a:r>
            <a:r>
              <a:rPr kumimoji="0" lang="pl-PL" altLang="pl-PL" sz="2200" i="0" u="none" strike="noStrike" cap="none" normalizeH="0" baseline="0">
                <a:ln>
                  <a:noFill/>
                </a:ln>
                <a:effectLst/>
              </a:rPr>
              <a:t>, zaakceptowano.</a:t>
            </a:r>
            <a:endParaRPr kumimoji="0" lang="pl-PL" altLang="pl-PL" sz="220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l-PL" altLang="pl-PL" sz="220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Priorytet: Wysoki.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l-PL" altLang="pl-PL" sz="22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81098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97304C8D-C6BA-3BE5-96FB-5DE847C5F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pl-PL" sz="5400"/>
              <a:t>Retesty i testy regresyjne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049A173-8CEF-0E8B-7DC0-81014914A17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29384"/>
            <a:ext cx="10515600" cy="425196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pl-PL" altLang="pl-PL" sz="220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Cel: Sprawdzić poprawki oraz upewnić się, że nic innego nie zostało zepsute.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pl-PL" altLang="pl-PL" sz="220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W praktyce: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l-PL" altLang="pl-PL" sz="220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Retest: Sprawdzamy błędy po poprawce.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l-PL" altLang="pl-PL" sz="220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Test regresyjny: Testujemy, czy zmiany nie popsuły innych funkcji.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pl-PL" altLang="pl-PL" sz="220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Przykład:</a:t>
            </a:r>
            <a:br>
              <a:rPr kumimoji="0" lang="pl-PL" altLang="pl-PL" sz="220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pl-PL" altLang="pl-PL" sz="220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Poprawka walidacji e-maila: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l-PL" altLang="pl-PL" sz="220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Retestujemy poprawkę (czy teraz odrzuca </a:t>
            </a:r>
            <a:r>
              <a:rPr kumimoji="0" lang="pl-PL" altLang="pl-PL" sz="2200" i="0" u="none" strike="noStrike" cap="none" normalizeH="0" baseline="0">
                <a:ln>
                  <a:noFill/>
                </a:ln>
                <a:effectLst/>
                <a:latin typeface="Arial Unicode MS" panose="020B0604020202020204" pitchFamily="34" charset="-128"/>
              </a:rPr>
              <a:t>abc@com</a:t>
            </a:r>
            <a:r>
              <a:rPr kumimoji="0" lang="pl-PL" altLang="pl-PL" sz="2200" i="0" u="none" strike="noStrike" cap="none" normalizeH="0" baseline="0">
                <a:ln>
                  <a:noFill/>
                </a:ln>
                <a:effectLst/>
              </a:rPr>
              <a:t>).</a:t>
            </a:r>
            <a:endParaRPr kumimoji="0" lang="pl-PL" altLang="pl-PL" sz="220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l-PL" altLang="pl-PL" sz="220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Test regresyjny – sprawdzamy inne formularze rejestracji.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pl-PL" altLang="pl-PL" sz="22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49926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696BC9EF-EAEA-5368-C135-ED2806DEC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pl-PL" sz="5400"/>
              <a:t>Zakończenie testów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46B0BB4-66C5-22D8-2876-F930A3EEF9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pl-PL" sz="2000"/>
              <a:t>Cel: Podsumować pracę, zamknąć proces testowy i przygotować raporty.</a:t>
            </a:r>
          </a:p>
          <a:p>
            <a:pPr>
              <a:buNone/>
            </a:pPr>
            <a:r>
              <a:rPr lang="pl-PL" sz="2000"/>
              <a:t>Jak to wygląda w rzeczywistości?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sz="2000"/>
              <a:t>Tworzy się Raport z Testów (Test Summary Report).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sz="2000"/>
              <a:t>Analizuje się jakie testy przeszły, ile było błędów, jakie są otwarte błędy.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sz="2000"/>
              <a:t>Organizuje się spotkanie podsumowujące z zespołem developerskim i klientem.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sz="2000"/>
              <a:t>Archiwizuje się przypadki testowe, środowiska, dane.</a:t>
            </a:r>
          </a:p>
          <a:p>
            <a:pPr>
              <a:buNone/>
            </a:pPr>
            <a:r>
              <a:rPr lang="pl-PL" sz="2000"/>
              <a:t>Przykład:</a:t>
            </a:r>
            <a:br>
              <a:rPr lang="pl-PL" sz="2000"/>
            </a:br>
            <a:r>
              <a:rPr lang="pl-PL" sz="2000"/>
              <a:t>Po zakończeniu testowania nowej funkcji w aplikacji mobilnej banku: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sz="2000"/>
              <a:t>50 przypadków testowych -&gt; 47 Pass, 3 Fail.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sz="2000"/>
              <a:t>3 otwarte błędy – uzgodnione jako „do poprawienia w kolejnym wydaniu”.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sz="2000"/>
              <a:t>Przygotowany raport, z którym przechodzi się na spotkanie retrospektywne.</a:t>
            </a:r>
          </a:p>
          <a:p>
            <a:endParaRPr lang="pl-PL" sz="2000"/>
          </a:p>
        </p:txBody>
      </p:sp>
    </p:spTree>
    <p:extLst>
      <p:ext uri="{BB962C8B-B14F-4D97-AF65-F5344CB8AC3E}">
        <p14:creationId xmlns:p14="http://schemas.microsoft.com/office/powerpoint/2010/main" val="19040525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BE52F084-E94A-C431-FBBB-7102DF51D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pl-PL" sz="4600"/>
              <a:t>Transmormata Fouriera i jej zastosowania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34E2AC6-5947-28F4-932D-C681C349A0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pl-PL" sz="2200" dirty="0"/>
              <a:t>Definicja </a:t>
            </a:r>
            <a:r>
              <a:rPr lang="pl-PL" sz="2200" dirty="0" err="1"/>
              <a:t>szerego</a:t>
            </a:r>
            <a:r>
              <a:rPr lang="pl-PL" sz="2200" dirty="0"/>
              <a:t> Fouriera i transformacji Fouriera </a:t>
            </a:r>
          </a:p>
          <a:p>
            <a:endParaRPr lang="pl-PL" sz="2200" dirty="0"/>
          </a:p>
          <a:p>
            <a:r>
              <a:rPr lang="pl-PL" sz="2200" dirty="0"/>
              <a:t>DFT</a:t>
            </a:r>
          </a:p>
          <a:p>
            <a:endParaRPr lang="pl-PL" sz="2200" dirty="0"/>
          </a:p>
          <a:p>
            <a:r>
              <a:rPr lang="pl-PL" sz="2200" dirty="0"/>
              <a:t>FFT</a:t>
            </a:r>
          </a:p>
          <a:p>
            <a:endParaRPr lang="pl-PL" sz="2200" dirty="0"/>
          </a:p>
          <a:p>
            <a:r>
              <a:rPr lang="pl-PL" sz="2200" dirty="0"/>
              <a:t>Przykłady zastosowań</a:t>
            </a:r>
          </a:p>
        </p:txBody>
      </p:sp>
    </p:spTree>
    <p:extLst>
      <p:ext uri="{BB962C8B-B14F-4D97-AF65-F5344CB8AC3E}">
        <p14:creationId xmlns:p14="http://schemas.microsoft.com/office/powerpoint/2010/main" val="36145124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C400A367-53D4-8D04-C1D7-9EB140FCD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pl-PL" sz="5000"/>
              <a:t>Transformata Fouriera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296BB03-D7C9-3C7A-D443-64AD0EE52F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pl-PL" sz="2200"/>
              <a:t>Transformata Fouriera stanowi podstawowe narzędzie analizy sygnałów, zarówno w teorii, jak i w praktycznych zastosowaniach w inżynierii, naukach przyrodniczych i ekonomii. DFT i FFT umożliwiają szybkie i wydajne przetwarzanie danych w systemach cyfrowych, od telefonii komórkowej po diagnostykę medyczną.</a:t>
            </a:r>
          </a:p>
          <a:p>
            <a:endParaRPr lang="pl-PL" sz="2200"/>
          </a:p>
          <a:p>
            <a:endParaRPr lang="pl-PL" sz="2200"/>
          </a:p>
        </p:txBody>
      </p:sp>
    </p:spTree>
    <p:extLst>
      <p:ext uri="{BB962C8B-B14F-4D97-AF65-F5344CB8AC3E}">
        <p14:creationId xmlns:p14="http://schemas.microsoft.com/office/powerpoint/2010/main" val="103635225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Fourier Transform visualization">
            <a:extLst>
              <a:ext uri="{FF2B5EF4-FFF2-40B4-BE49-F238E27FC236}">
                <a16:creationId xmlns:a16="http://schemas.microsoft.com/office/drawing/2014/main" id="{4CDEA395-25C9-F7B1-B088-88CE2E4DA9C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3533" y="1022219"/>
            <a:ext cx="7284934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564370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8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47426B0B-6BFF-B9A9-10DC-557ABA0D1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pl-PL" sz="5400"/>
              <a:t>Szereg Fouriera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ymbol zastępczy zawartości 2">
                <a:extLst>
                  <a:ext uri="{FF2B5EF4-FFF2-40B4-BE49-F238E27FC236}">
                    <a16:creationId xmlns:a16="http://schemas.microsoft.com/office/drawing/2014/main" id="{FF6FFED2-0201-D4BE-9E85-525BF3CFBF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929384"/>
                <a:ext cx="10515600" cy="4251960"/>
              </a:xfrm>
            </p:spPr>
            <p:txBody>
              <a:bodyPr>
                <a:normAutofit/>
              </a:bodyPr>
              <a:lstStyle/>
              <a:p>
                <a:r>
                  <a:rPr lang="pl-PL" sz="2200"/>
                  <a:t>Szereg Fouriera to sposób przedstawiania funkcji okresowej jako sumy nieskończonej liczby funkcji sinusoidalnych (sinusów i kosinusów). Matematycznie, dla funkcji okresowej f(t) o okresie T, szereg Fouriera ma postać:</a:t>
                </a:r>
              </a:p>
              <a:p>
                <a:endParaRPr lang="pl-PL" sz="220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200" b="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pl-PL" sz="2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sz="2200" b="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pl-PL" sz="2200" b="0" i="1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pl-PL" sz="22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sz="2200" b="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l-PL" sz="2200" b="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pl-PL" sz="2200" b="0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pl-PL" sz="2200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200" b="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l-PL" sz="2200" b="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pl-PL" sz="22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pl-PL" sz="2200" b="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pl-PL" sz="22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l-PL" sz="2200" b="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pl-PL" sz="2200" b="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func>
                            <m:funcPr>
                              <m:ctrlPr>
                                <a:rPr lang="pl-PL" sz="2200" b="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pl-PL" sz="2200" b="0" i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pl-PL" sz="22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pl-PL" sz="22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pl-PL" sz="2200" b="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pl-PL" sz="22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𝜋</m:t>
                                      </m:r>
                                      <m:r>
                                        <a:rPr lang="pl-PL" sz="22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𝑛𝑡</m:t>
                                      </m:r>
                                    </m:num>
                                    <m:den>
                                      <m:r>
                                        <a:rPr lang="pl-PL" sz="2200" b="0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den>
                                  </m:f>
                                </m:e>
                              </m:d>
                            </m:e>
                          </m:func>
                          <m:r>
                            <a:rPr lang="pl-PL" sz="2200" b="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pl-PL" sz="22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l-PL" sz="2200" b="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pl-PL" sz="2200" b="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func>
                            <m:funcPr>
                              <m:ctrlPr>
                                <a:rPr lang="pl-PL" sz="2200" b="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pl-PL" sz="2200" b="0" i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pl-PL" sz="22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pl-PL" sz="22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pl-PL" sz="2200" b="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pl-PL" sz="22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𝜋</m:t>
                                      </m:r>
                                      <m:r>
                                        <a:rPr lang="pl-PL" sz="2200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𝑛𝑡</m:t>
                                      </m:r>
                                    </m:num>
                                    <m:den>
                                      <m:r>
                                        <a:rPr lang="pl-PL" sz="2200" b="0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den>
                                  </m:f>
                                </m:e>
                              </m:d>
                            </m:e>
                          </m:func>
                          <m:r>
                            <a:rPr lang="pl-PL" sz="2200" b="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pl-PL" sz="2200" b="0"/>
              </a:p>
              <a:p>
                <a:pPr marL="457200" lvl="1" indent="0">
                  <a:buNone/>
                </a:pPr>
                <a:r>
                  <a:rPr lang="pl-PL" sz="2200"/>
                  <a:t>Gdzie:</a:t>
                </a:r>
              </a:p>
              <a:p>
                <a:pPr marL="457200" lvl="1" indent="0">
                  <a:buNone/>
                </a:pPr>
                <a:r>
                  <a:rPr lang="pl-PL" sz="2200" b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2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l-PL" sz="2200" b="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l-PL" sz="2200" b="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l-PL" sz="2200" b="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pl-PL" sz="220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l-PL" sz="22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pl-PL" sz="2200" b="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pl-PL" sz="2200" b="0"/>
                  <a:t>,</a:t>
                </a:r>
                <a:r>
                  <a:rPr lang="pl-PL" sz="220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l-PL" sz="2200" b="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pl-PL" sz="2200" b="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pl-PL" sz="2200" b="0"/>
                  <a:t> są współczynnikami Fouriera, obliczanymi jako całki funkcj</a:t>
                </a:r>
                <a:r>
                  <a:rPr lang="pl-PL" sz="2200"/>
                  <a:t>i pomnożonej przez odpowiednie funkcje trygonometryczne.</a:t>
                </a:r>
                <a:endParaRPr lang="pl-PL" sz="2200" b="0"/>
              </a:p>
              <a:p>
                <a:pPr marL="457200" lvl="1" indent="0">
                  <a:buNone/>
                </a:pPr>
                <a:endParaRPr lang="pl-PL" sz="2200"/>
              </a:p>
            </p:txBody>
          </p:sp>
        </mc:Choice>
        <mc:Fallback xmlns="">
          <p:sp>
            <p:nvSpPr>
              <p:cNvPr id="3" name="Symbol zastępczy zawartości 2">
                <a:extLst>
                  <a:ext uri="{FF2B5EF4-FFF2-40B4-BE49-F238E27FC236}">
                    <a16:creationId xmlns:a16="http://schemas.microsoft.com/office/drawing/2014/main" id="{FF6FFED2-0201-D4BE-9E85-525BF3CFBF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929384"/>
                <a:ext cx="10515600" cy="4251960"/>
              </a:xfrm>
              <a:blipFill>
                <a:blip r:embed="rId2"/>
                <a:stretch>
                  <a:fillRect l="-696" t="-1722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ole tekstowe 3">
            <a:extLst>
              <a:ext uri="{FF2B5EF4-FFF2-40B4-BE49-F238E27FC236}">
                <a16:creationId xmlns:a16="http://schemas.microsoft.com/office/drawing/2014/main" id="{90F04854-8458-515E-3477-45A979CC30D7}"/>
              </a:ext>
            </a:extLst>
          </p:cNvPr>
          <p:cNvSpPr txBox="1"/>
          <p:nvPr/>
        </p:nvSpPr>
        <p:spPr>
          <a:xfrm>
            <a:off x="5638800" y="297581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51555868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70492899-796C-D118-F15C-A149176BF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pl-PL" sz="5400"/>
              <a:t>Transformata Fouriera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ymbol zastępczy zawartości 2">
                <a:extLst>
                  <a:ext uri="{FF2B5EF4-FFF2-40B4-BE49-F238E27FC236}">
                    <a16:creationId xmlns:a16="http://schemas.microsoft.com/office/drawing/2014/main" id="{887D830D-90D8-DD03-0C15-B37C92458D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929384"/>
                <a:ext cx="10515600" cy="4251960"/>
              </a:xfrm>
            </p:spPr>
            <p:txBody>
              <a:bodyPr>
                <a:normAutofit/>
              </a:bodyPr>
              <a:lstStyle/>
              <a:p>
                <a:r>
                  <a:rPr lang="pl-PL" sz="2200"/>
                  <a:t>Transformata Fouriera uogólnia ideę szeregu Fouriera dla funkcji nieokresowych, pozwalając przedstawić dowolną funkcję jako superpozycję fal sinusoidalnych o różnych częstotliwościach.</a:t>
                </a:r>
              </a:p>
              <a:p>
                <a:endParaRPr lang="pl-PL" sz="2200"/>
              </a:p>
              <a:p>
                <a:pPr lvl="1"/>
                <a:r>
                  <a:rPr lang="pl-PL" sz="2200"/>
                  <a:t>Transformata Fouriera funkcji f(t) definiowana jest wzorem:</a:t>
                </a:r>
              </a:p>
              <a:p>
                <a:pPr marL="91440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200" b="0" i="1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pl-PL" sz="2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sz="22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pl-PL" sz="2200" b="0" i="1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trlPr>
                            <a:rPr lang="pl-PL" sz="2200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200" b="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l-PL" sz="22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pl-PL" sz="2200" b="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l-PL" sz="22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pl-PL" sz="2200" b="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pl-PL" sz="22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l-PL" sz="2200" b="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sSup>
                            <m:sSupPr>
                              <m:ctrlPr>
                                <a:rPr lang="pl-PL" sz="22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l-PL" sz="2200" b="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pl-PL" sz="2200" b="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l-PL" sz="2200" b="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l-PL" sz="22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pl-PL" sz="22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nary>
                      <m:r>
                        <a:rPr lang="pl-PL" sz="2200" b="0" i="1">
                          <a:latin typeface="Cambria Math" panose="02040503050406030204" pitchFamily="18" charset="0"/>
                        </a:rPr>
                        <m:t>𝑑𝑡</m:t>
                      </m:r>
                    </m:oMath>
                  </m:oMathPara>
                </a14:m>
                <a:endParaRPr lang="pl-PL" sz="2200" b="0"/>
              </a:p>
              <a:p>
                <a:pPr marL="914400" lvl="2" indent="0">
                  <a:buNone/>
                </a:pPr>
                <a:r>
                  <a:rPr lang="pl-PL" sz="2200"/>
                  <a:t>Odwrotna transformata Fouriera umożliwia odzyskanie funkcji f(t) z F(</a:t>
                </a:r>
                <a14:m>
                  <m:oMath xmlns:m="http://schemas.openxmlformats.org/officeDocument/2006/math">
                    <m:r>
                      <a:rPr lang="pl-PL" sz="22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pl-PL" sz="2200"/>
                  <a:t>)</a:t>
                </a:r>
              </a:p>
              <a:p>
                <a:pPr marL="91440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sz="2200" b="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pl-PL" sz="2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sz="2200" b="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pl-PL" sz="2200" b="0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pl-PL" sz="2200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l-PL" sz="2200" b="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l-PL" sz="2200" b="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pl-PL" sz="22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nary>
                        <m:naryPr>
                          <m:ctrlPr>
                            <a:rPr lang="pl-PL" sz="2200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l-PL" sz="2200" b="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l-PL" sz="22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pl-PL" sz="2200" b="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l-PL" sz="22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pl-PL" sz="2200" b="0" i="1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pl-PL" sz="2200" b="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l-PL" sz="22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  <m:r>
                            <a:rPr lang="pl-PL" sz="2200" b="0" i="1"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pl-PL" sz="22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l-PL" sz="2200" b="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pl-PL" sz="2200" b="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l-PL" sz="22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pl-PL" sz="22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nary>
                      <m:r>
                        <a:rPr lang="pl-PL" sz="2200" b="0" i="1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pl-PL" sz="22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</m:oMath>
                  </m:oMathPara>
                </a14:m>
                <a:endParaRPr lang="pl-PL" sz="2200"/>
              </a:p>
            </p:txBody>
          </p:sp>
        </mc:Choice>
        <mc:Fallback xmlns="">
          <p:sp>
            <p:nvSpPr>
              <p:cNvPr id="3" name="Symbol zastępczy zawartości 2">
                <a:extLst>
                  <a:ext uri="{FF2B5EF4-FFF2-40B4-BE49-F238E27FC236}">
                    <a16:creationId xmlns:a16="http://schemas.microsoft.com/office/drawing/2014/main" id="{887D830D-90D8-DD03-0C15-B37C92458D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929384"/>
                <a:ext cx="10515600" cy="4251960"/>
              </a:xfrm>
              <a:blipFill>
                <a:blip r:embed="rId2"/>
                <a:stretch>
                  <a:fillRect l="-696" t="-1722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338684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1B9948A6-A246-28C7-4165-DBA564DB0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pl-PL" sz="5000"/>
              <a:t>DFT (Dyskretna Transformata Fouriera)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ymbol zastępczy zawartości 2">
                <a:extLst>
                  <a:ext uri="{FF2B5EF4-FFF2-40B4-BE49-F238E27FC236}">
                    <a16:creationId xmlns:a16="http://schemas.microsoft.com/office/drawing/2014/main" id="{8C83B2CB-C78D-3A6E-1848-B6674BBFC3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929384"/>
                <a:ext cx="10515600" cy="4251960"/>
              </a:xfrm>
            </p:spPr>
            <p:txBody>
              <a:bodyPr>
                <a:normAutofit/>
              </a:bodyPr>
              <a:lstStyle/>
              <a:p>
                <a:r>
                  <a:rPr lang="pl-PL" sz="2200"/>
                  <a:t>DFT to wersja transformaty Fouriera dla danych dyskretnych (czyli dla skończonej liczby próbek sygnału).</a:t>
                </a:r>
              </a:p>
              <a:p>
                <a:r>
                  <a:rPr lang="pl-PL" sz="2200"/>
                  <a:t>Wzór na DFT:</a:t>
                </a:r>
              </a:p>
              <a:p>
                <a:pPr marL="0" indent="0">
                  <a:buNone/>
                </a:pPr>
                <a:r>
                  <a:rPr lang="pl-PL" sz="220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l-PL" sz="2200" b="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pl-PL" sz="2200" b="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pl-PL" sz="2200" b="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pl-PL" sz="2200" b="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pl-PL" sz="2200" b="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pl-PL" sz="2200" b="0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pl-PL" sz="2200" b="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pl-PL" sz="2200" b="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sSub>
                          <m:sSubPr>
                            <m:ctrlPr>
                              <a:rPr lang="pl-PL" sz="22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l-PL" sz="2200" b="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l-PL" sz="2200" b="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sSup>
                          <m:sSupPr>
                            <m:ctrlPr>
                              <a:rPr lang="pl-PL" sz="2200" b="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l-PL" sz="2200" b="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pl-PL" sz="2200" b="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pl-PL" sz="22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pl-PL" sz="2200" b="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pl-PL" sz="2200" b="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pl-PL" sz="22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  <m:r>
                                  <a:rPr lang="pl-PL" sz="22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𝑘𝑛</m:t>
                                </m:r>
                              </m:num>
                              <m:den>
                                <m:r>
                                  <a:rPr lang="pl-PL" sz="22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𝑁</m:t>
                                </m:r>
                              </m:den>
                            </m:f>
                          </m:sup>
                        </m:sSup>
                      </m:e>
                    </m:nary>
                    <m:r>
                      <a:rPr lang="pl-PL" sz="2200" b="0" i="1">
                        <a:latin typeface="Cambria Math" panose="02040503050406030204" pitchFamily="18" charset="0"/>
                      </a:rPr>
                      <m:t>,  </m:t>
                    </m:r>
                    <m:r>
                      <a:rPr lang="pl-PL" sz="2200" b="0" i="1">
                        <a:latin typeface="Cambria Math" panose="02040503050406030204" pitchFamily="18" charset="0"/>
                      </a:rPr>
                      <m:t>𝑑𝑙𝑎</m:t>
                    </m:r>
                    <m:r>
                      <a:rPr lang="pl-PL" sz="2200" b="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pl-PL" sz="2200" b="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pl-PL" sz="2200" b="0" i="1">
                        <a:latin typeface="Cambria Math" panose="02040503050406030204" pitchFamily="18" charset="0"/>
                      </a:rPr>
                      <m:t>=0,1,…,</m:t>
                    </m:r>
                    <m:r>
                      <a:rPr lang="pl-PL" sz="2200" b="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pl-PL" sz="2200" b="0" i="1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pl-PL" sz="2200" b="0"/>
              </a:p>
              <a:p>
                <a:pPr marL="0" indent="0">
                  <a:buNone/>
                </a:pPr>
                <a:endParaRPr lang="pl-PL" sz="220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pl-PL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l-PL" sz="2200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l-PL" sz="2200" b="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pl-PL" sz="2200"/>
                  <a:t>- wartość sygnału w chwili n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pl-PL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l-PL" sz="2200" b="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pl-PL" sz="2200" b="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pl-PL" sz="2200"/>
                  <a:t>- wartość odpowiadająca częstotliwości k,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pl-PL" sz="2200" b="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pl-PL" sz="2200"/>
                  <a:t>- liczba próbek</a:t>
                </a:r>
              </a:p>
            </p:txBody>
          </p:sp>
        </mc:Choice>
        <mc:Fallback xmlns="">
          <p:sp>
            <p:nvSpPr>
              <p:cNvPr id="3" name="Symbol zastępczy zawartości 2">
                <a:extLst>
                  <a:ext uri="{FF2B5EF4-FFF2-40B4-BE49-F238E27FC236}">
                    <a16:creationId xmlns:a16="http://schemas.microsoft.com/office/drawing/2014/main" id="{8C83B2CB-C78D-3A6E-1848-B6674BBFC3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929384"/>
                <a:ext cx="10515600" cy="4251960"/>
              </a:xfrm>
              <a:blipFill>
                <a:blip r:embed="rId2"/>
                <a:stretch>
                  <a:fillRect l="-696" t="-1722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9740186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47C39727-0128-7AB9-BF63-EE746DC8F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pl-PL" sz="5400"/>
              <a:t>FFT (Szybka Transformata Fouriera)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ymbol zastępczy zawartości 2">
                <a:extLst>
                  <a:ext uri="{FF2B5EF4-FFF2-40B4-BE49-F238E27FC236}">
                    <a16:creationId xmlns:a16="http://schemas.microsoft.com/office/drawing/2014/main" id="{6C067FE6-ADAB-3D4B-9347-5864F6EAE01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929384"/>
                <a:ext cx="10515600" cy="4251960"/>
              </a:xfrm>
            </p:spPr>
            <p:txBody>
              <a:bodyPr>
                <a:normAutofit fontScale="92500" lnSpcReduction="20000"/>
              </a:bodyPr>
              <a:lstStyle/>
              <a:p>
                <a:pPr>
                  <a:buNone/>
                </a:pPr>
                <a:r>
                  <a:rPr lang="pl-PL" sz="1800" dirty="0"/>
                  <a:t>FFT (Fast Fourier </a:t>
                </a:r>
                <a:r>
                  <a:rPr lang="pl-PL" sz="1800" dirty="0" err="1"/>
                  <a:t>Transform</a:t>
                </a:r>
                <a:r>
                  <a:rPr lang="pl-PL" sz="1800" dirty="0"/>
                  <a:t>) to szybki algorytm do obliczania DFT.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pl-PL" sz="1800" dirty="0"/>
                  <a:t>Standardowe obliczenie DFT wymaga około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18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l-PL" sz="1800" b="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pl-PL" sz="1800" b="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pl-PL" sz="1800" dirty="0"/>
                  <a:t>operacji.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pl-PL" sz="1800" dirty="0"/>
                  <a:t>FFT zmniejsza to do około </a:t>
                </a:r>
                <a14:m>
                  <m:oMath xmlns:m="http://schemas.openxmlformats.org/officeDocument/2006/math">
                    <m:r>
                      <a:rPr lang="pl-PL" sz="1800" b="0" i="1">
                        <a:latin typeface="Cambria Math" panose="02040503050406030204" pitchFamily="18" charset="0"/>
                      </a:rPr>
                      <m:t>𝑁</m:t>
                    </m:r>
                    <m:func>
                      <m:funcPr>
                        <m:ctrlPr>
                          <a:rPr lang="pl-PL" sz="1800" b="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l-PL" sz="1800" b="0" i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pl-PL" sz="1800" b="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func>
                  </m:oMath>
                </a14:m>
                <a:r>
                  <a:rPr lang="pl-PL" sz="1800" dirty="0"/>
                  <a:t>operacji.</a:t>
                </a:r>
              </a:p>
              <a:p>
                <a:pPr>
                  <a:buNone/>
                </a:pPr>
                <a:r>
                  <a:rPr lang="pl-PL" sz="1800" dirty="0"/>
                  <a:t>Dlaczego to takie ważne?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pl-PL" sz="1800" dirty="0"/>
                  <a:t>Jeśli mamy </a:t>
                </a:r>
                <a:r>
                  <a:rPr lang="pl-PL" sz="1800" dirty="0" err="1"/>
                  <a:t>milon</a:t>
                </a:r>
                <a:r>
                  <a:rPr lang="pl-PL" sz="1800" dirty="0"/>
                  <a:t> próbek sygnału: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pl-PL" sz="1800" dirty="0"/>
                  <a:t>DFT wymaga około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18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l-PL" sz="1800" b="0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pl-PL" sz="1800" b="0" i="1"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</m:oMath>
                </a14:m>
                <a:r>
                  <a:rPr lang="pl-PL" sz="1800" dirty="0"/>
                  <a:t>operacji,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pl-PL" sz="1800" dirty="0"/>
                  <a:t>FFT wymaga tylko około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l-PL" sz="18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l-PL" sz="1800" b="0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pl-PL" sz="1800" b="0" i="1"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</m:oMath>
                </a14:m>
                <a:r>
                  <a:rPr lang="pl-PL" sz="1800" dirty="0"/>
                  <a:t>operacji — milion razy szybciej!</a:t>
                </a:r>
              </a:p>
              <a:p>
                <a:pPr>
                  <a:buNone/>
                </a:pPr>
                <a:r>
                  <a:rPr lang="pl-PL" sz="1800" dirty="0"/>
                  <a:t>Najpopularniejszy algorytm FFT: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pl-PL" sz="1800" dirty="0"/>
                  <a:t>Algorytm Cooleya-</a:t>
                </a:r>
                <a:r>
                  <a:rPr lang="pl-PL" sz="1800" dirty="0" err="1"/>
                  <a:t>Tukeya</a:t>
                </a:r>
                <a:r>
                  <a:rPr lang="pl-PL" sz="1800" dirty="0"/>
                  <a:t> (działa najlepiej, jeśli N jest potęgą 2: np. 256, 1024 itd.)</a:t>
                </a:r>
              </a:p>
              <a:p>
                <a:pPr>
                  <a:buNone/>
                </a:pPr>
                <a:r>
                  <a:rPr lang="pl-PL" sz="1800" dirty="0"/>
                  <a:t>Gdzie używamy FFT?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pl-PL" sz="1800" dirty="0"/>
                  <a:t>Kompresja muzyki i obrazów,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pl-PL" sz="1800" dirty="0"/>
                  <a:t>Szybka analiza sygnałów w czasie rzeczywistym (np. podczas rozmów przez </a:t>
                </a:r>
                <a:r>
                  <a:rPr lang="pl-PL" sz="1800" dirty="0" err="1"/>
                  <a:t>internet</a:t>
                </a:r>
                <a:r>
                  <a:rPr lang="pl-PL" sz="1800" dirty="0"/>
                  <a:t>),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pl-PL" sz="1800" dirty="0"/>
                  <a:t>W medycynie (np. MRI),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pl-PL" sz="1800" dirty="0"/>
                  <a:t>W telekomunikacji (np. systemy 5G).</a:t>
                </a:r>
              </a:p>
              <a:p>
                <a:endParaRPr lang="pl-PL" sz="1200" dirty="0"/>
              </a:p>
            </p:txBody>
          </p:sp>
        </mc:Choice>
        <mc:Fallback>
          <p:sp>
            <p:nvSpPr>
              <p:cNvPr id="3" name="Symbol zastępczy zawartości 2">
                <a:extLst>
                  <a:ext uri="{FF2B5EF4-FFF2-40B4-BE49-F238E27FC236}">
                    <a16:creationId xmlns:a16="http://schemas.microsoft.com/office/drawing/2014/main" id="{6C067FE6-ADAB-3D4B-9347-5864F6EAE0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929384"/>
                <a:ext cx="10515600" cy="4251960"/>
              </a:xfrm>
              <a:blipFill>
                <a:blip r:embed="rId2"/>
                <a:stretch>
                  <a:fillRect l="-406" t="-2009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691260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E399A634-C1DB-2864-082F-735FD1181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pl-PL" sz="5400"/>
              <a:t>Przydatne linki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F810DEB-F095-4E01-C53B-D0F17FEF67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pPr lvl="1"/>
            <a:r>
              <a:rPr lang="pl-PL" sz="2200" dirty="0"/>
              <a:t>Pochodne </a:t>
            </a:r>
          </a:p>
          <a:p>
            <a:pPr marL="914400" lvl="1" indent="-457200">
              <a:buFont typeface="+mj-lt"/>
              <a:buAutoNum type="arabicPeriod"/>
            </a:pPr>
            <a:r>
              <a:rPr lang="pl-PL" sz="2200" dirty="0">
                <a:hlinkClick r:id="rId2"/>
              </a:rPr>
              <a:t>https://pl.wikipedia.org/wiki/Pochodna_cz%C4%85stkowa</a:t>
            </a:r>
            <a:endParaRPr lang="pl-PL" sz="2200" dirty="0"/>
          </a:p>
          <a:p>
            <a:pPr marL="914400" lvl="1" indent="-457200">
              <a:buFont typeface="+mj-lt"/>
              <a:buAutoNum type="arabicPeriod"/>
            </a:pPr>
            <a:r>
              <a:rPr lang="pl-PL" sz="2200" dirty="0">
                <a:hlinkClick r:id="rId3"/>
              </a:rPr>
              <a:t>https://wyznacznik.pl/analiza/pochodne-funkcji-wielu-zmiennych</a:t>
            </a:r>
            <a:endParaRPr lang="pl-PL" sz="2200" dirty="0"/>
          </a:p>
          <a:p>
            <a:pPr marL="914400" lvl="1" indent="-457200">
              <a:buFont typeface="+mj-lt"/>
              <a:buAutoNum type="arabicPeriod"/>
            </a:pPr>
            <a:r>
              <a:rPr lang="pl-PL" sz="2200" dirty="0">
                <a:hlinkClick r:id="rId4"/>
              </a:rPr>
              <a:t>Etrapez.pl</a:t>
            </a:r>
            <a:endParaRPr lang="pl-PL" sz="2200" dirty="0"/>
          </a:p>
          <a:p>
            <a:pPr lvl="1"/>
            <a:r>
              <a:rPr lang="pl-PL" sz="2200" dirty="0"/>
              <a:t>Inżynieria i testy </a:t>
            </a:r>
          </a:p>
          <a:p>
            <a:pPr marL="914400" lvl="1" indent="-457200">
              <a:buFont typeface="+mj-lt"/>
              <a:buAutoNum type="arabicPeriod"/>
            </a:pPr>
            <a:r>
              <a:rPr lang="pl-PL" sz="2200" dirty="0">
                <a:hlinkClick r:id="rId5"/>
              </a:rPr>
              <a:t>https://www.istqb.org/sdm_downloads/istqb-certified-tester-foundation-level-syllabus-v4-0/</a:t>
            </a:r>
            <a:endParaRPr lang="pl-PL" sz="2200" dirty="0"/>
          </a:p>
          <a:p>
            <a:pPr marL="914400" lvl="1" indent="-457200">
              <a:buFont typeface="+mj-lt"/>
              <a:buAutoNum type="arabicPeriod"/>
            </a:pPr>
            <a:r>
              <a:rPr lang="pl-PL" sz="2200" dirty="0">
                <a:hlinkClick r:id="rId6"/>
              </a:rPr>
              <a:t> https://www.youtube.com/watch?v=mqbi7V4Dd5M</a:t>
            </a:r>
            <a:endParaRPr lang="pl-PL" sz="2200" dirty="0"/>
          </a:p>
          <a:p>
            <a:pPr lvl="1"/>
            <a:r>
              <a:rPr lang="pl-PL" sz="2200" dirty="0"/>
              <a:t>Transformata Fouriera</a:t>
            </a:r>
          </a:p>
          <a:p>
            <a:pPr marL="914400" lvl="1" indent="-457200">
              <a:buFont typeface="+mj-lt"/>
              <a:buAutoNum type="arabicPeriod"/>
            </a:pPr>
            <a:r>
              <a:rPr lang="pl-PL" sz="2200" dirty="0">
                <a:hlinkClick r:id="rId7"/>
              </a:rPr>
              <a:t>https://www.fourier-transform.com/</a:t>
            </a:r>
            <a:endParaRPr lang="pl-PL" sz="2200" dirty="0"/>
          </a:p>
          <a:p>
            <a:pPr marL="914400" lvl="1" indent="-457200">
              <a:buFont typeface="+mj-lt"/>
              <a:buAutoNum type="arabicPeriod"/>
            </a:pPr>
            <a:r>
              <a:rPr lang="pl-PL" sz="2200" dirty="0">
                <a:hlinkClick r:id="rId8"/>
              </a:rPr>
              <a:t>https://tutorial.math.lamar.edu/Classes/DE/FourierSeries.aspx</a:t>
            </a:r>
            <a:endParaRPr lang="pl-PL" sz="2200" dirty="0"/>
          </a:p>
          <a:p>
            <a:pPr lvl="1"/>
            <a:endParaRPr lang="pl-PL" sz="2200" dirty="0"/>
          </a:p>
        </p:txBody>
      </p:sp>
    </p:spTree>
    <p:extLst>
      <p:ext uri="{BB962C8B-B14F-4D97-AF65-F5344CB8AC3E}">
        <p14:creationId xmlns:p14="http://schemas.microsoft.com/office/powerpoint/2010/main" val="375897911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BEC296C-4042-481F-48BD-BB2C7E9A12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/>
              <a:t>Dziękuje za uwagę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F9F9235E-47F3-0A7D-0CDB-D503D0533A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l-PL" dirty="0"/>
              <a:t>Mateusz Pękalak 2025r</a:t>
            </a:r>
          </a:p>
        </p:txBody>
      </p:sp>
    </p:spTree>
    <p:extLst>
      <p:ext uri="{BB962C8B-B14F-4D97-AF65-F5344CB8AC3E}">
        <p14:creationId xmlns:p14="http://schemas.microsoft.com/office/powerpoint/2010/main" val="1106004359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36BD6BD5557EF4CA6526425B8C6A1DB" ma:contentTypeVersion="3" ma:contentTypeDescription="Utwórz nowy dokument." ma:contentTypeScope="" ma:versionID="8c04cf59c32346926557c95cdfc859ce">
  <xsd:schema xmlns:xsd="http://www.w3.org/2001/XMLSchema" xmlns:xs="http://www.w3.org/2001/XMLSchema" xmlns:p="http://schemas.microsoft.com/office/2006/metadata/properties" xmlns:ns2="6f4ad519-54a4-4831-b150-602d719bcc04" targetNamespace="http://schemas.microsoft.com/office/2006/metadata/properties" ma:root="true" ma:fieldsID="0af2f26399e1ba8e44410e8c1f50ed1b" ns2:_="">
    <xsd:import namespace="6f4ad519-54a4-4831-b150-602d719bcc0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4ad519-54a4-4831-b150-602d719bcc0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703B6F5-49C0-427B-B396-08DE8D540415}"/>
</file>

<file path=customXml/itemProps2.xml><?xml version="1.0" encoding="utf-8"?>
<ds:datastoreItem xmlns:ds="http://schemas.openxmlformats.org/officeDocument/2006/customXml" ds:itemID="{58DC8954-CF0A-4E25-A53F-3F0A5DC0531D}"/>
</file>

<file path=customXml/itemProps3.xml><?xml version="1.0" encoding="utf-8"?>
<ds:datastoreItem xmlns:ds="http://schemas.openxmlformats.org/officeDocument/2006/customXml" ds:itemID="{245428D1-4D86-4BF7-A8FC-6CD42A4B47F5}"/>
</file>

<file path=docProps/app.xml><?xml version="1.0" encoding="utf-8"?>
<Properties xmlns="http://schemas.openxmlformats.org/officeDocument/2006/extended-properties" xmlns:vt="http://schemas.openxmlformats.org/officeDocument/2006/docPropsVTypes">
  <TotalTime>778</TotalTime>
  <Words>2805</Words>
  <Application>Microsoft Office PowerPoint</Application>
  <PresentationFormat>Panoramiczny</PresentationFormat>
  <Paragraphs>319</Paragraphs>
  <Slides>42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5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42</vt:i4>
      </vt:variant>
    </vt:vector>
  </HeadingPairs>
  <TitlesOfParts>
    <vt:vector size="48" baseType="lpstr">
      <vt:lpstr>Arial Unicode MS</vt:lpstr>
      <vt:lpstr>Aptos</vt:lpstr>
      <vt:lpstr>Aptos Display</vt:lpstr>
      <vt:lpstr>Arial</vt:lpstr>
      <vt:lpstr>Cambria Math</vt:lpstr>
      <vt:lpstr>Motyw pakietu Office</vt:lpstr>
      <vt:lpstr>Zagadnienia 12, 24, 6B</vt:lpstr>
      <vt:lpstr>Pochodna funkcji wielu zmiennych</vt:lpstr>
      <vt:lpstr>Pochodna cząstkowa</vt:lpstr>
      <vt:lpstr>Przydatne wzory</vt:lpstr>
      <vt:lpstr>Pochodna kierunkowa</vt:lpstr>
      <vt:lpstr>Przykład</vt:lpstr>
      <vt:lpstr>Pochodne wyższych rzędów</vt:lpstr>
      <vt:lpstr>Przykłady</vt:lpstr>
      <vt:lpstr>Ekstremum lokalne funkcji</vt:lpstr>
      <vt:lpstr>Rozwiązywanie krok po kroku</vt:lpstr>
      <vt:lpstr>Rozwiązywanie krok po kroku</vt:lpstr>
      <vt:lpstr>Rozwiązywanie krok po kroku</vt:lpstr>
      <vt:lpstr>Przykład</vt:lpstr>
      <vt:lpstr>Przykład</vt:lpstr>
      <vt:lpstr>Mnożnik Lagrange’a</vt:lpstr>
      <vt:lpstr>Używanie mnożnika Lagrange’a</vt:lpstr>
      <vt:lpstr>Używanie mnożnika Lagrange’a</vt:lpstr>
      <vt:lpstr>Techniki zapewniana jakości w poszczególnych fazach tworzenia oprogramowania </vt:lpstr>
      <vt:lpstr>Inżynieria wymagań</vt:lpstr>
      <vt:lpstr>Pozyskiwanie wymagań</vt:lpstr>
      <vt:lpstr>Analiza wymagań</vt:lpstr>
      <vt:lpstr>Specyfikacja wymagań</vt:lpstr>
      <vt:lpstr>Diagramy UML</vt:lpstr>
      <vt:lpstr>Walidacja wymagań</vt:lpstr>
      <vt:lpstr>Zarządzanie wymaganiami</vt:lpstr>
      <vt:lpstr>Proces testowania</vt:lpstr>
      <vt:lpstr>Planowanie testów</vt:lpstr>
      <vt:lpstr>Projektowanie testów</vt:lpstr>
      <vt:lpstr>Przygotowanie środowiska testowego</vt:lpstr>
      <vt:lpstr>Wykonanie testów</vt:lpstr>
      <vt:lpstr>Rejestracja i raportowanie błędów</vt:lpstr>
      <vt:lpstr>Retesty i testy regresyjne</vt:lpstr>
      <vt:lpstr>Zakończenie testów</vt:lpstr>
      <vt:lpstr>Transmormata Fouriera i jej zastosowania</vt:lpstr>
      <vt:lpstr>Transformata Fouriera</vt:lpstr>
      <vt:lpstr>Prezentacja programu PowerPoint</vt:lpstr>
      <vt:lpstr>Szereg Fouriera</vt:lpstr>
      <vt:lpstr>Transformata Fouriera</vt:lpstr>
      <vt:lpstr>DFT (Dyskretna Transformata Fouriera)</vt:lpstr>
      <vt:lpstr>FFT (Szybka Transformata Fouriera)</vt:lpstr>
      <vt:lpstr>Przydatne linki</vt:lpstr>
      <vt:lpstr>Dziękuje za uwagę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Mateusz Pękalak</dc:creator>
  <cp:lastModifiedBy>Mateusz Pękalak</cp:lastModifiedBy>
  <cp:revision>5</cp:revision>
  <dcterms:created xsi:type="dcterms:W3CDTF">2025-04-27T16:31:01Z</dcterms:created>
  <dcterms:modified xsi:type="dcterms:W3CDTF">2025-05-06T11:58:10Z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0x010100536BD6BD5557EF4CA6526425B8C6A1DB</vt:lpwstr>
  </property>
</Properties>
</file>