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0080625" cy="5670550"/>
  <p:notesSz cx="7559675" cy="10691812"/>
</p:presentation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2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ustomXml" Target="../customXml/item3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l-PL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l-PL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l-PL" sz="4400" spc="-1" strike="noStrike">
                <a:latin typeface="Arial"/>
              </a:rPr>
              <a:t>Click to edit the title text format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Click to edit the outline text format</a:t>
            </a:r>
            <a:endParaRPr b="0" lang="pl-PL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latin typeface="Arial"/>
              </a:rPr>
              <a:t>Second Outline Level</a:t>
            </a:r>
            <a:endParaRPr b="0" lang="pl-PL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Third Outline Level</a:t>
            </a:r>
            <a:endParaRPr b="0" lang="pl-PL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latin typeface="Arial"/>
              </a:rPr>
              <a:t>Fourth Outline Level</a:t>
            </a:r>
            <a:endParaRPr b="0" lang="pl-PL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Fifth Outline Level</a:t>
            </a:r>
            <a:endParaRPr b="0" lang="pl-PL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Sixth Outline Level</a:t>
            </a:r>
            <a:endParaRPr b="0" lang="pl-PL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Seventh Outline Level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l-PL" sz="1400" spc="-1" strike="noStrike">
                <a:latin typeface="Times New Roman"/>
              </a:rPr>
              <a:t>&lt;date/time&gt;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pl-PL" sz="1400" spc="-1" strike="noStrike">
                <a:latin typeface="Times New Roman"/>
              </a:rPr>
              <a:t>&lt;footer&gt;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0D2248C6-CF9F-4938-BD5D-E98245A783F7}" type="slidenum">
              <a:rPr b="0" lang="pl-PL" sz="1400" spc="-1" strike="noStrike">
                <a:latin typeface="Times New Roman"/>
              </a:rPr>
              <a:t>&lt;number&gt;</a:t>
            </a:fld>
            <a:endParaRPr b="0" lang="pl-PL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hyperlink" Target="https://en.wikipedia.org/wiki/Random_number_generation" TargetMode="External"/><Relationship Id="rId3" Type="http://schemas.openxmlformats.org/officeDocument/2006/relationships/hyperlink" Target="https://en.wikipedia.org/wiki/Linear_congruential_generator" TargetMode="External"/><Relationship Id="rId4" Type="http://schemas.openxmlformats.org/officeDocument/2006/relationships/hyperlink" Target="https://pl.wikipedia.org/wiki/Polimorfizm_(informatyka" TargetMode="External"/><Relationship Id="rId5" Type="http://schemas.openxmlformats.org/officeDocument/2006/relationships/hyperlink" Target="https://www.w3schools.com/cpp/cpp_polymorphism.asp" TargetMode="External"/><Relationship Id="rId6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200" spc="-1" strike="noStrike">
                <a:latin typeface="Bahnschrift SemiLight"/>
              </a:rPr>
              <a:t>Odpowiedź na pytania egzaminowe 3, 15 i 27</a:t>
            </a:r>
            <a:endParaRPr b="0" lang="pl-PL" sz="3200" spc="-1" strike="noStrike">
              <a:latin typeface="Arial"/>
            </a:endParaRPr>
          </a:p>
          <a:p>
            <a:pPr algn="r"/>
            <a:endParaRPr b="0" lang="pl-PL" sz="3200" spc="-1" strike="noStrike">
              <a:latin typeface="Arial"/>
            </a:endParaRPr>
          </a:p>
          <a:p>
            <a:pPr algn="r"/>
            <a:r>
              <a:rPr b="0" lang="pl-PL" sz="2200" spc="-1" strike="noStrike">
                <a:latin typeface="Bahnschrift SemiLight"/>
              </a:rPr>
              <a:t>Eryk Galicki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pl-PL" sz="4400" spc="-1" strike="noStrike">
                <a:latin typeface="Bahnschrift SemiLight"/>
              </a:rPr>
              <a:t>Spis treści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Bahnschrift SemiLight"/>
              </a:rPr>
              <a:t> </a:t>
            </a:r>
            <a:r>
              <a:rPr b="0" lang="pl-PL" sz="2200" spc="-1" strike="noStrike">
                <a:latin typeface="Bahnschrift SemiLight"/>
              </a:rPr>
              <a:t>Generator liczb pseudolosowych</a:t>
            </a:r>
            <a:endParaRPr b="0" lang="pl-PL" sz="2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Bahnschrift SemiLight"/>
              </a:rPr>
              <a:t> </a:t>
            </a:r>
            <a:r>
              <a:rPr b="0" lang="pl-PL" sz="2200" spc="-1" strike="noStrike">
                <a:latin typeface="Bahnschrift SemiLight"/>
              </a:rPr>
              <a:t>Polimorfizm i dziedziczenie w programowaniu obiektowym  </a:t>
            </a:r>
            <a:endParaRPr b="0" lang="pl-PL" sz="2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Bahnschrift SemiLight"/>
              </a:rPr>
              <a:t>Uwierzytelnianie i kontrola dostępu na przykładzie systemu UNIX/Linux</a:t>
            </a:r>
            <a:endParaRPr b="0" lang="pl-PL" sz="2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504000" y="21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Bahnschrift SemiLight"/>
              </a:rPr>
              <a:t>Generator liczb pseudolosowych</a:t>
            </a:r>
            <a:endParaRPr b="0" lang="pl-PL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Bahnschrift SemiLight"/>
              </a:rPr>
              <a:t>Liczba pseudolosowa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Bahnschrift SemiLight"/>
                <a:ea typeface="Microsoft YaHei"/>
              </a:rPr>
              <a:t>Podstawą różnicą liczb losowych generowanych komputerowo od naturalnych jest to że nie są one tak naprawdę losowe.</a:t>
            </a:r>
            <a:br/>
            <a:br/>
            <a:r>
              <a:rPr b="0" lang="pl-PL" sz="2200" spc="-1" strike="noStrike">
                <a:latin typeface="Bahnschrift SemiLight"/>
                <a:ea typeface="Microsoft YaHei"/>
              </a:rPr>
              <a:t>Liczby pseudolosowe są generowane algorytmem i jedynie wyglądają jak losowo wybrane liczby, ale są w rzeczywistości deterministyczne i możliwe do odtworzenia jeśli znany jest algorytm i element wprowadzony</a:t>
            </a:r>
            <a:r>
              <a:rPr b="0" lang="pl-PL" sz="2200" spc="-1" strike="noStrike">
                <a:latin typeface="Bahnschrift SemiLight"/>
              </a:rPr>
              <a:t>(ziarno) prowadzący do różnych wyników algorytmu.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Cechy dobrego generatora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Brak korelacji pomiędzy kolejnymi losowanymi liczbami.</a:t>
            </a:r>
            <a:endParaRPr b="0" lang="pl-PL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Równomierna dystrybucja liczb aby zachować pozory losowości.</a:t>
            </a:r>
            <a:endParaRPr b="0" lang="pl-PL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Szybkie działanie samego generatora.</a:t>
            </a:r>
            <a:endParaRPr b="0" lang="pl-PL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Brak powtarzalności sekwencji liczb po dłuższym działaniu generatora.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Generatory liczb pseudolosowych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Liniowy kongruentny generator (LCG)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Mnożnikowy generator kongruentny (MCG)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Mersenne Twister (MT19937)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Xorshift</a:t>
            </a:r>
            <a:endParaRPr b="0" lang="pl-PL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600" spc="-1" strike="noStrike">
                <a:latin typeface="Arial"/>
              </a:rPr>
              <a:t>Liniowy kongruentny generator (LCG)</a:t>
            </a:r>
            <a:endParaRPr b="0" lang="pl-PL" sz="3600" spc="-1" strike="noStrike"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326600"/>
            <a:ext cx="9071640" cy="392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8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Wzór: x[i+1]=(a*x[i] +c)%m  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% oznacza operację modulo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liczby a,c,m są naturalne i różne od 0 które są podane przed działaniem generatora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a musi być różne od 1 aby liczby były naprawdę losowe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naturalna x[0] jest ziarnem które trzeba podać na początku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  <a:ea typeface="Microsoft YaHei"/>
              </a:rPr>
              <a:t>Losuję liczby z przedziału &lt;0,m-1&gt;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Zalety: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Szybkie działanie, Łatwa implementacja 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Wady: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Szybka powtarzalność sekwencji,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Korelacje między </a:t>
            </a:r>
            <a:r>
              <a:rPr b="0" lang="pl-PL" sz="2400" spc="-1" strike="noStrike">
                <a:latin typeface="Bahnschrift SemiLight"/>
              </a:rPr>
              <a:t>kolejnymi wartościami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600" spc="-1" strike="noStrike">
                <a:latin typeface="Arial"/>
                <a:ea typeface="Microsoft YaHei"/>
              </a:rPr>
              <a:t>Mnożnikowy generator kongruentny </a:t>
            </a:r>
            <a:r>
              <a:rPr b="0" lang="pl-PL" sz="3600" spc="-1" strike="noStrike">
                <a:latin typeface="Arial"/>
              </a:rPr>
              <a:t>(MCG)</a:t>
            </a:r>
            <a:endParaRPr b="0" lang="pl-PL" sz="3600" spc="-1" strike="noStrike"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432000" y="1254600"/>
            <a:ext cx="9071640" cy="41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0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Wzór: x[i+1]=(a⋅x[i])%m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% oznacza operację modulo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liczby a,m są naturalne i różne od 0 które są podane przed działaniem generatora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a musi być różne od 1 aby liczby były naprawdę losowe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naturalna x[0] jest ziarnem które trzeba podać na początku i nie może być 0.</a:t>
            </a:r>
            <a:endParaRPr b="0" lang="pl-PL" sz="24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  <a:ea typeface="Microsoft YaHei"/>
              </a:rPr>
              <a:t>Losuję liczby z przedziału &lt;0,m-1&gt;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Zalety: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Szybkie działanie, Łatwiejszy w implementacji od LCG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Wady: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Szybka powtarzalność sekwencji,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Bardzo zależny od ziarna x[0],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Korelacje między </a:t>
            </a:r>
            <a:r>
              <a:rPr b="0" lang="pl-PL" sz="2400" spc="-1" strike="noStrike">
                <a:latin typeface="Bahnschrift SemiLight"/>
              </a:rPr>
              <a:t>kolejnymi wartościami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600" spc="-1" strike="noStrike">
                <a:latin typeface="Arial"/>
              </a:rPr>
              <a:t>Mersenne Twister (MT19937)</a:t>
            </a:r>
            <a:endParaRPr b="0" lang="pl-PL" sz="3600" spc="-1" strike="noStrike">
              <a:latin typeface="Arial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432000" y="1254600"/>
            <a:ext cx="9071640" cy="41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97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Bahnschrift SemiLight"/>
              </a:rPr>
              <a:t>Mersenne Twister jest algorytmem wykorzystującym operacje bitowe oraz transformacje liniowe w przestrzeni binarnej przedstawianej jako tablica 642 liczb 32-bitowych. Po wygenerowaniu 642(seeding) liczb jest zmieniona(twisting) i każda liczba jest dodatkowo przekształcana(tempering) aby zapewnić brak korelacji i dokładny rozkład liczb.</a:t>
            </a:r>
            <a:endParaRPr b="0" lang="pl-PL" sz="20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Bahnschrift SemiLight"/>
              </a:rPr>
              <a:t>Okres dla tego generatora jest znany i wynosi: 2^19937 − 1</a:t>
            </a:r>
            <a:endParaRPr b="0" lang="pl-PL" sz="20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Bahnschrift SemiLight"/>
                <a:ea typeface="Microsoft YaHei"/>
              </a:rPr>
              <a:t>Jest domyślnym generatorem w języku programowym Python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Zalety: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Stosunkowo długi okres,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mała korelacja między kolejnymi 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Wady: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Wolniejszy niż inne generatory,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bardzo skomplikowany w implementacji od</a:t>
            </a:r>
            <a:br/>
            <a:r>
              <a:rPr b="0" lang="pl-PL" sz="2000" spc="-1" strike="noStrike">
                <a:latin typeface="Bahnschrift SemiLight"/>
                <a:ea typeface="Microsoft YaHei"/>
              </a:rPr>
              <a:t> innych znanych generatorów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600" spc="-1" strike="noStrike">
                <a:latin typeface="Arial"/>
              </a:rPr>
              <a:t>Xorshift</a:t>
            </a:r>
            <a:endParaRPr b="0" lang="pl-PL" sz="3600" spc="-1" strike="noStrike"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144000" y="1172520"/>
            <a:ext cx="9071640" cy="41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8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Bahnschrift SemiLight"/>
              </a:rPr>
              <a:t>Generatory Xorshift są oparte na operacji bitowych XOR(^) i przesunięciach bitowych.(&lt;&lt;,&gt;&gt;)</a:t>
            </a:r>
            <a:br/>
            <a:br/>
            <a:br/>
            <a:br/>
            <a:br/>
            <a:br/>
            <a:br/>
            <a:r>
              <a:rPr b="0" lang="pl-PL" sz="2400" spc="-1" strike="noStrike">
                <a:latin typeface="Bahnschrift SemiLight"/>
                <a:ea typeface="Microsoft YaHei"/>
              </a:rPr>
              <a:t>Zalety: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Szybki,Łatwy do zaimplementowania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Wady: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możliwe jest łatwe odtworzenie wzorców,</a:t>
            </a:r>
            <a:br/>
            <a:r>
              <a:rPr b="0" lang="pl-PL" sz="2400" spc="-1" strike="noStrike">
                <a:latin typeface="Bahnschrift SemiLight"/>
                <a:ea typeface="Microsoft YaHei"/>
              </a:rPr>
              <a:t>mała odporność na powtarzanie się sekwencji liczb</a:t>
            </a:r>
            <a:br/>
            <a:br/>
            <a:r>
              <a:rPr b="0" lang="pl-PL" sz="2400" spc="-1" strike="noStrike">
                <a:latin typeface="Bahnschrift SemiLight"/>
                <a:ea typeface="Microsoft YaHei"/>
              </a:rPr>
              <a:t> </a:t>
            </a:r>
            <a:endParaRPr b="0" lang="pl-PL" sz="2400" spc="-1" strike="noStrike"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6648840" y="1512000"/>
            <a:ext cx="2566800" cy="2823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Metody testowania generatora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Test chi-kwadrat 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Test monobitowy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Test autokorelacji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Test pokerowy</a:t>
            </a:r>
            <a:endParaRPr b="0" lang="pl-PL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Test pokerowy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Test pokerowy analizuje kombinacje cyfr i wykrywa zależności lub wzorce w wylosowanej liczbie.</a:t>
            </a:r>
            <a:br/>
            <a:r>
              <a:rPr b="0" lang="pl-PL" sz="2000" spc="-1" strike="noStrike">
                <a:latin typeface="Arial"/>
              </a:rPr>
              <a:t>Np.: z  wylosowanej liczby 0.43327 zmieni na ciąg cyfr: 4,3, 3, 2, 7.</a:t>
            </a:r>
            <a:endParaRPr b="0" lang="pl-PL" sz="20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Z tych cyfr dzieli wszystkie na wybraną grupy po np. 5(rozdanie)</a:t>
            </a:r>
            <a:endParaRPr b="0" lang="pl-PL" sz="20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Z tych 5 liczb tworzy on kategorie zależnie od powtarzalności liczb:</a:t>
            </a:r>
            <a:br/>
            <a:r>
              <a:rPr b="0" lang="pl-PL" sz="2000" spc="-1" strike="noStrike">
                <a:latin typeface="Arial"/>
              </a:rPr>
              <a:t>AAAAA, AAAAB, AAABB, AAABC, AABBC,AABCD, ABCDE.</a:t>
            </a:r>
            <a:endParaRPr b="0" lang="pl-PL" sz="20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Oblicza on częstotliwość występowania każdego z układów i porównuję on z teoretycznym możliwym występowanie takich grup.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57960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200" spc="-1" strike="noStrike">
                <a:latin typeface="Arial"/>
              </a:rPr>
              <a:t>Polimorfizm i dziedziczenie </a:t>
            </a:r>
            <a:br/>
            <a:r>
              <a:rPr b="0" lang="pl-PL" sz="3200" spc="-1" strike="noStrike">
                <a:latin typeface="Arial"/>
              </a:rPr>
              <a:t>w programowaniu obiektowym w C++</a:t>
            </a:r>
            <a:endParaRPr b="0" lang="pl-PL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Polimorfizm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66" name="TextShape 2"/>
          <p:cNvSpPr txBox="1"/>
          <p:nvPr/>
        </p:nvSpPr>
        <p:spPr>
          <a:xfrm>
            <a:off x="504000" y="189576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Polimorfizm (wielopostaciowość) to mechanizm pozwalający używać zmiennych, funkcji oraz obiektów w taki sposób, aby mogły przyjmować różne formy w zależności od kontekstu, w którym są wykorzystywane. </a:t>
            </a:r>
            <a:endParaRPr b="0" lang="pl-PL" sz="22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Na przykład, w programowaniu obiektowym polimorfizm umożliwia wywoływanie tej samej funkcji na różnych obiektach, przy czym każdy obiekt może implementować tę metodę w inny sposób.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polimorfizm klas</a:t>
            </a:r>
            <a:endParaRPr b="0" lang="pl-PL" sz="4400" spc="-1" strike="noStrike"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1800000" y="1776600"/>
            <a:ext cx="2736000" cy="3767400"/>
          </a:xfrm>
          <a:prstGeom prst="rect">
            <a:avLst/>
          </a:prstGeom>
          <a:ln>
            <a:noFill/>
          </a:ln>
        </p:spPr>
      </p:pic>
      <p:pic>
        <p:nvPicPr>
          <p:cNvPr id="69" name="" descr=""/>
          <p:cNvPicPr/>
          <p:nvPr/>
        </p:nvPicPr>
        <p:blipFill>
          <a:blip r:embed="rId3"/>
          <a:stretch/>
        </p:blipFill>
        <p:spPr>
          <a:xfrm>
            <a:off x="5328000" y="2048400"/>
            <a:ext cx="3755520" cy="1119600"/>
          </a:xfrm>
          <a:prstGeom prst="rect">
            <a:avLst/>
          </a:prstGeom>
          <a:ln>
            <a:noFill/>
          </a:ln>
        </p:spPr>
      </p:pic>
      <p:sp>
        <p:nvSpPr>
          <p:cNvPr id="70" name="TextShape 2"/>
          <p:cNvSpPr txBox="1"/>
          <p:nvPr/>
        </p:nvSpPr>
        <p:spPr>
          <a:xfrm>
            <a:off x="5976000" y="1259280"/>
            <a:ext cx="208800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2800" spc="-1" strike="noStrike">
                <a:latin typeface="Arial"/>
              </a:rPr>
              <a:t>Wyniki</a:t>
            </a:r>
            <a:r>
              <a:rPr b="0" lang="pl-PL" sz="2200" spc="-1" strike="noStrike">
                <a:latin typeface="Arial"/>
              </a:rPr>
              <a:t>: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71" name="TextShape 3"/>
          <p:cNvSpPr txBox="1"/>
          <p:nvPr/>
        </p:nvSpPr>
        <p:spPr>
          <a:xfrm>
            <a:off x="2016000" y="1259280"/>
            <a:ext cx="2088000" cy="396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2800" spc="-1" strike="noStrike">
                <a:latin typeface="Arial"/>
              </a:rPr>
              <a:t>Przykład</a:t>
            </a:r>
            <a:r>
              <a:rPr b="0" lang="pl-PL" sz="2200" spc="-1" strike="noStrike">
                <a:latin typeface="Arial"/>
              </a:rPr>
              <a:t>: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Polimorfizm funkcji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326600"/>
            <a:ext cx="4032000" cy="5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Przykład: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3200" spc="-1" strike="noStrike"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1728000" y="2034000"/>
            <a:ext cx="2757240" cy="3438000"/>
          </a:xfrm>
          <a:prstGeom prst="rect">
            <a:avLst/>
          </a:prstGeom>
          <a:ln>
            <a:noFill/>
          </a:ln>
        </p:spPr>
      </p:pic>
      <p:sp>
        <p:nvSpPr>
          <p:cNvPr id="75" name="TextShape 3"/>
          <p:cNvSpPr txBox="1"/>
          <p:nvPr/>
        </p:nvSpPr>
        <p:spPr>
          <a:xfrm>
            <a:off x="5256000" y="1326600"/>
            <a:ext cx="4032000" cy="5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Wyniki: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3200" spc="-1" strike="noStrike"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5544000" y="2161080"/>
            <a:ext cx="1390320" cy="1294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 </a:t>
            </a:r>
            <a:r>
              <a:rPr b="0" lang="pl-PL" sz="4400" spc="-1" strike="noStrike">
                <a:latin typeface="Arial"/>
              </a:rPr>
              <a:t>Funkcje wirtualne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78" name="TextShape 2"/>
          <p:cNvSpPr txBox="1"/>
          <p:nvPr/>
        </p:nvSpPr>
        <p:spPr>
          <a:xfrm>
            <a:off x="576000" y="1152000"/>
            <a:ext cx="8640000" cy="76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Funkcje pozwalające na polimorfizm dynamiczny,czyli wybór wersji funkcji która jest wykorzystana jest w czasie wykonania programu, a nie w kompilacji.</a:t>
            </a:r>
            <a:endParaRPr b="0" lang="pl-PL" sz="2200" spc="-1" strike="noStrike"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432000" y="1943280"/>
            <a:ext cx="2925720" cy="3528720"/>
          </a:xfrm>
          <a:prstGeom prst="rect">
            <a:avLst/>
          </a:prstGeom>
          <a:ln>
            <a:noFill/>
          </a:ln>
        </p:spPr>
      </p:pic>
      <p:pic>
        <p:nvPicPr>
          <p:cNvPr id="80" name="" descr=""/>
          <p:cNvPicPr/>
          <p:nvPr/>
        </p:nvPicPr>
        <p:blipFill>
          <a:blip r:embed="rId3"/>
          <a:stretch/>
        </p:blipFill>
        <p:spPr>
          <a:xfrm>
            <a:off x="4835520" y="1913400"/>
            <a:ext cx="3012480" cy="3504240"/>
          </a:xfrm>
          <a:prstGeom prst="rect">
            <a:avLst/>
          </a:prstGeom>
          <a:ln>
            <a:noFill/>
          </a:ln>
        </p:spPr>
      </p:pic>
      <p:sp>
        <p:nvSpPr>
          <p:cNvPr id="81" name="TextShape 3"/>
          <p:cNvSpPr txBox="1"/>
          <p:nvPr/>
        </p:nvSpPr>
        <p:spPr>
          <a:xfrm>
            <a:off x="3251520" y="1974600"/>
            <a:ext cx="1584000" cy="76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Wynik:</a:t>
            </a:r>
            <a:br/>
            <a:r>
              <a:rPr b="0" lang="pl-PL" sz="2200" spc="-1" strike="noStrike">
                <a:latin typeface="Arial"/>
              </a:rPr>
              <a:t>Rysuję koło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82" name="TextShape 4"/>
          <p:cNvSpPr txBox="1"/>
          <p:nvPr/>
        </p:nvSpPr>
        <p:spPr>
          <a:xfrm>
            <a:off x="7416000" y="1872000"/>
            <a:ext cx="1872000" cy="76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Wynik:</a:t>
            </a:r>
            <a:br/>
            <a:r>
              <a:rPr b="0" lang="pl-PL" sz="2200" spc="-1" strike="noStrike">
                <a:latin typeface="Arial"/>
              </a:rPr>
              <a:t>Rysuję figurę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Typy dziedziczenia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84" name="TextShape 2"/>
          <p:cNvSpPr txBox="1"/>
          <p:nvPr/>
        </p:nvSpPr>
        <p:spPr>
          <a:xfrm>
            <a:off x="432000" y="139176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Są trzy typy dziedziczenia w klasach C++:</a:t>
            </a:r>
            <a:br/>
            <a:r>
              <a:rPr b="0" lang="pl-PL" sz="2000" spc="-1" strike="noStrike">
                <a:latin typeface="Arial"/>
              </a:rPr>
              <a:t>-public, nie wprowadza żadnych zmian.</a:t>
            </a:r>
            <a:br/>
            <a:r>
              <a:rPr b="0" lang="pl-PL" sz="2000" spc="-1" strike="noStrike">
                <a:latin typeface="Arial"/>
              </a:rPr>
              <a:t>-protected, Sprawia, że publiczne elementy</a:t>
            </a:r>
            <a:br/>
            <a:r>
              <a:rPr b="0" lang="pl-PL" sz="2000" spc="-1" strike="noStrike">
                <a:latin typeface="Arial"/>
              </a:rPr>
              <a:t> klasy bazowej stają się chronione</a:t>
            </a:r>
            <a:br/>
            <a:r>
              <a:rPr b="0" lang="pl-PL" sz="2000" spc="-1" strike="noStrike">
                <a:latin typeface="Arial"/>
              </a:rPr>
              <a:t> w klasie pochodnej.</a:t>
            </a:r>
            <a:br/>
            <a:r>
              <a:rPr b="0" lang="pl-PL" sz="2000" spc="-1" strike="noStrike">
                <a:latin typeface="Arial"/>
              </a:rPr>
              <a:t>-private,Wszystkie publiczne i chronione </a:t>
            </a:r>
            <a:br/>
            <a:r>
              <a:rPr b="0" lang="pl-PL" sz="2000" spc="-1" strike="noStrike">
                <a:latin typeface="Arial"/>
              </a:rPr>
              <a:t>składowe klasy bazowej stają się </a:t>
            </a:r>
            <a:br/>
            <a:r>
              <a:rPr b="0" lang="pl-PL" sz="2000" spc="-1" strike="noStrike">
                <a:latin typeface="Arial"/>
              </a:rPr>
              <a:t>prywatne w klasie pochodnej.</a:t>
            </a:r>
            <a:endParaRPr b="0" lang="pl-PL" sz="20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2000" spc="-1" strike="noStrike"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6845760" y="1093320"/>
            <a:ext cx="1656000" cy="3814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200" spc="-1" strike="noStrike">
                <a:latin typeface="Arial"/>
              </a:rPr>
              <a:t>Tworzenie i niszczenie obiektów klas bazowych i </a:t>
            </a:r>
            <a:br/>
            <a:r>
              <a:rPr b="0" lang="pl-PL" sz="3200" spc="-1" strike="noStrike">
                <a:latin typeface="Arial"/>
              </a:rPr>
              <a:t>dziedziczących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504000" y="1326600"/>
            <a:ext cx="4608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W przypadku tworzenia obiektów klas tworzenie rozpoczęte jest od klasy bazowej, po której tworzony jest obiekt klasy pochodnej. Dla niszczenia obiektów proces jest dokonywany odwrotnie, najpierw niszczony jest element pochodny i na końcu jest obiekt bazowy.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Wynik dla kodu:</a:t>
            </a:r>
            <a:br/>
            <a:r>
              <a:rPr b="0" lang="pl-PL" sz="1600" spc="-1" strike="noStrike">
                <a:latin typeface="Arial"/>
              </a:rPr>
              <a:t>S1</a:t>
            </a:r>
            <a:br/>
            <a:r>
              <a:rPr b="0" lang="pl-PL" sz="1600" spc="-1" strike="noStrike">
                <a:latin typeface="Arial"/>
              </a:rPr>
              <a:t>S2</a:t>
            </a:r>
            <a:br/>
            <a:r>
              <a:rPr b="0" lang="pl-PL" sz="1600" spc="-1" strike="noStrike">
                <a:latin typeface="Arial"/>
              </a:rPr>
              <a:t>kto</a:t>
            </a:r>
            <a:br/>
            <a:r>
              <a:rPr b="0" lang="pl-PL" sz="1600" spc="-1" strike="noStrike">
                <a:latin typeface="Arial"/>
              </a:rPr>
              <a:t>U2</a:t>
            </a:r>
            <a:br/>
            <a:r>
              <a:rPr b="0" lang="pl-PL" sz="1600" spc="-1" strike="noStrike">
                <a:latin typeface="Arial"/>
              </a:rPr>
              <a:t>U1</a:t>
            </a:r>
            <a:endParaRPr b="0" lang="pl-PL" sz="1600" spc="-1" strike="noStrike"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5832000" y="1368000"/>
            <a:ext cx="3168720" cy="302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50400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2200" spc="-1" strike="noStrike">
                <a:latin typeface="Bahnschrift SemiLight"/>
              </a:rPr>
              <a:t>Uwierzytelnianie i kontrola dostępu na przykładzie systemu UNIX/Linux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Nazwa użytkownika–hasło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Użytkownik ma przypisany unikalny numer identyfikujący UID (User ID), który odpowiada za przyznawanie praw dostępu i jest on podstawową jednostką.</a:t>
            </a:r>
            <a:endParaRPr b="0" lang="pl-PL" sz="1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Hasło jest przypisywane prze użytkownika ale nie jest zapisywane jawnie, jest ono haszowane (szyfrowane jednokierunkowo) za pomocą algorytmu</a:t>
            </a:r>
            <a:endParaRPr b="0" lang="pl-PL" sz="1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Informacje o haśle i użytkowniku są zapisywane do osobnych plików. Dla użytkownika jest to plik „/etc/passwd” i zawiera nazwe użytkownika, UID, GID,(Group ID) katalog domowy.Dla hasła to plik „/etc/shadow” który zawiera zaszyfrowane hasło i informacje o tym jaki typ dostępu ma użytkownik, czas ważności tych dostępów i dostęp do niego ma tylko użytkownik administracyjny.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200" spc="-1" strike="noStrike">
                <a:latin typeface="Arial"/>
              </a:rPr>
              <a:t>Prawa dostępów do plików i katalogów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360000" y="864000"/>
            <a:ext cx="9071640" cy="417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85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l-PL" sz="32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Są 3 typy dostępu do plików i katalogów w systemach :</a:t>
            </a:r>
            <a:br/>
            <a:r>
              <a:rPr b="0" lang="pl-PL" sz="2000" spc="-1" strike="noStrike">
                <a:latin typeface="Arial"/>
              </a:rPr>
              <a:t>- prawo do odczytu (r), czyli można wyświetlić jego zawartość </a:t>
            </a:r>
            <a:br/>
            <a:r>
              <a:rPr b="0" lang="pl-PL" sz="2000" spc="-1" strike="noStrike">
                <a:latin typeface="Arial"/>
              </a:rPr>
              <a:t>- prawo do zapisu (w), czyli można do niego wprowadzić zmiany </a:t>
            </a:r>
            <a:br/>
            <a:r>
              <a:rPr b="0" lang="pl-PL" sz="2000" spc="-1" strike="noStrike">
                <a:latin typeface="Arial"/>
              </a:rPr>
              <a:t>-prawo do wykonywania (x) , czyli można dany program uruchomić</a:t>
            </a:r>
            <a:endParaRPr b="0" lang="pl-PL" sz="20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Katalog można rozumieć jako plik którego zawartością jest lista plików, i dane typu dostępu działają inaczej na nich. </a:t>
            </a:r>
            <a:endParaRPr b="0" lang="pl-PL" sz="1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-Dla katalogów prawo odczytu(r) oznacza że widoczna jest lista plików które się w nim znajdują. </a:t>
            </a:r>
            <a:endParaRPr b="0" lang="pl-PL" sz="1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-Prawo zapisu(w) oznacza że zmienić zawartość katalogu przez dodawanie lub usuwanie elementów. </a:t>
            </a:r>
            <a:endParaRPr b="0" lang="pl-PL" sz="1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-Prawo do wykonywania(x) jest kluczowe, ponieważ pozwala ono wykonać jakiekolwiek operacje wewnątrz katalogu. Bez tego prawa odczyt zawartości pliku jest niemożliwy, nawet mając prawo do odczytu,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576000" y="133560"/>
            <a:ext cx="9071640" cy="65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3200" spc="-1" strike="noStrike">
                <a:latin typeface="Arial"/>
              </a:rPr>
              <a:t>Typy Użytkowników w Unix/Linux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504000" y="792000"/>
            <a:ext cx="9071640" cy="48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8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Superużytkownik(root):</a:t>
            </a:r>
            <a:br/>
            <a:r>
              <a:rPr b="0" lang="pl-PL" sz="1400" spc="-1" strike="noStrike">
                <a:latin typeface="Arial"/>
              </a:rPr>
              <a:t>-Ma pełne uprawnienia do systemu w tym to katalogów i plików. </a:t>
            </a:r>
            <a:br/>
            <a:br/>
            <a:r>
              <a:rPr b="0" lang="pl-PL" sz="1400" spc="-1" strike="noStrike">
                <a:latin typeface="Arial"/>
              </a:rPr>
              <a:t>-UID równy 0.</a:t>
            </a:r>
            <a:endParaRPr b="0" lang="pl-PL" sz="1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latin typeface="Arial"/>
              </a:rPr>
              <a:t>-Może wykonywać każdą operację, niezależnie od uprawnień innych użytkowników. </a:t>
            </a:r>
            <a:endParaRPr b="0" lang="pl-PL" sz="1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400" spc="-1" strike="noStrike">
                <a:latin typeface="Arial"/>
              </a:rPr>
              <a:t>-Ma uprawnienia administracyjne i może instalować oprogramowanie na systemie, zarządzać użytkownikami, plikami, katalogami i konfigurować elementy systemu jak zegar wewnętrzny, nazwy hosta portów sieciowych.</a:t>
            </a:r>
            <a:r>
              <a:rPr b="0" lang="pl-PL" sz="3200" spc="-1" strike="noStrike">
                <a:latin typeface="Arial"/>
              </a:rPr>
              <a:t> </a:t>
            </a:r>
            <a:endParaRPr b="0" lang="pl-PL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latin typeface="Arial"/>
              </a:rPr>
              <a:t>Użytkownicy zwykli:</a:t>
            </a:r>
            <a:br/>
            <a:r>
              <a:rPr b="0" lang="pl-PL" sz="1400" spc="-1" strike="noStrike">
                <a:latin typeface="Arial"/>
              </a:rPr>
              <a:t>-mają przypisany własny katalog w których mogą pracować, zwykle ma postać „.../home/nazwa_użytkownika”</a:t>
            </a:r>
            <a:br/>
            <a:r>
              <a:rPr b="0" lang="pl-PL" sz="1400" spc="-1" strike="noStrike">
                <a:latin typeface="Arial"/>
              </a:rPr>
              <a:t>-mają dostęp tylko do swoich plików i programów systemowych</a:t>
            </a:r>
            <a:endParaRPr b="0" lang="pl-PL" sz="1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Użytkownicy systemowi:</a:t>
            </a:r>
            <a:br/>
            <a:r>
              <a:rPr b="0" lang="pl-PL" sz="1200" spc="-1" strike="noStrike">
                <a:latin typeface="Arial"/>
              </a:rPr>
              <a:t>-Używani przez usługi i demony takie jak MySQL, SSH,</a:t>
            </a:r>
            <a:endParaRPr b="0" lang="pl-PL" sz="1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200" spc="-1" strike="noStrike">
                <a:latin typeface="Arial"/>
              </a:rPr>
              <a:t>Użytkownik „nobody” :</a:t>
            </a:r>
            <a:br/>
            <a:r>
              <a:rPr b="0" lang="pl-PL" sz="1400" spc="-1" strike="noStrike">
                <a:latin typeface="Arial"/>
              </a:rPr>
              <a:t>-Reprezentuje użytkownika root z innego systemu w przypadku zdalnych połączeń za pomocą Sieciowego systemu plików.</a:t>
            </a:r>
            <a:br/>
            <a:r>
              <a:rPr b="0" lang="pl-PL" sz="1400" spc="-1" strike="noStrike">
                <a:latin typeface="Arial"/>
              </a:rPr>
              <a:t>-Nie ma uprawnień do plików i katalogów innych użytkowników.</a:t>
            </a:r>
            <a:br/>
            <a:r>
              <a:rPr b="0" lang="pl-PL" sz="1200" spc="-1" strike="noStrike">
                <a:latin typeface="Arial"/>
              </a:rPr>
              <a:t>-Nie posiada własnych zasobów.</a:t>
            </a:r>
            <a:br/>
            <a:r>
              <a:rPr b="0" lang="pl-PL" sz="1200" spc="-1" strike="noStrike">
                <a:latin typeface="Arial"/>
              </a:rPr>
              <a:t>-Nie ma uprawnień do poleceń sudo, logowania, modyfikowania systemu itp</a:t>
            </a:r>
            <a:endParaRPr b="0" lang="pl-PL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76360" y="144000"/>
            <a:ext cx="9071640" cy="8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Arial"/>
              </a:rPr>
              <a:t>Prawa specjalne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288000" y="1110600"/>
            <a:ext cx="9071640" cy="414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83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Są to dodatkowe prawa dostępu mające na celu danie większej kontroli użytkownikowi nad plikami i katalogami.</a:t>
            </a:r>
            <a:br/>
            <a:r>
              <a:rPr b="0" lang="pl-PL" sz="1800" spc="-1" strike="noStrike">
                <a:latin typeface="Arial"/>
              </a:rPr>
              <a:t> </a:t>
            </a:r>
            <a:endParaRPr b="0" lang="pl-PL" sz="18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Set User ID(SUID):</a:t>
            </a:r>
            <a:br/>
            <a:r>
              <a:rPr b="0" lang="pl-PL" sz="1800" spc="-1" strike="noStrike">
                <a:latin typeface="Arial"/>
              </a:rPr>
              <a:t>- Umożliwia uruchomienie programu z prawami właściciela pliku a nie użytkownika, co pozwala na wykonanie operacji, które normalnie mogliby wykonać tylko właściciel, jak zmiana haseł. </a:t>
            </a:r>
            <a:endParaRPr b="0" lang="pl-PL" sz="18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Set Group ID (SGID):</a:t>
            </a:r>
            <a:br/>
            <a:r>
              <a:rPr b="0" lang="pl-PL" sz="1800" spc="-1" strike="noStrike">
                <a:latin typeface="Arial"/>
              </a:rPr>
              <a:t>-Umożliwia uruchamianie programu lub katalogu z uprawnieniami właściciela grupy. Dla plików oznacza to uruchamiany program działa w  oparciu o właściciela grupy a w przypadku katalogów pozwala to na dziedziczenie grupy właściciela dla wszystkich nowych plików i katalogów utworzonych wewnątrz. </a:t>
            </a:r>
            <a:endParaRPr b="0" lang="pl-PL" sz="1800" spc="-1" strike="noStrike">
              <a:latin typeface="Arial"/>
            </a:endParaRPr>
          </a:p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800" spc="-1" strike="noStrike">
                <a:latin typeface="Arial"/>
              </a:rPr>
              <a:t>Sticky bit:</a:t>
            </a:r>
            <a:br/>
            <a:br/>
            <a:r>
              <a:rPr b="0" lang="pl-PL" sz="1800" spc="-1" strike="noStrike">
                <a:latin typeface="Arial"/>
              </a:rPr>
              <a:t>-Jest prawem pozwalającym na ustawienie pliku w taki sposób że tylko właściciel lub użytkownik root może modyfikować lub usuwać dany plik. 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pl-PL" sz="4400" spc="-1" strike="noStrike">
                <a:latin typeface="Bahnschrift SemiLight"/>
              </a:rPr>
              <a:t>Bibliografia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432360" y="11520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  <a:hlinkClick r:id="rId2"/>
              </a:rPr>
              <a:t>https://en.wikipedia.org/wiki/Random_number_generation</a:t>
            </a:r>
            <a:r>
              <a:rPr b="0" lang="pl-PL" sz="1600" spc="-1" strike="noStrike">
                <a:latin typeface="Arial"/>
              </a:rPr>
              <a:t> 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https://rosettacode.org/wiki/Linear_congruential_generator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  <a:hlinkClick r:id="rId3"/>
              </a:rPr>
              <a:t>https://en.wikipedia.org/wiki/Linear_congruential_generator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https://pl.wikipedia.org/wiki/Mersenne_Twister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  <a:hlinkClick r:id="rId4"/>
              </a:rPr>
              <a:t>https://pl.wikipedia.org/wiki/Polimorfizm_(informatyka</a:t>
            </a:r>
            <a:r>
              <a:rPr b="0" lang="pl-PL" sz="1600" spc="-1" strike="noStrike">
                <a:latin typeface="Arial"/>
              </a:rPr>
              <a:t>)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https://en.wikipedia.org/wiki/Xorshift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  <a:hlinkClick r:id="rId5"/>
              </a:rPr>
              <a:t>https://www.w3schools.com/cpp/cpp_polymorphism.asp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https://msbrijuniversity.ac.in/assets/uploads/newsupdate/PolymorphismInC++.pdf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„</a:t>
            </a:r>
            <a:r>
              <a:rPr b="0" lang="pl-PL" sz="1600" spc="-1" strike="noStrike">
                <a:latin typeface="Arial"/>
              </a:rPr>
              <a:t>System operacyjny Linux – przewodnik użytkownika” Cezzary Sobaniec</a:t>
            </a:r>
            <a:endParaRPr b="0" lang="pl-PL" sz="16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1600" spc="-1" strike="noStrike">
                <a:latin typeface="Arial"/>
              </a:rPr>
              <a:t>„</a:t>
            </a:r>
            <a:r>
              <a:rPr b="0" lang="pl-PL" sz="1600" spc="-1" strike="noStrike">
                <a:latin typeface="Arial"/>
              </a:rPr>
              <a:t>Unix i Linux przewodnik administratora systemów Wydanie V” Evi Nemeth, Garth Snyder, Trent R.Hein, Ben Whaley, Dan Mackin, James Garnett, Fabrizio Branca, Adrian Mouat</a:t>
            </a:r>
            <a:endParaRPr b="0" lang="pl-PL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6BD6BD5557EF4CA6526425B8C6A1DB" ma:contentTypeVersion="3" ma:contentTypeDescription="Utwórz nowy dokument." ma:contentTypeScope="" ma:versionID="8c04cf59c32346926557c95cdfc859ce">
  <xsd:schema xmlns:xsd="http://www.w3.org/2001/XMLSchema" xmlns:xs="http://www.w3.org/2001/XMLSchema" xmlns:p="http://schemas.microsoft.com/office/2006/metadata/properties" xmlns:ns2="6f4ad519-54a4-4831-b150-602d719bcc04" targetNamespace="http://schemas.microsoft.com/office/2006/metadata/properties" ma:root="true" ma:fieldsID="0af2f26399e1ba8e44410e8c1f50ed1b" ns2:_="">
    <xsd:import namespace="6f4ad519-54a4-4831-b150-602d719bcc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ad519-54a4-4831-b150-602d719b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0B347B-3FC5-4FB6-B4AA-CFCB51C3E667}"/>
</file>

<file path=customXml/itemProps2.xml><?xml version="1.0" encoding="utf-8"?>
<ds:datastoreItem xmlns:ds="http://schemas.openxmlformats.org/officeDocument/2006/customXml" ds:itemID="{AE2A187B-9A2B-4AF6-B4BD-310D7FCFE538}"/>
</file>

<file path=customXml/itemProps3.xml><?xml version="1.0" encoding="utf-8"?>
<ds:datastoreItem xmlns:ds="http://schemas.openxmlformats.org/officeDocument/2006/customXml" ds:itemID="{57B396B7-620E-4880-9585-7F802C3B23B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Application>Neat_Office/6.2.8.2$Windows_x86 LibreOffice_project/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25</cp:revision>
  <dcterms:created xsi:type="dcterms:W3CDTF">2025-03-23T13:23:08Z</dcterms:created>
  <dcterms:modified xsi:type="dcterms:W3CDTF">2025-05-13T13:33:29Z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