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customXml" Target="../customXml/item2.xml"/><Relationship Id="rId21" Type="http://schemas.openxmlformats.org/officeDocument/2006/relationships/slide" Target="slides/slide16.xml"/><Relationship Id="rId34" Type="http://schemas.openxmlformats.org/officeDocument/2006/relationships/font" Target="fonts/Roboto-regular.fntdata"/><Relationship Id="rId25" Type="http://schemas.openxmlformats.org/officeDocument/2006/relationships/slide" Target="slides/slide20.xml"/><Relationship Id="rId7" Type="http://schemas.openxmlformats.org/officeDocument/2006/relationships/slide" Target="slides/slide2.xml"/><Relationship Id="rId33" Type="http://schemas.openxmlformats.org/officeDocument/2006/relationships/slide" Target="slides/slide28.xml"/><Relationship Id="rId12" Type="http://schemas.openxmlformats.org/officeDocument/2006/relationships/slide" Target="slides/slide7.xml"/><Relationship Id="rId17" Type="http://schemas.openxmlformats.org/officeDocument/2006/relationships/slide" Target="slides/slide12.xml"/><Relationship Id="rId38" Type="http://schemas.openxmlformats.org/officeDocument/2006/relationships/customXml" Target="../customXml/item1.xml"/><Relationship Id="rId20" Type="http://schemas.openxmlformats.org/officeDocument/2006/relationships/slide" Target="slides/slide15.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font" Target="fonts/Roboto-boldItalic.fntdata"/><Relationship Id="rId40" Type="http://schemas.openxmlformats.org/officeDocument/2006/relationships/customXml" Target="../customXml/item3.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font" Target="fonts/Roboto-italic.fntdata"/><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Roboto-bold.fntdata"/><Relationship Id="rId14" Type="http://schemas.openxmlformats.org/officeDocument/2006/relationships/slide" Target="slides/slide9.xml"/><Relationship Id="rId8" Type="http://schemas.openxmlformats.org/officeDocument/2006/relationships/slide" Target="slides/slide3.xml"/><Relationship Id="rId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85cb2c18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85cb2c18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52219ad38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52219ad38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52219ad38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52219ad38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52219ad38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52219ad38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57921ee88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57921ee88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57921ee88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57921ee88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57a8a58c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57a8a58c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85cb2c18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85cb2c18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91da091c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491da091c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91da091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91da091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91da091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91da091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491da091c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491da091c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491da091c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491da091c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97b47b45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97b47b45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2219ad3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52219ad3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485cb2c18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485cb2c18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85cb2c18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485cb2c18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85cb2c18a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485cb2c18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85cb2c18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85cb2c18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85cb2c18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485cb2c18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2219ad38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52219ad38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2219ad38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2219ad38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52219ad38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52219ad38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52219ad38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52219ad38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7ada0e8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57ada0e8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52219ad38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52219ad38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52219ad38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52219ad38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pl.wikipedia.org/wiki/Twierdzenie" TargetMode="External"/><Relationship Id="rId4" Type="http://schemas.openxmlformats.org/officeDocument/2006/relationships/hyperlink" Target="https://pl.wikipedia.org/wiki/Twierdzenie" TargetMode="External"/><Relationship Id="rId10" Type="http://schemas.openxmlformats.org/officeDocument/2006/relationships/hyperlink" Target="https://pl.wikipedia.org/wiki/Relacja_r%C3%B3wnowa%C5%BCno%C5%9Bci" TargetMode="External"/><Relationship Id="rId9" Type="http://schemas.openxmlformats.org/officeDocument/2006/relationships/hyperlink" Target="https://pl.wikipedia.org/wiki/Relacja_r%C3%B3wnowa%C5%BCno%C5%9Bci" TargetMode="External"/><Relationship Id="rId5" Type="http://schemas.openxmlformats.org/officeDocument/2006/relationships/hyperlink" Target="https://pl.wikipedia.org/wiki/Matematyka" TargetMode="External"/><Relationship Id="rId6" Type="http://schemas.openxmlformats.org/officeDocument/2006/relationships/hyperlink" Target="https://pl.wikipedia.org/wiki/Matematyka" TargetMode="External"/><Relationship Id="rId7" Type="http://schemas.openxmlformats.org/officeDocument/2006/relationships/hyperlink" Target="https://pl.wikipedia.org/wiki/Rozbicie_zbioru" TargetMode="External"/><Relationship Id="rId8" Type="http://schemas.openxmlformats.org/officeDocument/2006/relationships/hyperlink" Target="https://pl.wikipedia.org/wiki/Rozbicie_zbior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pl.wikipedia.org/wiki/J%C4%99zyk_angielski"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www.geeksforgeeks.org/mutex-vs-semaphore/" TargetMode="External"/><Relationship Id="rId4" Type="http://schemas.openxmlformats.org/officeDocument/2006/relationships/hyperlink" Target="https://wojcienty.com/artykul/12/matematyka/teoria_mnogosci/relacje_rownowaznosci_i_klasy_abstrakcji/" TargetMode="External"/><Relationship Id="rId5" Type="http://schemas.openxmlformats.org/officeDocument/2006/relationships/hyperlink" Target="https://www.interaction-design.org/literature/topics/user-centered-desig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Seminarium Dyplomowe</a:t>
            </a:r>
            <a:endParaRPr/>
          </a:p>
        </p:txBody>
      </p:sp>
      <p:sp>
        <p:nvSpPr>
          <p:cNvPr id="86" name="Google Shape;86;p13"/>
          <p:cNvSpPr txBox="1"/>
          <p:nvPr>
            <p:ph idx="1" type="subTitle"/>
          </p:nvPr>
        </p:nvSpPr>
        <p:spPr>
          <a:xfrm>
            <a:off x="598100" y="2639745"/>
            <a:ext cx="8222100" cy="115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Pytania 8, 20 i 2b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60950" y="1889300"/>
            <a:ext cx="8222100" cy="647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l"/>
              <a:t>Pytanie 8</a:t>
            </a:r>
            <a:endParaRPr sz="2300"/>
          </a:p>
        </p:txBody>
      </p:sp>
      <p:sp>
        <p:nvSpPr>
          <p:cNvPr id="92" name="Google Shape;92;p14"/>
          <p:cNvSpPr txBox="1"/>
          <p:nvPr/>
        </p:nvSpPr>
        <p:spPr>
          <a:xfrm>
            <a:off x="608400" y="2571750"/>
            <a:ext cx="7927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2100">
                <a:solidFill>
                  <a:schemeClr val="lt1"/>
                </a:solidFill>
                <a:latin typeface="Roboto"/>
                <a:ea typeface="Roboto"/>
                <a:cs typeface="Roboto"/>
                <a:sym typeface="Roboto"/>
              </a:rPr>
              <a:t>Projektowanie interfejsu użytkownika w aplikacjach</a:t>
            </a:r>
            <a:endParaRPr sz="2100">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Projektowanie metodą UCD</a:t>
            </a:r>
            <a:endParaRPr/>
          </a:p>
        </p:txBody>
      </p:sp>
      <p:sp>
        <p:nvSpPr>
          <p:cNvPr id="98" name="Google Shape;98;p1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UCD (skrót od user-centered design) - metodologia projektowania UX (User Experience) która bazuje na doświadczeniach użytkownika podczas korzystania aplikacji.</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pl"/>
              <a:t>UI (skrót user-interface) - wizualna część naszego oprogramowania z którą ma doczynienia użytkownik.</a:t>
            </a:r>
            <a:br>
              <a:rPr lang="pl"/>
            </a:br>
            <a:r>
              <a:rPr lang="pl"/>
              <a:t>UX (skrót od user-experience) - ogólne doświadczenie jakie doznaje użytkownik podczas korzystania aplikacji.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Fazy projektowania metodologią UCD</a:t>
            </a:r>
            <a:endParaRPr/>
          </a:p>
        </p:txBody>
      </p:sp>
      <p:sp>
        <p:nvSpPr>
          <p:cNvPr id="104" name="Google Shape;104;p1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pl"/>
              <a:t>Zrozumienie kontekstu użytku.</a:t>
            </a:r>
            <a:endParaRPr/>
          </a:p>
          <a:p>
            <a:pPr indent="-342900" lvl="0" marL="457200" rtl="0" algn="l">
              <a:spcBef>
                <a:spcPts val="0"/>
              </a:spcBef>
              <a:spcAft>
                <a:spcPts val="0"/>
              </a:spcAft>
              <a:buSzPts val="1800"/>
              <a:buAutoNum type="arabicPeriod"/>
            </a:pPr>
            <a:r>
              <a:rPr lang="pl"/>
              <a:t>Wyznaczenie wymagań użytkownika.</a:t>
            </a:r>
            <a:endParaRPr/>
          </a:p>
          <a:p>
            <a:pPr indent="-342900" lvl="0" marL="457200" rtl="0" algn="l">
              <a:spcBef>
                <a:spcPts val="0"/>
              </a:spcBef>
              <a:spcAft>
                <a:spcPts val="0"/>
              </a:spcAft>
              <a:buSzPts val="1800"/>
              <a:buAutoNum type="arabicPeriod"/>
            </a:pPr>
            <a:r>
              <a:rPr lang="pl"/>
              <a:t>Projektowanie i implementacja rozwiązania</a:t>
            </a:r>
            <a:endParaRPr/>
          </a:p>
          <a:p>
            <a:pPr indent="-342900" lvl="0" marL="457200" rtl="0" algn="l">
              <a:spcBef>
                <a:spcPts val="0"/>
              </a:spcBef>
              <a:spcAft>
                <a:spcPts val="0"/>
              </a:spcAft>
              <a:buSzPts val="1800"/>
              <a:buAutoNum type="arabicPeriod"/>
            </a:pPr>
            <a:r>
              <a:rPr lang="pl"/>
              <a:t>Ewaluacja czy wymagania były spełnione.</a:t>
            </a:r>
            <a:endParaRPr/>
          </a:p>
        </p:txBody>
      </p:sp>
      <p:pic>
        <p:nvPicPr>
          <p:cNvPr id="105" name="Google Shape;105;p16"/>
          <p:cNvPicPr preferRelativeResize="0"/>
          <p:nvPr/>
        </p:nvPicPr>
        <p:blipFill>
          <a:blip r:embed="rId3">
            <a:alphaModFix/>
          </a:blip>
          <a:stretch>
            <a:fillRect/>
          </a:stretch>
        </p:blipFill>
        <p:spPr>
          <a:xfrm>
            <a:off x="657675" y="2705569"/>
            <a:ext cx="4906126" cy="1863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Uwagi do projektowania UX - Układ</a:t>
            </a:r>
            <a:endParaRPr/>
          </a:p>
        </p:txBody>
      </p:sp>
      <p:sp>
        <p:nvSpPr>
          <p:cNvPr id="111" name="Google Shape;111;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Organizacja elementów UI</a:t>
            </a:r>
            <a:endParaRPr/>
          </a:p>
          <a:p>
            <a:pPr indent="-342900" lvl="0" marL="457200" rtl="0" algn="l">
              <a:spcBef>
                <a:spcPts val="0"/>
              </a:spcBef>
              <a:spcAft>
                <a:spcPts val="0"/>
              </a:spcAft>
              <a:buSzPts val="1800"/>
              <a:buChar char="-"/>
            </a:pPr>
            <a:r>
              <a:rPr lang="pl"/>
              <a:t>Hierachia Wizualna</a:t>
            </a:r>
            <a:endParaRPr/>
          </a:p>
          <a:p>
            <a:pPr indent="-342900" lvl="0" marL="457200" rtl="0" algn="l">
              <a:spcBef>
                <a:spcPts val="0"/>
              </a:spcBef>
              <a:spcAft>
                <a:spcPts val="0"/>
              </a:spcAft>
              <a:buSzPts val="1800"/>
              <a:buChar char="-"/>
            </a:pPr>
            <a:r>
              <a:rPr lang="pl"/>
              <a:t>Czytelność</a:t>
            </a:r>
            <a:endParaRPr/>
          </a:p>
          <a:p>
            <a:pPr indent="-342900" lvl="0" marL="457200" rtl="0" algn="l">
              <a:spcBef>
                <a:spcPts val="0"/>
              </a:spcBef>
              <a:spcAft>
                <a:spcPts val="0"/>
              </a:spcAft>
              <a:buSzPts val="1800"/>
              <a:buChar char="-"/>
            </a:pPr>
            <a:r>
              <a:rPr lang="pl"/>
              <a:t>Wykorzystanie przestrzeni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Uwagi do projektowania UX - Kolory</a:t>
            </a:r>
            <a:endParaRPr/>
          </a:p>
        </p:txBody>
      </p:sp>
      <p:sp>
        <p:nvSpPr>
          <p:cNvPr id="117" name="Google Shape;117;p1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Budowanie Nastroju</a:t>
            </a:r>
            <a:endParaRPr/>
          </a:p>
          <a:p>
            <a:pPr indent="-342900" lvl="0" marL="457200" rtl="0" algn="l">
              <a:spcBef>
                <a:spcPts val="0"/>
              </a:spcBef>
              <a:spcAft>
                <a:spcPts val="0"/>
              </a:spcAft>
              <a:buSzPts val="1800"/>
              <a:buChar char="-"/>
            </a:pPr>
            <a:r>
              <a:rPr lang="pl"/>
              <a:t>Prowadzenie uwagi użytkownika</a:t>
            </a:r>
            <a:endParaRPr/>
          </a:p>
          <a:p>
            <a:pPr indent="-342900" lvl="0" marL="457200" rtl="0" algn="l">
              <a:spcBef>
                <a:spcPts val="0"/>
              </a:spcBef>
              <a:spcAft>
                <a:spcPts val="0"/>
              </a:spcAft>
              <a:buSzPts val="1800"/>
              <a:buChar char="-"/>
            </a:pPr>
            <a:r>
              <a:rPr lang="pl"/>
              <a:t>Zapewnianie czytelności i dostępności</a:t>
            </a:r>
            <a:endParaRPr/>
          </a:p>
          <a:p>
            <a:pPr indent="-342900" lvl="0" marL="457200" rtl="0" algn="l">
              <a:spcBef>
                <a:spcPts val="0"/>
              </a:spcBef>
              <a:spcAft>
                <a:spcPts val="0"/>
              </a:spcAft>
              <a:buSzPts val="1800"/>
              <a:buChar char="-"/>
            </a:pPr>
            <a:r>
              <a:rPr lang="pl"/>
              <a:t>Spójność palety braw</a:t>
            </a:r>
            <a:endParaRPr/>
          </a:p>
        </p:txBody>
      </p:sp>
      <p:pic>
        <p:nvPicPr>
          <p:cNvPr id="118" name="Google Shape;118;p18"/>
          <p:cNvPicPr preferRelativeResize="0"/>
          <p:nvPr/>
        </p:nvPicPr>
        <p:blipFill>
          <a:blip r:embed="rId3">
            <a:alphaModFix/>
          </a:blip>
          <a:stretch>
            <a:fillRect/>
          </a:stretch>
        </p:blipFill>
        <p:spPr>
          <a:xfrm>
            <a:off x="537401" y="2625500"/>
            <a:ext cx="5182723" cy="218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Uwagi do projektowania UX - nawigacja</a:t>
            </a:r>
            <a:endParaRPr/>
          </a:p>
        </p:txBody>
      </p:sp>
      <p:sp>
        <p:nvSpPr>
          <p:cNvPr id="124" name="Google Shape;124;p19"/>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Jak użytkownik porusza się</a:t>
            </a:r>
            <a:endParaRPr/>
          </a:p>
          <a:p>
            <a:pPr indent="-342900" lvl="0" marL="457200" rtl="0" algn="l">
              <a:spcBef>
                <a:spcPts val="0"/>
              </a:spcBef>
              <a:spcAft>
                <a:spcPts val="0"/>
              </a:spcAft>
              <a:buSzPts val="1800"/>
              <a:buChar char="-"/>
            </a:pPr>
            <a:r>
              <a:rPr lang="pl"/>
              <a:t>Intuicyjne menu, jasne ścieżki</a:t>
            </a:r>
            <a:endParaRPr/>
          </a:p>
          <a:p>
            <a:pPr indent="-342900" lvl="0" marL="457200" rtl="0" algn="l">
              <a:spcBef>
                <a:spcPts val="0"/>
              </a:spcBef>
              <a:spcAft>
                <a:spcPts val="0"/>
              </a:spcAft>
              <a:buSzPts val="1800"/>
              <a:buChar char="-"/>
            </a:pPr>
            <a:r>
              <a:rPr lang="pl"/>
              <a:t>Przewidywalność działania przycisków i linków</a:t>
            </a:r>
            <a:endParaRPr/>
          </a:p>
          <a:p>
            <a:pPr indent="-342900" lvl="0" marL="457200" rtl="0" algn="l">
              <a:spcBef>
                <a:spcPts val="0"/>
              </a:spcBef>
              <a:spcAft>
                <a:spcPts val="0"/>
              </a:spcAft>
              <a:buSzPts val="1800"/>
              <a:buChar char="-"/>
            </a:pPr>
            <a:r>
              <a:rPr lang="pl"/>
              <a:t>Łatwy dostęp do kluczowych sekcji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Uwagi do projektowania UX - Resposywność</a:t>
            </a:r>
            <a:endParaRPr/>
          </a:p>
        </p:txBody>
      </p:sp>
      <p:sp>
        <p:nvSpPr>
          <p:cNvPr id="130" name="Google Shape;130;p2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pl"/>
              <a:t>Dostosowanie interfejsów do różnych urządzeń</a:t>
            </a:r>
            <a:endParaRPr/>
          </a:p>
          <a:p>
            <a:pPr indent="-342900" lvl="0" marL="457200" rtl="0" algn="l">
              <a:spcBef>
                <a:spcPts val="0"/>
              </a:spcBef>
              <a:spcAft>
                <a:spcPts val="0"/>
              </a:spcAft>
              <a:buSzPts val="1800"/>
              <a:buChar char="-"/>
            </a:pPr>
            <a:r>
              <a:rPr lang="pl"/>
              <a:t>Zachowanie czytelności i funkcjonalności</a:t>
            </a:r>
            <a:endParaRPr/>
          </a:p>
          <a:p>
            <a:pPr indent="-342900" lvl="0" marL="457200" rtl="0" algn="l">
              <a:spcBef>
                <a:spcPts val="0"/>
              </a:spcBef>
              <a:spcAft>
                <a:spcPts val="0"/>
              </a:spcAft>
              <a:buSzPts val="1800"/>
              <a:buChar char="-"/>
            </a:pPr>
            <a:r>
              <a:rPr lang="pl"/>
              <a:t>Podejście “Mobile first”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460950" y="1889300"/>
            <a:ext cx="8222100" cy="647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l"/>
              <a:t>Pytanie 20</a:t>
            </a:r>
            <a:endParaRPr sz="2300"/>
          </a:p>
        </p:txBody>
      </p:sp>
      <p:sp>
        <p:nvSpPr>
          <p:cNvPr id="136" name="Google Shape;136;p21"/>
          <p:cNvSpPr txBox="1"/>
          <p:nvPr/>
        </p:nvSpPr>
        <p:spPr>
          <a:xfrm>
            <a:off x="608400" y="2571750"/>
            <a:ext cx="7927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2100">
                <a:solidFill>
                  <a:schemeClr val="lt1"/>
                </a:solidFill>
                <a:latin typeface="Roboto"/>
                <a:ea typeface="Roboto"/>
                <a:cs typeface="Roboto"/>
                <a:sym typeface="Roboto"/>
              </a:rPr>
              <a:t>Relacje</a:t>
            </a:r>
            <a:endParaRPr sz="2100">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Relacja - Iloczyn Kartenzjański</a:t>
            </a:r>
            <a:endParaRPr/>
          </a:p>
        </p:txBody>
      </p:sp>
      <p:sp>
        <p:nvSpPr>
          <p:cNvPr id="142" name="Google Shape;142;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Definicja: Iloczynem Kartenzjańskim zbiorów A i B nazywamy taki zbiór:</a:t>
            </a:r>
            <a:br>
              <a:rPr lang="pl"/>
            </a:br>
            <a:endParaRPr/>
          </a:p>
          <a:p>
            <a:pPr indent="0" lvl="0" marL="0" rtl="0" algn="l">
              <a:spcBef>
                <a:spcPts val="1200"/>
              </a:spcBef>
              <a:spcAft>
                <a:spcPts val="1200"/>
              </a:spcAft>
              <a:buNone/>
            </a:pPr>
            <a:r>
              <a:rPr lang="pl"/>
              <a:t>	AxB = {(a,b);a E A, b E B }</a:t>
            </a:r>
            <a:br>
              <a:rPr lang="pl"/>
            </a:br>
            <a:br>
              <a:rPr lang="pl"/>
            </a:br>
            <a:r>
              <a:rPr lang="pl"/>
              <a:t>Relacja w iloczynie kartezjańskim AxB nazywamy podzbiory iloczynu kartezjańskiego AxB.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Relacja - definicja</a:t>
            </a:r>
            <a:endParaRPr/>
          </a:p>
        </p:txBody>
      </p:sp>
      <p:sp>
        <p:nvSpPr>
          <p:cNvPr id="148" name="Google Shape;148;p23"/>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Relacją dwuczłonową określoną w zbiorze A nazywamy dowolny podzbiór A^2</a:t>
            </a:r>
            <a:endParaRPr/>
          </a:p>
          <a:p>
            <a:pPr indent="0" lvl="0" marL="0" rtl="0" algn="l">
              <a:spcBef>
                <a:spcPts val="1200"/>
              </a:spcBef>
              <a:spcAft>
                <a:spcPts val="0"/>
              </a:spcAft>
              <a:buNone/>
            </a:pPr>
            <a:r>
              <a:rPr lang="pl"/>
              <a:t>Relacje n-członową określoną w zbiorze A nazywamy dowolny podzbiór A^n</a:t>
            </a:r>
            <a:endParaRPr/>
          </a:p>
          <a:p>
            <a:pPr indent="-342900" lvl="0" marL="457200" rtl="0" algn="l">
              <a:spcBef>
                <a:spcPts val="1200"/>
              </a:spcBef>
              <a:spcAft>
                <a:spcPts val="0"/>
              </a:spcAft>
              <a:buSzPts val="1800"/>
              <a:buChar char="-"/>
            </a:pPr>
            <a:r>
              <a:rPr lang="pl"/>
              <a:t>Przykład: Mamy określoną relację dwuczłonową R na zbiorze A = {1,2,3}. W takim wypadku:</a:t>
            </a:r>
            <a:endParaRPr/>
          </a:p>
          <a:p>
            <a:pPr indent="-342900" lvl="0" marL="457200" rtl="0" algn="l">
              <a:spcBef>
                <a:spcPts val="0"/>
              </a:spcBef>
              <a:spcAft>
                <a:spcPts val="0"/>
              </a:spcAft>
              <a:buSzPts val="1800"/>
              <a:buChar char="-"/>
            </a:pPr>
            <a:r>
              <a:rPr lang="pl"/>
              <a:t>R={(1,3),(1,2),(2,1)}</a:t>
            </a:r>
            <a:endParaRPr/>
          </a:p>
          <a:p>
            <a:pPr indent="0" lvl="0" marL="0" rtl="0" algn="l">
              <a:spcBef>
                <a:spcPts val="1200"/>
              </a:spcBef>
              <a:spcAft>
                <a:spcPts val="0"/>
              </a:spcAft>
              <a:buNone/>
            </a:pPr>
            <a:r>
              <a:rPr lang="pl"/>
              <a:t>Parę (a,b) przynależąca można oznaczyć jako R(a,b) lub jako aRb</a:t>
            </a:r>
            <a:endParaRPr/>
          </a:p>
          <a:p>
            <a:pPr indent="0" lvl="0" marL="0" rtl="0" algn="l">
              <a:spcBef>
                <a:spcPts val="1200"/>
              </a:spcBef>
              <a:spcAft>
                <a:spcPts val="1200"/>
              </a:spcAft>
              <a:buNone/>
            </a:pPr>
            <a:r>
              <a:rPr lang="pl"/>
              <a:t>Relacja można także zdefinować na różnych od siebie zbiorach.</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Relacja - warunki</a:t>
            </a:r>
            <a:endParaRPr/>
          </a:p>
        </p:txBody>
      </p:sp>
      <p:sp>
        <p:nvSpPr>
          <p:cNvPr id="154" name="Google Shape;154;p2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Można także określić warunek do spełnienia relacji:</a:t>
            </a:r>
            <a:endParaRPr/>
          </a:p>
          <a:p>
            <a:pPr indent="-342900" lvl="0" marL="457200" rtl="0" algn="l">
              <a:spcBef>
                <a:spcPts val="1200"/>
              </a:spcBef>
              <a:spcAft>
                <a:spcPts val="0"/>
              </a:spcAft>
              <a:buSzPts val="1800"/>
              <a:buChar char="-"/>
            </a:pPr>
            <a:r>
              <a:rPr lang="pl"/>
              <a:t>Przyjmijmy</a:t>
            </a:r>
            <a:r>
              <a:rPr lang="pl"/>
              <a:t> relację dwuczłonową R w zbiorze AxB, gdzie </a:t>
            </a:r>
            <a:br>
              <a:rPr lang="pl"/>
            </a:br>
            <a:r>
              <a:rPr lang="pl"/>
              <a:t>A={1,2,3} B={0.5,4,5,6} z warunkiem że (x,y) E R wtedy i tylko wtedy gdy x &lt; y, gdzie x E A, y E B</a:t>
            </a:r>
            <a:br>
              <a:rPr lang="pl"/>
            </a:br>
            <a:br>
              <a:rPr lang="pl"/>
            </a:br>
            <a:r>
              <a:rPr lang="pl"/>
              <a:t>R = {(1,4),(1,5),(1,6)...(3,4)(3,5)(3,6)} - nie ma par x R 0.5 gdyż nie spełniają warunku relacji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Relacje - własności</a:t>
            </a:r>
            <a:endParaRPr/>
          </a:p>
        </p:txBody>
      </p:sp>
      <p:sp>
        <p:nvSpPr>
          <p:cNvPr id="160" name="Google Shape;160;p2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pl"/>
              <a:t>Mówimy że Relacja R jest :</a:t>
            </a:r>
            <a:endParaRPr/>
          </a:p>
          <a:p>
            <a:pPr indent="-342900" lvl="0" marL="457200" rtl="0" algn="l">
              <a:spcBef>
                <a:spcPts val="1200"/>
              </a:spcBef>
              <a:spcAft>
                <a:spcPts val="0"/>
              </a:spcAft>
              <a:buSzPts val="1800"/>
              <a:buChar char="-"/>
            </a:pPr>
            <a:r>
              <a:rPr b="1" lang="pl"/>
              <a:t>zwrotna </a:t>
            </a:r>
            <a:r>
              <a:rPr lang="pl"/>
              <a:t>gdy </a:t>
            </a:r>
            <a:r>
              <a:rPr lang="pl"/>
              <a:t>dla każdego</a:t>
            </a:r>
            <a:r>
              <a:rPr b="1" lang="pl"/>
              <a:t> </a:t>
            </a:r>
            <a:r>
              <a:rPr lang="pl"/>
              <a:t>x E A, R(x,x)</a:t>
            </a:r>
            <a:endParaRPr/>
          </a:p>
          <a:p>
            <a:pPr indent="-342900" lvl="0" marL="457200" rtl="0" algn="l">
              <a:spcBef>
                <a:spcPts val="0"/>
              </a:spcBef>
              <a:spcAft>
                <a:spcPts val="0"/>
              </a:spcAft>
              <a:buSzPts val="1800"/>
              <a:buChar char="-"/>
            </a:pPr>
            <a:r>
              <a:rPr b="1" lang="pl"/>
              <a:t>przeciwzwrotna </a:t>
            </a:r>
            <a:r>
              <a:rPr lang="pl"/>
              <a:t>gdy </a:t>
            </a:r>
            <a:r>
              <a:rPr lang="pl"/>
              <a:t>dla każdego xEA, ~( R(x,x) )</a:t>
            </a:r>
            <a:endParaRPr/>
          </a:p>
          <a:p>
            <a:pPr indent="-342900" lvl="0" marL="457200" rtl="0" algn="l">
              <a:spcBef>
                <a:spcPts val="0"/>
              </a:spcBef>
              <a:spcAft>
                <a:spcPts val="0"/>
              </a:spcAft>
              <a:buSzPts val="1800"/>
              <a:buChar char="-"/>
            </a:pPr>
            <a:r>
              <a:rPr b="1" lang="pl"/>
              <a:t>symetryczna</a:t>
            </a:r>
            <a:r>
              <a:rPr lang="pl"/>
              <a:t> gdy dla każdego x,y E A, xRy -&gt; yRx</a:t>
            </a:r>
            <a:endParaRPr/>
          </a:p>
          <a:p>
            <a:pPr indent="-342900" lvl="0" marL="457200" rtl="0" algn="l">
              <a:spcBef>
                <a:spcPts val="0"/>
              </a:spcBef>
              <a:spcAft>
                <a:spcPts val="0"/>
              </a:spcAft>
              <a:buSzPts val="1800"/>
              <a:buChar char="-"/>
            </a:pPr>
            <a:r>
              <a:rPr b="1" lang="pl"/>
              <a:t>asymetryczna </a:t>
            </a:r>
            <a:r>
              <a:rPr lang="pl"/>
              <a:t>gdy dla każdego x,y E A, xRy -&gt; ~(yRx)</a:t>
            </a:r>
            <a:endParaRPr/>
          </a:p>
          <a:p>
            <a:pPr indent="-342900" lvl="0" marL="457200" rtl="0" algn="l">
              <a:spcBef>
                <a:spcPts val="0"/>
              </a:spcBef>
              <a:spcAft>
                <a:spcPts val="0"/>
              </a:spcAft>
              <a:buSzPts val="1800"/>
              <a:buChar char="-"/>
            </a:pPr>
            <a:r>
              <a:rPr b="1" lang="pl"/>
              <a:t>przeciwsymetryczna</a:t>
            </a:r>
            <a:r>
              <a:rPr b="1" lang="pl"/>
              <a:t> </a:t>
            </a:r>
            <a:r>
              <a:rPr lang="pl"/>
              <a:t>gdy dla każdego x,y E A xRy -&gt; yRx to x=y</a:t>
            </a:r>
            <a:endParaRPr/>
          </a:p>
          <a:p>
            <a:pPr indent="-342900" lvl="0" marL="457200" rtl="0" algn="l">
              <a:spcBef>
                <a:spcPts val="0"/>
              </a:spcBef>
              <a:spcAft>
                <a:spcPts val="0"/>
              </a:spcAft>
              <a:buSzPts val="1800"/>
              <a:buChar char="-"/>
            </a:pPr>
            <a:r>
              <a:rPr b="1" lang="pl"/>
              <a:t>przechodnia </a:t>
            </a:r>
            <a:r>
              <a:rPr lang="pl"/>
              <a:t>gdy dla każdego x,y,z E A, xRy i yRz -&gt; xRz</a:t>
            </a:r>
            <a:endParaRPr/>
          </a:p>
          <a:p>
            <a:pPr indent="-342900" lvl="0" marL="457200" rtl="0" algn="l">
              <a:spcBef>
                <a:spcPts val="0"/>
              </a:spcBef>
              <a:spcAft>
                <a:spcPts val="0"/>
              </a:spcAft>
              <a:buSzPts val="1800"/>
              <a:buChar char="-"/>
            </a:pPr>
            <a:r>
              <a:rPr b="1" lang="pl"/>
              <a:t>spójna </a:t>
            </a:r>
            <a:r>
              <a:rPr lang="pl"/>
              <a:t>gdy dla każdego x,y E A, x != y -&gt; xRy lub yRx</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Relacje</a:t>
            </a:r>
            <a:endParaRPr/>
          </a:p>
        </p:txBody>
      </p:sp>
      <p:sp>
        <p:nvSpPr>
          <p:cNvPr id="166" name="Google Shape;166;p26"/>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t>Mówimy że relacja R jest relacją równoważną gdy:</a:t>
            </a:r>
            <a:endParaRPr/>
          </a:p>
          <a:p>
            <a:pPr indent="-342900" lvl="0" marL="457200" rtl="0" algn="l">
              <a:spcBef>
                <a:spcPts val="1200"/>
              </a:spcBef>
              <a:spcAft>
                <a:spcPts val="0"/>
              </a:spcAft>
              <a:buSzPts val="1800"/>
              <a:buChar char="-"/>
            </a:pPr>
            <a:r>
              <a:rPr lang="pl"/>
              <a:t>zwrotna</a:t>
            </a:r>
            <a:endParaRPr/>
          </a:p>
          <a:p>
            <a:pPr indent="-342900" lvl="0" marL="457200" rtl="0" algn="l">
              <a:spcBef>
                <a:spcPts val="0"/>
              </a:spcBef>
              <a:spcAft>
                <a:spcPts val="0"/>
              </a:spcAft>
              <a:buSzPts val="1800"/>
              <a:buChar char="-"/>
            </a:pPr>
            <a:r>
              <a:rPr lang="pl"/>
              <a:t>przechodnia</a:t>
            </a:r>
            <a:endParaRPr/>
          </a:p>
          <a:p>
            <a:pPr indent="-342900" lvl="0" marL="457200" rtl="0" algn="l">
              <a:spcBef>
                <a:spcPts val="0"/>
              </a:spcBef>
              <a:spcAft>
                <a:spcPts val="0"/>
              </a:spcAft>
              <a:buSzPts val="1800"/>
              <a:buChar char="-"/>
            </a:pPr>
            <a:r>
              <a:rPr lang="pl"/>
              <a:t>symetryczna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Relacje - klasy abstrakcji i zasada abstrakcji</a:t>
            </a:r>
            <a:endParaRPr/>
          </a:p>
        </p:txBody>
      </p:sp>
      <p:sp>
        <p:nvSpPr>
          <p:cNvPr id="172" name="Google Shape;172;p2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pl" sz="1700">
                <a:solidFill>
                  <a:srgbClr val="000000"/>
                </a:solidFill>
                <a:latin typeface="Arial"/>
                <a:ea typeface="Arial"/>
                <a:cs typeface="Arial"/>
                <a:sym typeface="Arial"/>
              </a:rPr>
              <a:t>Zasada abstrakcji</a:t>
            </a:r>
            <a:r>
              <a:rPr lang="pl" sz="1700">
                <a:solidFill>
                  <a:srgbClr val="000000"/>
                </a:solidFill>
                <a:latin typeface="Arial"/>
                <a:ea typeface="Arial"/>
                <a:cs typeface="Arial"/>
                <a:sym typeface="Arial"/>
              </a:rPr>
              <a:t>, </a:t>
            </a:r>
            <a:r>
              <a:rPr b="1" lang="pl" sz="1700">
                <a:solidFill>
                  <a:srgbClr val="000000"/>
                </a:solidFill>
                <a:latin typeface="Arial"/>
                <a:ea typeface="Arial"/>
                <a:cs typeface="Arial"/>
                <a:sym typeface="Arial"/>
              </a:rPr>
              <a:t>zasada identyfikacji elementów równoważnych</a:t>
            </a:r>
            <a:r>
              <a:rPr lang="pl" sz="1700">
                <a:solidFill>
                  <a:srgbClr val="000000"/>
                </a:solidFill>
                <a:latin typeface="Arial"/>
                <a:ea typeface="Arial"/>
                <a:cs typeface="Arial"/>
                <a:sym typeface="Arial"/>
              </a:rPr>
              <a:t>–</a:t>
            </a:r>
            <a:r>
              <a:rPr lang="pl" sz="1700">
                <a:solidFill>
                  <a:srgbClr val="000000"/>
                </a:solidFill>
                <a:uFill>
                  <a:noFill/>
                </a:uFill>
                <a:latin typeface="Arial"/>
                <a:ea typeface="Arial"/>
                <a:cs typeface="Arial"/>
                <a:sym typeface="Arial"/>
                <a:hlinkClick r:id="rId3">
                  <a:extLst>
                    <a:ext uri="{A12FA001-AC4F-418D-AE19-62706E023703}">
                      <ahyp:hlinkClr val="tx"/>
                    </a:ext>
                  </a:extLst>
                </a:hlinkClick>
              </a:rPr>
              <a:t> </a:t>
            </a:r>
            <a:r>
              <a:rPr lang="pl" sz="1700" u="sng">
                <a:solidFill>
                  <a:schemeClr val="hlink"/>
                </a:solidFill>
                <a:latin typeface="Arial"/>
                <a:ea typeface="Arial"/>
                <a:cs typeface="Arial"/>
                <a:sym typeface="Arial"/>
                <a:hlinkClick r:id="rId4"/>
              </a:rPr>
              <a:t>twierdzenie</a:t>
            </a:r>
            <a:r>
              <a:rPr lang="pl" sz="1700">
                <a:solidFill>
                  <a:srgbClr val="000000"/>
                </a:solidFill>
                <a:uFill>
                  <a:noFill/>
                </a:uFill>
                <a:latin typeface="Arial"/>
                <a:ea typeface="Arial"/>
                <a:cs typeface="Arial"/>
                <a:sym typeface="Arial"/>
                <a:hlinkClick r:id="rId5">
                  <a:extLst>
                    <a:ext uri="{A12FA001-AC4F-418D-AE19-62706E023703}">
                      <ahyp:hlinkClr val="tx"/>
                    </a:ext>
                  </a:extLst>
                </a:hlinkClick>
              </a:rPr>
              <a:t> </a:t>
            </a:r>
            <a:r>
              <a:rPr lang="pl" sz="1700" u="sng">
                <a:solidFill>
                  <a:schemeClr val="hlink"/>
                </a:solidFill>
                <a:latin typeface="Arial"/>
                <a:ea typeface="Arial"/>
                <a:cs typeface="Arial"/>
                <a:sym typeface="Arial"/>
                <a:hlinkClick r:id="rId6"/>
              </a:rPr>
              <a:t>matematyczne</a:t>
            </a:r>
            <a:r>
              <a:rPr lang="pl" sz="1700">
                <a:solidFill>
                  <a:srgbClr val="000000"/>
                </a:solidFill>
                <a:latin typeface="Arial"/>
                <a:ea typeface="Arial"/>
                <a:cs typeface="Arial"/>
                <a:sym typeface="Arial"/>
              </a:rPr>
              <a:t> mówiące, że dowolnemu</a:t>
            </a:r>
            <a:r>
              <a:rPr lang="pl" sz="1700">
                <a:solidFill>
                  <a:srgbClr val="000000"/>
                </a:solidFill>
                <a:uFill>
                  <a:noFill/>
                </a:uFill>
                <a:latin typeface="Arial"/>
                <a:ea typeface="Arial"/>
                <a:cs typeface="Arial"/>
                <a:sym typeface="Arial"/>
                <a:hlinkClick r:id="rId7">
                  <a:extLst>
                    <a:ext uri="{A12FA001-AC4F-418D-AE19-62706E023703}">
                      <ahyp:hlinkClr val="tx"/>
                    </a:ext>
                  </a:extLst>
                </a:hlinkClick>
              </a:rPr>
              <a:t> </a:t>
            </a:r>
            <a:r>
              <a:rPr lang="pl" sz="1700" u="sng">
                <a:solidFill>
                  <a:schemeClr val="hlink"/>
                </a:solidFill>
                <a:latin typeface="Arial"/>
                <a:ea typeface="Arial"/>
                <a:cs typeface="Arial"/>
                <a:sym typeface="Arial"/>
                <a:hlinkClick r:id="rId8"/>
              </a:rPr>
              <a:t>rozbiciu zbioru</a:t>
            </a:r>
            <a:r>
              <a:rPr lang="pl" sz="1700">
                <a:solidFill>
                  <a:srgbClr val="000000"/>
                </a:solidFill>
                <a:latin typeface="Arial"/>
                <a:ea typeface="Arial"/>
                <a:cs typeface="Arial"/>
                <a:sym typeface="Arial"/>
              </a:rPr>
              <a:t> odpowiada pewna</a:t>
            </a:r>
            <a:r>
              <a:rPr lang="pl" sz="1700">
                <a:solidFill>
                  <a:srgbClr val="000000"/>
                </a:solidFill>
                <a:uFill>
                  <a:noFill/>
                </a:uFill>
                <a:latin typeface="Arial"/>
                <a:ea typeface="Arial"/>
                <a:cs typeface="Arial"/>
                <a:sym typeface="Arial"/>
                <a:hlinkClick r:id="rId9">
                  <a:extLst>
                    <a:ext uri="{A12FA001-AC4F-418D-AE19-62706E023703}">
                      <ahyp:hlinkClr val="tx"/>
                    </a:ext>
                  </a:extLst>
                </a:hlinkClick>
              </a:rPr>
              <a:t> </a:t>
            </a:r>
            <a:r>
              <a:rPr lang="pl" sz="1700" u="sng">
                <a:solidFill>
                  <a:schemeClr val="hlink"/>
                </a:solidFill>
                <a:latin typeface="Arial"/>
                <a:ea typeface="Arial"/>
                <a:cs typeface="Arial"/>
                <a:sym typeface="Arial"/>
                <a:hlinkClick r:id="rId10"/>
              </a:rPr>
              <a:t>relacja równoważności</a:t>
            </a:r>
            <a:r>
              <a:rPr lang="pl" sz="1700">
                <a:solidFill>
                  <a:srgbClr val="000000"/>
                </a:solidFill>
                <a:latin typeface="Arial"/>
                <a:ea typeface="Arial"/>
                <a:cs typeface="Arial"/>
                <a:sym typeface="Arial"/>
              </a:rPr>
              <a:t>, a każda relacja równoważności ustanawia pewne rozbicie zbioru.</a:t>
            </a:r>
            <a:endParaRPr sz="1700">
              <a:solidFill>
                <a:srgbClr val="000000"/>
              </a:solidFill>
              <a:latin typeface="Arial"/>
              <a:ea typeface="Arial"/>
              <a:cs typeface="Arial"/>
              <a:sym typeface="Arial"/>
            </a:endParaRPr>
          </a:p>
          <a:p>
            <a:pPr indent="0" lvl="0" marL="0" rtl="0" algn="l">
              <a:spcBef>
                <a:spcPts val="1200"/>
              </a:spcBef>
              <a:spcAft>
                <a:spcPts val="0"/>
              </a:spcAft>
              <a:buNone/>
            </a:pPr>
            <a:r>
              <a:t/>
            </a:r>
            <a:endParaRPr sz="1700">
              <a:solidFill>
                <a:srgbClr val="000000"/>
              </a:solidFill>
              <a:latin typeface="Arial"/>
              <a:ea typeface="Arial"/>
              <a:cs typeface="Arial"/>
              <a:sym typeface="Arial"/>
            </a:endParaRPr>
          </a:p>
          <a:p>
            <a:pPr indent="0" lvl="0" marL="0" rtl="0" algn="l">
              <a:spcBef>
                <a:spcPts val="1200"/>
              </a:spcBef>
              <a:spcAft>
                <a:spcPts val="1200"/>
              </a:spcAft>
              <a:buNone/>
            </a:pPr>
            <a:r>
              <a:rPr lang="pl" sz="1700">
                <a:solidFill>
                  <a:srgbClr val="000000"/>
                </a:solidFill>
                <a:latin typeface="Arial"/>
                <a:ea typeface="Arial"/>
                <a:cs typeface="Arial"/>
                <a:sym typeface="Arial"/>
              </a:rPr>
              <a:t>W uproszeczeniu, każdy zbiór można podzielić na skończoną ilość podzbiorów które są podzielone ze względu na relację równoważności. Podzielone zbioru niosą miano klas abstrakcji</a:t>
            </a:r>
            <a:endParaRPr sz="17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Klasy Abstrakcji</a:t>
            </a:r>
            <a:endParaRPr/>
          </a:p>
        </p:txBody>
      </p:sp>
      <p:sp>
        <p:nvSpPr>
          <p:cNvPr id="178" name="Google Shape;178;p28"/>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Powiedzmy że mamy zbiór wszytkich figur geometrycznych.</a:t>
            </a:r>
            <a:br>
              <a:rPr lang="pl"/>
            </a:br>
            <a:r>
              <a:rPr lang="pl"/>
              <a:t>Możemy podzielić nasz zbiór na klasy abstrakcji na bazie ile mają wierzchołków.</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460950" y="1889300"/>
            <a:ext cx="8222100" cy="647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pl"/>
              <a:t>Pytanie 2b</a:t>
            </a:r>
            <a:endParaRPr sz="2300"/>
          </a:p>
        </p:txBody>
      </p:sp>
      <p:sp>
        <p:nvSpPr>
          <p:cNvPr id="184" name="Google Shape;184;p29"/>
          <p:cNvSpPr txBox="1"/>
          <p:nvPr/>
        </p:nvSpPr>
        <p:spPr>
          <a:xfrm>
            <a:off x="608400" y="2571750"/>
            <a:ext cx="7927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pl" sz="2100">
                <a:solidFill>
                  <a:schemeClr val="lt1"/>
                </a:solidFill>
                <a:latin typeface="Roboto"/>
                <a:ea typeface="Roboto"/>
                <a:cs typeface="Roboto"/>
                <a:sym typeface="Roboto"/>
              </a:rPr>
              <a:t>Zakleszczenie i synchronizacja wątków</a:t>
            </a:r>
            <a:endParaRPr sz="2100">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Problem zakleszczenia</a:t>
            </a:r>
            <a:endParaRPr/>
          </a:p>
        </p:txBody>
      </p:sp>
      <p:sp>
        <p:nvSpPr>
          <p:cNvPr id="190" name="Google Shape;190;p3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pl" sz="1700">
                <a:solidFill>
                  <a:srgbClr val="000000"/>
                </a:solidFill>
                <a:latin typeface="Arial"/>
                <a:ea typeface="Arial"/>
                <a:cs typeface="Arial"/>
                <a:sym typeface="Arial"/>
              </a:rPr>
              <a:t>Zakleszczenie, blokada wzajemna</a:t>
            </a:r>
            <a:r>
              <a:rPr lang="pl" sz="1700">
                <a:solidFill>
                  <a:srgbClr val="000000"/>
                </a:solidFill>
                <a:latin typeface="Arial"/>
                <a:ea typeface="Arial"/>
                <a:cs typeface="Arial"/>
                <a:sym typeface="Arial"/>
              </a:rPr>
              <a:t> (</a:t>
            </a:r>
            <a:r>
              <a:rPr lang="pl" sz="1700" u="sng">
                <a:solidFill>
                  <a:schemeClr val="hlink"/>
                </a:solidFill>
                <a:latin typeface="Arial"/>
                <a:ea typeface="Arial"/>
                <a:cs typeface="Arial"/>
                <a:sym typeface="Arial"/>
                <a:hlinkClick r:id="rId3"/>
              </a:rPr>
              <a:t>ang.</a:t>
            </a:r>
            <a:r>
              <a:rPr lang="pl" sz="1700">
                <a:solidFill>
                  <a:srgbClr val="000000"/>
                </a:solidFill>
                <a:latin typeface="Arial"/>
                <a:ea typeface="Arial"/>
                <a:cs typeface="Arial"/>
                <a:sym typeface="Arial"/>
              </a:rPr>
              <a:t> </a:t>
            </a:r>
            <a:r>
              <a:rPr i="1" lang="pl" sz="1700">
                <a:solidFill>
                  <a:srgbClr val="000000"/>
                </a:solidFill>
                <a:latin typeface="Arial"/>
                <a:ea typeface="Arial"/>
                <a:cs typeface="Arial"/>
                <a:sym typeface="Arial"/>
              </a:rPr>
              <a:t>deadlock</a:t>
            </a:r>
            <a:r>
              <a:rPr lang="pl" sz="1700">
                <a:solidFill>
                  <a:srgbClr val="000000"/>
                </a:solidFill>
                <a:latin typeface="Arial"/>
                <a:ea typeface="Arial"/>
                <a:cs typeface="Arial"/>
                <a:sym typeface="Arial"/>
              </a:rPr>
              <a:t>) – sytuacja, w której co najmniej dwie różne akcje czekają na siebie nawzajem, więc żadna nie może się zakończyć. Takie występuje głównie w aplikacjach wielowątkowych kiedy różne wątki próbują wykorzystać pewien </a:t>
            </a:r>
            <a:r>
              <a:rPr lang="pl" sz="1700">
                <a:solidFill>
                  <a:srgbClr val="000000"/>
                </a:solidFill>
                <a:latin typeface="Arial"/>
                <a:ea typeface="Arial"/>
                <a:cs typeface="Arial"/>
                <a:sym typeface="Arial"/>
              </a:rPr>
              <a:t>współdzielony</a:t>
            </a:r>
            <a:r>
              <a:rPr lang="pl" sz="1700">
                <a:solidFill>
                  <a:srgbClr val="000000"/>
                </a:solidFill>
                <a:latin typeface="Arial"/>
                <a:ea typeface="Arial"/>
                <a:cs typeface="Arial"/>
                <a:sym typeface="Arial"/>
              </a:rPr>
              <a:t> pomiędzy nimi zasób.</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Przykład zakleszczenia - skrzyżowanie</a:t>
            </a:r>
            <a:endParaRPr/>
          </a:p>
          <a:p>
            <a:pPr indent="0" lvl="0" marL="0" rtl="0" algn="l">
              <a:spcBef>
                <a:spcPts val="0"/>
              </a:spcBef>
              <a:spcAft>
                <a:spcPts val="0"/>
              </a:spcAft>
              <a:buNone/>
            </a:pPr>
            <a:r>
              <a:t/>
            </a:r>
            <a:endParaRPr/>
          </a:p>
        </p:txBody>
      </p:sp>
      <p:sp>
        <p:nvSpPr>
          <p:cNvPr id="196" name="Google Shape;196;p31"/>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Przy skrzyżowaniach </a:t>
            </a:r>
            <a:r>
              <a:rPr lang="pl"/>
              <a:t>równoległych</a:t>
            </a:r>
            <a:r>
              <a:rPr lang="pl"/>
              <a:t> jest określona zasada prawej ręki - mówi o tym że na takich skrzyżowaniu że pojazdy po twojej prawej stronie mają pierwszeństwo wobec ciebie. Problem pojawia się kiedy każdy pojazd ma prawego sąsiada - nikt nie ma priorytetu więc nikt nie muszę przejechać przez skrzyżowanie</a:t>
            </a:r>
            <a:br>
              <a:rPr lang="pl"/>
            </a:br>
            <a:br>
              <a:rPr lang="pl"/>
            </a:br>
            <a:r>
              <a:rPr lang="pl"/>
              <a:t>Pojazdy -&gt; Wątki</a:t>
            </a:r>
            <a:br>
              <a:rPr lang="pl"/>
            </a:br>
            <a:r>
              <a:rPr lang="pl"/>
              <a:t>Skrzyżowania -&gt; Zasoby</a:t>
            </a:r>
            <a:endParaRPr/>
          </a:p>
        </p:txBody>
      </p:sp>
      <p:pic>
        <p:nvPicPr>
          <p:cNvPr id="197" name="Google Shape;197;p31"/>
          <p:cNvPicPr preferRelativeResize="0"/>
          <p:nvPr/>
        </p:nvPicPr>
        <p:blipFill>
          <a:blip r:embed="rId3">
            <a:alphaModFix/>
          </a:blip>
          <a:stretch>
            <a:fillRect/>
          </a:stretch>
        </p:blipFill>
        <p:spPr>
          <a:xfrm>
            <a:off x="4754000" y="1449811"/>
            <a:ext cx="3805624" cy="2899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Sposoby na rozwiązanie zakleszczenia - Mutex</a:t>
            </a:r>
            <a:endParaRPr/>
          </a:p>
        </p:txBody>
      </p:sp>
      <p:sp>
        <p:nvSpPr>
          <p:cNvPr id="203" name="Google Shape;203;p32"/>
          <p:cNvSpPr txBox="1"/>
          <p:nvPr/>
        </p:nvSpPr>
        <p:spPr>
          <a:xfrm>
            <a:off x="454975" y="1195275"/>
            <a:ext cx="7965900" cy="35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1800">
                <a:solidFill>
                  <a:schemeClr val="dk2"/>
                </a:solidFill>
                <a:latin typeface="Roboto"/>
                <a:ea typeface="Roboto"/>
                <a:cs typeface="Roboto"/>
                <a:sym typeface="Roboto"/>
              </a:rPr>
              <a:t>Mutex (ang. MUTually EXclusive) inaczej zwane blokadami  - mechanizm synchronizacyjni który wymusza żeby tylko jeden wątek miał dostęp do danych w tym samym czasie. </a:t>
            </a:r>
            <a:endParaRPr sz="1800">
              <a:solidFill>
                <a:schemeClr val="dk2"/>
              </a:solidFill>
              <a:latin typeface="Roboto"/>
              <a:ea typeface="Roboto"/>
              <a:cs typeface="Roboto"/>
              <a:sym typeface="Roboto"/>
            </a:endParaRPr>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Mutex</a:t>
            </a:r>
            <a:endParaRPr/>
          </a:p>
        </p:txBody>
      </p:sp>
      <p:sp>
        <p:nvSpPr>
          <p:cNvPr id="209" name="Google Shape;209;p33"/>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pl" sz="1600"/>
              <a:t>Żeby wątek miał dostęp do danego zasobu, musi najpierw zablokować zasób, wykorzystać ten zasób a potem odblokować go dla kolejnego wątku. W czasie kiedy zasób jest zablokowany, inny wątek nie może z zasobu korzystać.</a:t>
            </a:r>
            <a:endParaRPr sz="1000"/>
          </a:p>
        </p:txBody>
      </p:sp>
      <p:pic>
        <p:nvPicPr>
          <p:cNvPr id="210" name="Google Shape;210;p33"/>
          <p:cNvPicPr preferRelativeResize="0"/>
          <p:nvPr/>
        </p:nvPicPr>
        <p:blipFill>
          <a:blip r:embed="rId3">
            <a:alphaModFix/>
          </a:blip>
          <a:stretch>
            <a:fillRect/>
          </a:stretch>
        </p:blipFill>
        <p:spPr>
          <a:xfrm>
            <a:off x="3218100" y="507100"/>
            <a:ext cx="5719501" cy="453243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Mutex - zalety i wady</a:t>
            </a:r>
            <a:endParaRPr/>
          </a:p>
        </p:txBody>
      </p:sp>
      <p:sp>
        <p:nvSpPr>
          <p:cNvPr id="216" name="Google Shape;216;p34"/>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pl"/>
              <a:t>Brak kondycji wyścigu</a:t>
            </a:r>
            <a:endParaRPr/>
          </a:p>
          <a:p>
            <a:pPr indent="-317500" lvl="0" marL="457200" rtl="0" algn="l">
              <a:spcBef>
                <a:spcPts val="0"/>
              </a:spcBef>
              <a:spcAft>
                <a:spcPts val="0"/>
              </a:spcAft>
              <a:buSzPts val="1400"/>
              <a:buChar char="-"/>
            </a:pPr>
            <a:r>
              <a:rPr lang="pl"/>
              <a:t>Dane są przewidywalne</a:t>
            </a:r>
            <a:endParaRPr/>
          </a:p>
          <a:p>
            <a:pPr indent="-317500" lvl="0" marL="457200" rtl="0" algn="l">
              <a:spcBef>
                <a:spcPts val="0"/>
              </a:spcBef>
              <a:spcAft>
                <a:spcPts val="0"/>
              </a:spcAft>
              <a:buSzPts val="1400"/>
              <a:buChar char="-"/>
            </a:pPr>
            <a:r>
              <a:rPr lang="pl"/>
              <a:t>Prosty mechanizm</a:t>
            </a:r>
            <a:endParaRPr/>
          </a:p>
        </p:txBody>
      </p:sp>
      <p:sp>
        <p:nvSpPr>
          <p:cNvPr id="217" name="Google Shape;217;p34"/>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pl"/>
              <a:t>Może dojść do zagłodzenia, jeśli wątek się zawiesi podczas korzystania zasobu gdyż tylko wątek który zablokował zasób możego odblokować</a:t>
            </a:r>
            <a:endParaRPr/>
          </a:p>
          <a:p>
            <a:pPr indent="-317500" lvl="0" marL="457200" rtl="0" algn="l">
              <a:spcBef>
                <a:spcPts val="0"/>
              </a:spcBef>
              <a:spcAft>
                <a:spcPts val="0"/>
              </a:spcAft>
              <a:buSzPts val="1400"/>
              <a:buChar char="-"/>
            </a:pPr>
            <a:r>
              <a:rPr b="1" lang="pl"/>
              <a:t>Jest ograniczony </a:t>
            </a:r>
            <a:r>
              <a:rPr b="1" lang="pl"/>
              <a:t>do</a:t>
            </a:r>
            <a:r>
              <a:rPr b="1" lang="pl"/>
              <a:t> jednego wątku na raz</a:t>
            </a:r>
            <a:endParaRPr b="1"/>
          </a:p>
          <a:p>
            <a:pPr indent="-317500" lvl="0" marL="457200" rtl="0" algn="l">
              <a:spcBef>
                <a:spcPts val="0"/>
              </a:spcBef>
              <a:spcAft>
                <a:spcPts val="0"/>
              </a:spcAft>
              <a:buSzPts val="1400"/>
              <a:buChar char="-"/>
            </a:pPr>
            <a:r>
              <a:rPr lang="pl"/>
              <a:t>Możliwe że wątek wykorzysta dużo cykli by sprawdzić czy zasób jest wolny do użytku</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sz="2400"/>
              <a:t>Semafor</a:t>
            </a:r>
            <a:endParaRPr sz="2400"/>
          </a:p>
          <a:p>
            <a:pPr indent="0" lvl="0" marL="0" rtl="0" algn="l">
              <a:spcBef>
                <a:spcPts val="0"/>
              </a:spcBef>
              <a:spcAft>
                <a:spcPts val="0"/>
              </a:spcAft>
              <a:buNone/>
            </a:pPr>
            <a:r>
              <a:t/>
            </a:r>
            <a:endParaRPr/>
          </a:p>
        </p:txBody>
      </p:sp>
      <p:sp>
        <p:nvSpPr>
          <p:cNvPr id="223" name="Google Shape;223;p35"/>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sz="1700"/>
              <a:t>Semafor jest to mechanizm synchronizacji, który w porównaniu do Mutexa, zawiera licznik ile ma dozwolnych zasobów. Wątki chcę użyć musi go operacje czekania (wait) która dekrementuje licznik. Po wykorzystaniu zasobu, zasób jest zwolniony poprzez sygnał (signal) po czym licznik jest inkrementowany.</a:t>
            </a:r>
            <a:br>
              <a:rPr lang="pl" sz="1700"/>
            </a:br>
            <a:r>
              <a:rPr lang="pl" sz="1700"/>
              <a:t>Jeśli licznik podczas operacji czekania to wątek musi czekać dopóki jakiś inny licznik</a:t>
            </a:r>
            <a:endParaRPr sz="1700"/>
          </a:p>
          <a:p>
            <a:pPr indent="0" lvl="0" marL="0" rtl="0" algn="l">
              <a:spcBef>
                <a:spcPts val="1200"/>
              </a:spcBef>
              <a:spcAft>
                <a:spcPts val="1200"/>
              </a:spcAft>
              <a:buNone/>
            </a:pPr>
            <a:r>
              <a:t/>
            </a:r>
            <a:endParaRPr sz="1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pl"/>
              <a:t>Semafor</a:t>
            </a:r>
            <a:endParaRPr/>
          </a:p>
        </p:txBody>
      </p:sp>
      <p:sp>
        <p:nvSpPr>
          <p:cNvPr id="229" name="Google Shape;229;p36"/>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0" name="Google Shape;230;p36"/>
          <p:cNvPicPr preferRelativeResize="0"/>
          <p:nvPr/>
        </p:nvPicPr>
        <p:blipFill>
          <a:blip r:embed="rId3">
            <a:alphaModFix/>
          </a:blip>
          <a:stretch>
            <a:fillRect/>
          </a:stretch>
        </p:blipFill>
        <p:spPr>
          <a:xfrm>
            <a:off x="3286750" y="438088"/>
            <a:ext cx="5719500" cy="43259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Semafor - zalety i wady</a:t>
            </a:r>
            <a:endParaRPr/>
          </a:p>
        </p:txBody>
      </p:sp>
      <p:sp>
        <p:nvSpPr>
          <p:cNvPr id="236" name="Google Shape;236;p37"/>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pl"/>
              <a:t>Pozwala na wygodniejsze zarządzaniem zasobem, wiele wątek może mieć dostęp do tego samego zasobu.</a:t>
            </a:r>
            <a:endParaRPr/>
          </a:p>
          <a:p>
            <a:pPr indent="-317500" lvl="0" marL="457200" rtl="0" algn="l">
              <a:spcBef>
                <a:spcPts val="0"/>
              </a:spcBef>
              <a:spcAft>
                <a:spcPts val="0"/>
              </a:spcAft>
              <a:buSzPts val="1400"/>
              <a:buChar char="-"/>
            </a:pPr>
            <a:r>
              <a:rPr lang="pl"/>
              <a:t>Prosty i efektywny sposób zarządzanie</a:t>
            </a:r>
            <a:endParaRPr/>
          </a:p>
        </p:txBody>
      </p:sp>
      <p:sp>
        <p:nvSpPr>
          <p:cNvPr id="237" name="Google Shape;237;p37"/>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pl"/>
              <a:t>Pojawia się problem inwersji priorytetu (zadanie z mniejszym piorytetem blokuje zadanie z większym)</a:t>
            </a:r>
            <a:endParaRPr/>
          </a:p>
          <a:p>
            <a:pPr indent="-317500" lvl="0" marL="457200" rtl="0" algn="l">
              <a:spcBef>
                <a:spcPts val="0"/>
              </a:spcBef>
              <a:spcAft>
                <a:spcPts val="0"/>
              </a:spcAft>
              <a:buSzPts val="1400"/>
              <a:buChar char="-"/>
            </a:pPr>
            <a:r>
              <a:rPr lang="pl"/>
              <a:t>Implementacja operacji czekania i sygnałowania musi być poprawnie zaimplementowana, inaczej może dojść do zakleszczenia.</a:t>
            </a:r>
            <a:endParaRPr/>
          </a:p>
          <a:p>
            <a:pPr indent="-317500" lvl="0" marL="457200" rtl="0" algn="l">
              <a:spcBef>
                <a:spcPts val="0"/>
              </a:spcBef>
              <a:spcAft>
                <a:spcPts val="0"/>
              </a:spcAft>
              <a:buSzPts val="1400"/>
              <a:buChar char="-"/>
            </a:pPr>
            <a:r>
              <a:rPr lang="pl"/>
              <a:t>Jest możliwośc wystąpienia racing condition (dwa wątki próbują wykorzystać zasób w tym samym czasie)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Bariera </a:t>
            </a:r>
            <a:endParaRPr/>
          </a:p>
        </p:txBody>
      </p:sp>
      <p:sp>
        <p:nvSpPr>
          <p:cNvPr id="243" name="Google Shape;243;p38"/>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Bariera - mechanizm synchronizacji polegający na pewnych stopach, gdzie wątki oczekują dopóki każdy wątek należący do grupy dotrze do blokady. Po tym jak każdy wątek dotrze, bariera jest zwolniona i wątki mogą dalej pracować do czasu zakończenia zadanie bądź kolejnej blokady.</a:t>
            </a:r>
            <a:endParaRPr/>
          </a:p>
        </p:txBody>
      </p:sp>
      <p:sp>
        <p:nvSpPr>
          <p:cNvPr id="244" name="Google Shape;244;p38"/>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5" name="Google Shape;245;p38"/>
          <p:cNvPicPr preferRelativeResize="0"/>
          <p:nvPr/>
        </p:nvPicPr>
        <p:blipFill>
          <a:blip r:embed="rId3">
            <a:alphaModFix/>
          </a:blip>
          <a:stretch>
            <a:fillRect/>
          </a:stretch>
        </p:blipFill>
        <p:spPr>
          <a:xfrm>
            <a:off x="4533975" y="1080050"/>
            <a:ext cx="4237200" cy="30399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9"/>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pl"/>
              <a:t>Dziekuję za uwagę - Patryk Michalak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Bibliografia</a:t>
            </a:r>
            <a:endParaRPr/>
          </a:p>
        </p:txBody>
      </p:sp>
      <p:sp>
        <p:nvSpPr>
          <p:cNvPr id="256" name="Google Shape;256;p40"/>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sz="1300" u="sng">
                <a:solidFill>
                  <a:schemeClr val="hlink"/>
                </a:solidFill>
                <a:hlinkClick r:id="rId3"/>
              </a:rPr>
              <a:t>https://www.geeksforgeeks.org/mutex-vs-semaphore/</a:t>
            </a:r>
            <a:endParaRPr sz="1300"/>
          </a:p>
          <a:p>
            <a:pPr indent="0" lvl="0" marL="0" rtl="0" algn="l">
              <a:spcBef>
                <a:spcPts val="1200"/>
              </a:spcBef>
              <a:spcAft>
                <a:spcPts val="0"/>
              </a:spcAft>
              <a:buNone/>
            </a:pPr>
            <a:r>
              <a:rPr lang="pl" sz="1300" u="sng">
                <a:solidFill>
                  <a:schemeClr val="hlink"/>
                </a:solidFill>
                <a:hlinkClick r:id="rId4"/>
              </a:rPr>
              <a:t>https://wojcienty.com/artykul/12/matematyka/teoria_mnogosci/relacje_rownowaznosci_i_klasy_abstrakcji/</a:t>
            </a:r>
            <a:endParaRPr sz="1300"/>
          </a:p>
          <a:p>
            <a:pPr indent="0" lvl="0" marL="0" rtl="0" algn="l">
              <a:spcBef>
                <a:spcPts val="1200"/>
              </a:spcBef>
              <a:spcAft>
                <a:spcPts val="0"/>
              </a:spcAft>
              <a:buNone/>
            </a:pPr>
            <a:r>
              <a:rPr lang="pl" sz="1300" u="sng">
                <a:solidFill>
                  <a:schemeClr val="hlink"/>
                </a:solidFill>
                <a:hlinkClick r:id="rId5"/>
              </a:rPr>
              <a:t>https://www.interaction-design.org/literature/topics/user-centered-design</a:t>
            </a:r>
            <a:endParaRPr sz="1300"/>
          </a:p>
          <a:p>
            <a:pPr indent="0" lvl="0" marL="0" rtl="0" algn="l">
              <a:spcBef>
                <a:spcPts val="1200"/>
              </a:spcBef>
              <a:spcAft>
                <a:spcPts val="0"/>
              </a:spcAft>
              <a:buNone/>
            </a:pPr>
            <a:r>
              <a:t/>
            </a:r>
            <a:endParaRPr sz="1300"/>
          </a:p>
          <a:p>
            <a:pPr indent="0" lvl="0" marL="0" rtl="0" algn="l">
              <a:spcBef>
                <a:spcPts val="1200"/>
              </a:spcBef>
              <a:spcAft>
                <a:spcPts val="1200"/>
              </a:spcAft>
              <a:buNone/>
            </a:pPr>
            <a:r>
              <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6BD6BD5557EF4CA6526425B8C6A1DB" ma:contentTypeVersion="3" ma:contentTypeDescription="Create a new document." ma:contentTypeScope="" ma:versionID="fc4260f82b948ef1b9de36abeeb3164e">
  <xsd:schema xmlns:xsd="http://www.w3.org/2001/XMLSchema" xmlns:xs="http://www.w3.org/2001/XMLSchema" xmlns:p="http://schemas.microsoft.com/office/2006/metadata/properties" xmlns:ns2="6f4ad519-54a4-4831-b150-602d719bcc04" targetNamespace="http://schemas.microsoft.com/office/2006/metadata/properties" ma:root="true" ma:fieldsID="bff2b58b3b25d79a121fed470b52d04d" ns2:_="">
    <xsd:import namespace="6f4ad519-54a4-4831-b150-602d719bcc0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4ad519-54a4-4831-b150-602d719bcc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F0F3B9-11A6-409D-805A-FD79CC809E2D}"/>
</file>

<file path=customXml/itemProps2.xml><?xml version="1.0" encoding="utf-8"?>
<ds:datastoreItem xmlns:ds="http://schemas.openxmlformats.org/officeDocument/2006/customXml" ds:itemID="{2EC952DA-AA2D-40E9-BAAE-E0F865021808}"/>
</file>

<file path=customXml/itemProps3.xml><?xml version="1.0" encoding="utf-8"?>
<ds:datastoreItem xmlns:ds="http://schemas.openxmlformats.org/officeDocument/2006/customXml" ds:itemID="{2C755BED-4E9F-40B4-9BCD-FEAF94E45053}"/>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0x010100536BD6BD5557EF4CA6526425B8C6A1DB</vt:lpwstr>
  </property>
</Properties>
</file>