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89" r:id="rId4"/>
  </p:sldMasterIdLst>
  <p:notesMasterIdLst>
    <p:notesMasterId r:id="rId44"/>
  </p:notesMasterIdLst>
  <p:handoutMasterIdLst>
    <p:handoutMasterId r:id="rId45"/>
  </p:handoutMasterIdLst>
  <p:sldIdLst>
    <p:sldId id="256" r:id="rId5"/>
    <p:sldId id="257" r:id="rId6"/>
    <p:sldId id="261" r:id="rId7"/>
    <p:sldId id="258" r:id="rId8"/>
    <p:sldId id="282" r:id="rId9"/>
    <p:sldId id="269" r:id="rId10"/>
    <p:sldId id="271" r:id="rId11"/>
    <p:sldId id="272" r:id="rId12"/>
    <p:sldId id="265" r:id="rId13"/>
    <p:sldId id="274" r:id="rId14"/>
    <p:sldId id="288" r:id="rId15"/>
    <p:sldId id="273" r:id="rId16"/>
    <p:sldId id="266" r:id="rId17"/>
    <p:sldId id="267" r:id="rId18"/>
    <p:sldId id="280" r:id="rId19"/>
    <p:sldId id="283" r:id="rId20"/>
    <p:sldId id="284" r:id="rId21"/>
    <p:sldId id="286" r:id="rId22"/>
    <p:sldId id="289" r:id="rId23"/>
    <p:sldId id="259" r:id="rId24"/>
    <p:sldId id="276" r:id="rId25"/>
    <p:sldId id="301" r:id="rId26"/>
    <p:sldId id="277" r:id="rId27"/>
    <p:sldId id="291" r:id="rId28"/>
    <p:sldId id="292" r:id="rId29"/>
    <p:sldId id="293" r:id="rId30"/>
    <p:sldId id="294" r:id="rId31"/>
    <p:sldId id="298" r:id="rId32"/>
    <p:sldId id="299" r:id="rId33"/>
    <p:sldId id="290" r:id="rId34"/>
    <p:sldId id="260" r:id="rId35"/>
    <p:sldId id="278" r:id="rId36"/>
    <p:sldId id="295" r:id="rId37"/>
    <p:sldId id="296" r:id="rId38"/>
    <p:sldId id="297" r:id="rId39"/>
    <p:sldId id="285" r:id="rId40"/>
    <p:sldId id="262" r:id="rId41"/>
    <p:sldId id="287" r:id="rId42"/>
    <p:sldId id="279" r:id="rId43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kcja domyślna" id="{039AFF72-19B9-4FF1-9EAF-63E0BC8C9E42}">
          <p14:sldIdLst>
            <p14:sldId id="256"/>
            <p14:sldId id="257"/>
          </p14:sldIdLst>
        </p14:section>
        <p14:section name="Pytanie 1 - Algebra Boole’a, ich własności i zastosowania" id="{30822AEA-57D4-4D6B-A97F-79868A0D64B7}">
          <p14:sldIdLst>
            <p14:sldId id="261"/>
            <p14:sldId id="258"/>
            <p14:sldId id="282"/>
            <p14:sldId id="269"/>
            <p14:sldId id="271"/>
            <p14:sldId id="272"/>
            <p14:sldId id="265"/>
            <p14:sldId id="274"/>
            <p14:sldId id="288"/>
            <p14:sldId id="273"/>
            <p14:sldId id="266"/>
            <p14:sldId id="267"/>
            <p14:sldId id="280"/>
            <p14:sldId id="283"/>
            <p14:sldId id="284"/>
            <p14:sldId id="286"/>
          </p14:sldIdLst>
        </p14:section>
        <p14:section name="Pytanie 13 - Podstawowe metody całkowania numerycznegoPytanie 13 - Podstawowe metody całkowania numerycznego" id="{A11A38C2-D435-4811-BBFB-C8A78044EC98}">
          <p14:sldIdLst>
            <p14:sldId id="289"/>
            <p14:sldId id="259"/>
            <p14:sldId id="276"/>
            <p14:sldId id="301"/>
            <p14:sldId id="277"/>
            <p14:sldId id="291"/>
            <p14:sldId id="292"/>
            <p14:sldId id="293"/>
            <p14:sldId id="294"/>
            <p14:sldId id="298"/>
            <p14:sldId id="299"/>
          </p14:sldIdLst>
        </p14:section>
        <p14:section name="Pytanie 25 - Technologie w programowaniu grafiki komputerowej" id="{AB2EE34B-8E23-4A00-967D-54A79EAA2854}">
          <p14:sldIdLst>
            <p14:sldId id="290"/>
            <p14:sldId id="260"/>
            <p14:sldId id="278"/>
            <p14:sldId id="295"/>
            <p14:sldId id="296"/>
            <p14:sldId id="297"/>
            <p14:sldId id="285"/>
          </p14:sldIdLst>
        </p14:section>
        <p14:section name="Bibliografia" id="{79F74C33-24D2-4DCE-A9CB-7865CBBF5D80}">
          <p14:sldIdLst>
            <p14:sldId id="262"/>
            <p14:sldId id="287"/>
          </p14:sldIdLst>
        </p14:section>
        <p14:section name="Koniec" id="{F80120F8-2721-427A-A3A0-6D8213B64B4A}">
          <p14:sldIdLst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9B3"/>
    <a:srgbClr val="FFC993"/>
    <a:srgbClr val="EFD2AB"/>
    <a:srgbClr val="FAE8D1"/>
    <a:srgbClr val="FAF3EA"/>
    <a:srgbClr val="FFFFFF"/>
    <a:srgbClr val="FF6600"/>
    <a:srgbClr val="008000"/>
    <a:srgbClr val="C5BD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9AFA59-105E-7134-08D1-990F608462A7}" v="11" dt="2025-03-18T08:04:18.395"/>
    <p1510:client id="{2A23FB48-1A81-1743-B73D-C5576F39AF59}" v="12" dt="2025-03-18T08:16:38.273"/>
    <p1510:client id="{344B303D-BEEE-4E49-94EC-4624CB447722}" v="4132" dt="2025-03-18T10:14:00.7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Styl pośredni 1 — Ak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660B408-B3CF-4A94-85FC-2B1E0A45F4A2}" styleName="Styl ciemny 2 - Akcent 1/Ak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DCAF9ED-07DC-4A11-8D7F-57B35C25682E}" styleName="Styl pośredni 1 — Ak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30" autoAdjust="0"/>
    <p:restoredTop sz="91803" autoAdjust="0"/>
  </p:normalViewPr>
  <p:slideViewPr>
    <p:cSldViewPr snapToGrid="0">
      <p:cViewPr varScale="1">
        <p:scale>
          <a:sx n="68" d="100"/>
          <a:sy n="68" d="100"/>
        </p:scale>
        <p:origin x="633" y="51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6" d="100"/>
          <a:sy n="56" d="100"/>
        </p:scale>
        <p:origin x="2586" y="51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viewProps" Target="viewProps.xml"/><Relationship Id="rId50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>
            <a:extLst>
              <a:ext uri="{FF2B5EF4-FFF2-40B4-BE49-F238E27FC236}">
                <a16:creationId xmlns:a16="http://schemas.microsoft.com/office/drawing/2014/main" id="{16DC7003-22A0-AD08-F7D8-0FECEFD09F6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E737E647-CDF2-1F88-981A-91E2772AC4C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4E904E-28AB-496E-B233-939AF3446DEE}" type="datetimeFigureOut">
              <a:rPr lang="pl-PL" smtClean="0"/>
              <a:t>13.05.2025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5A5D3A21-9EB4-7AA7-6D70-E8B524DF46C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FDE58767-C807-7000-A1F6-A3C9A52CA49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3621F2-FBCA-40E7-B3C7-1A8B80F366C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341668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7F842A-4AA1-4AC3-998A-B145E3AB3462}" type="datetimeFigureOut">
              <a:rPr lang="pl-PL" smtClean="0"/>
              <a:t>13.05.2025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772B74-BE0C-458B-BF67-1E162353DF5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34477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TYLKO DLA INFORMACJI</a:t>
            </a:r>
          </a:p>
          <a:p>
            <a:r>
              <a:rPr lang="pl-PL" dirty="0"/>
              <a:t>Kreska Scheffera ma wartość 0 tylko, gdy oba operatory są 1 (prawdziwe)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772B74-BE0C-458B-BF67-1E162353DF5C}" type="slidenum">
              <a:rPr lang="pl-PL" smtClean="0"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295090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Przemienność, łączność, rozdzielność, element neutralny, reguła dopełniania dość często są podawane jako aksjomaty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772B74-BE0C-458B-BF67-1E162353DF5C}" type="slidenum">
              <a:rPr lang="pl-PL" smtClean="0"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382068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Przemienność, łączność, rozdzielność, element neutralny, reguła dopełniania dość często są podawane jako aksjomaty.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772B74-BE0C-458B-BF67-1E162353DF5C}" type="slidenum">
              <a:rPr lang="pl-PL" smtClean="0"/>
              <a:t>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427734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772B74-BE0C-458B-BF67-1E162353DF5C}" type="slidenum">
              <a:rPr lang="pl-PL" smtClean="0"/>
              <a:t>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148338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772B74-BE0C-458B-BF67-1E162353DF5C}" type="slidenum">
              <a:rPr lang="pl-PL" smtClean="0"/>
              <a:t>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702457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Diagram </a:t>
            </a:r>
            <a:r>
              <a:rPr lang="pl-PL" dirty="0" err="1"/>
              <a:t>venna</a:t>
            </a:r>
            <a:r>
              <a:rPr lang="pl-PL" dirty="0"/>
              <a:t> – graficzne przedstawienie algebry zbiorów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772B74-BE0C-458B-BF67-1E162353DF5C}" type="slidenum">
              <a:rPr lang="pl-PL" smtClean="0"/>
              <a:t>10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516839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Z tego można wyznaczyć relację x&lt;y,</a:t>
            </a:r>
          </a:p>
          <a:p>
            <a:r>
              <a:rPr lang="pl-PL" dirty="0"/>
              <a:t> x&lt;y </a:t>
            </a:r>
            <a:r>
              <a:rPr lang="pl-PL" dirty="0">
                <a:sym typeface="Wingdings" panose="05000000000000000000" pitchFamily="2" charset="2"/>
              </a:rPr>
              <a:t></a:t>
            </a:r>
            <a:r>
              <a:rPr lang="pl-PL" dirty="0" err="1">
                <a:sym typeface="Wingdings" panose="05000000000000000000" pitchFamily="2" charset="2"/>
              </a:rPr>
              <a:t>x^y</a:t>
            </a:r>
            <a:r>
              <a:rPr lang="pl-PL" dirty="0">
                <a:sym typeface="Wingdings" panose="05000000000000000000" pitchFamily="2" charset="2"/>
              </a:rPr>
              <a:t>=x, x!=y</a:t>
            </a:r>
          </a:p>
          <a:p>
            <a:r>
              <a:rPr lang="pl-PL" dirty="0">
                <a:sym typeface="Wingdings" panose="05000000000000000000" pitchFamily="2" charset="2"/>
              </a:rPr>
              <a:t>Dodatkowo dzięki temu mamy własności:</a:t>
            </a:r>
          </a:p>
          <a:p>
            <a:r>
              <a:rPr lang="pl-PL" dirty="0">
                <a:sym typeface="Wingdings" panose="05000000000000000000" pitchFamily="2" charset="2"/>
              </a:rPr>
              <a:t>- x&lt;=y ^ y &lt;= z -&gt; x&lt;=z</a:t>
            </a:r>
          </a:p>
          <a:p>
            <a:pPr marL="171450" indent="-171450">
              <a:buFontTx/>
              <a:buChar char="-"/>
            </a:pPr>
            <a:r>
              <a:rPr lang="pl-PL" dirty="0">
                <a:sym typeface="Wingdings" panose="05000000000000000000" pitchFamily="2" charset="2"/>
              </a:rPr>
              <a:t>x&lt;y ^ y&lt;z -&gt; x&lt;z</a:t>
            </a:r>
          </a:p>
          <a:p>
            <a:pPr marL="171450" indent="-171450">
              <a:buFontTx/>
              <a:buChar char="-"/>
            </a:pPr>
            <a:r>
              <a:rPr lang="pl-PL" dirty="0">
                <a:sym typeface="Wingdings" panose="05000000000000000000" pitchFamily="2" charset="2"/>
              </a:rPr>
              <a:t>x&lt;=y ^ y&lt;=x -&gt; x=y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772B74-BE0C-458B-BF67-1E162353DF5C}" type="slidenum">
              <a:rPr lang="pl-PL" smtClean="0"/>
              <a:t>12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782308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Z tego </a:t>
            </a:r>
            <a:r>
              <a:rPr lang="pl-PL" dirty="0" err="1"/>
              <a:t>wynika,że</a:t>
            </a:r>
            <a:r>
              <a:rPr lang="pl-PL" dirty="0"/>
              <a:t> jeżeli y&lt;x to y=0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772B74-BE0C-458B-BF67-1E162353DF5C}" type="slidenum">
              <a:rPr lang="pl-PL" smtClean="0"/>
              <a:t>13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370477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Skończona algebra Boole’a jest atomowa.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772B74-BE0C-458B-BF67-1E162353DF5C}" type="slidenum">
              <a:rPr lang="pl-PL" smtClean="0"/>
              <a:t>14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279999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Bramka XOR to alternatywa wykluczająca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772B74-BE0C-458B-BF67-1E162353DF5C}" type="slidenum">
              <a:rPr lang="pl-PL" smtClean="0"/>
              <a:t>17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637660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BF159-45DB-5395-3ABC-80AA2E68E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D11B2274-44C8-B936-178F-C8FBCAD3A5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08909BAC-3698-A860-5275-831B7E0907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Bramka XOR to alternatywa wykluczająca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74867A02-DF33-3062-19A7-9DF96B0D32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772B74-BE0C-458B-BF67-1E162353DF5C}" type="slidenum">
              <a:rPr lang="pl-PL" smtClean="0"/>
              <a:t>18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198838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‚+’, gdy f(x)&gt;=0</a:t>
            </a:r>
          </a:p>
          <a:p>
            <a:r>
              <a:rPr lang="pl-PL" dirty="0"/>
              <a:t>W przeciwnym razie przed całką wstawiamy ‚-’ (ponieważ pole musi być nieujemne)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772B74-BE0C-458B-BF67-1E162353DF5C}" type="slidenum">
              <a:rPr lang="pl-PL" smtClean="0"/>
              <a:t>20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282678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Niech f(x) będzie ograniczona. Dzielimy przedział [</a:t>
            </a:r>
            <a:r>
              <a:rPr lang="pl-PL" dirty="0" err="1"/>
              <a:t>a,b</a:t>
            </a:r>
            <a:r>
              <a:rPr lang="pl-PL" dirty="0"/>
              <a:t>] na n punktów x0, x1, x2, …, xn-1, </a:t>
            </a:r>
            <a:r>
              <a:rPr lang="pl-PL" dirty="0" err="1"/>
              <a:t>xn</a:t>
            </a:r>
            <a:r>
              <a:rPr lang="pl-PL" dirty="0"/>
              <a:t>, gdzie a&lt;=x0&lt;=x1&lt;=x2&lt;=…&lt;=xn-1&lt;=</a:t>
            </a:r>
            <a:r>
              <a:rPr lang="pl-PL" dirty="0" err="1"/>
              <a:t>xn</a:t>
            </a:r>
            <a:r>
              <a:rPr lang="pl-PL" dirty="0"/>
              <a:t>.</a:t>
            </a:r>
          </a:p>
          <a:p>
            <a:r>
              <a:rPr lang="pl-PL" dirty="0"/>
              <a:t>Liczbę 𝐿 (𝑓,𝑃) ∶= � � 𝑖=1 𝑚𝑖 (𝑓, 𝑃)∆𝑥𝑖, gdzie ∆𝑥𝑖 = 𝑥𝑖 − 𝑥𝑖−1, zaś � �𝑖(𝑓,𝑃) = </a:t>
            </a:r>
            <a:r>
              <a:rPr lang="pl-PL" dirty="0" err="1"/>
              <a:t>inf</a:t>
            </a:r>
            <a:r>
              <a:rPr lang="pl-PL" dirty="0"/>
              <a:t> 𝑓(𝑥) , 𝑥 𝜖 [𝑥𝑖−1 , 𝑥𝑖] nazywamy dolną sumą całkową dla funkcji 𝑓 i podziału 𝑃.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772B74-BE0C-458B-BF67-1E162353DF5C}" type="slidenum">
              <a:rPr lang="pl-PL" smtClean="0"/>
              <a:t>21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937654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62FF1-7E1B-BC97-E299-82BFBAC9D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14C764C7-D5CB-2350-62E1-1C8DCC441E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3B3F5241-D0C0-26F0-D198-19B21190F8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Niech f(x) będzie ograniczona. Dzielimy przedział [</a:t>
            </a:r>
            <a:r>
              <a:rPr lang="pl-PL" dirty="0" err="1"/>
              <a:t>a,b</a:t>
            </a:r>
            <a:r>
              <a:rPr lang="pl-PL" dirty="0"/>
              <a:t>] na n punktów x0, x1, x2, …, xn-1, </a:t>
            </a:r>
            <a:r>
              <a:rPr lang="pl-PL" dirty="0" err="1"/>
              <a:t>xn</a:t>
            </a:r>
            <a:r>
              <a:rPr lang="pl-PL" dirty="0"/>
              <a:t>, gdzie a&lt;=x0&lt;=x1&lt;=x2&lt;=…&lt;=xn-1&lt;=</a:t>
            </a:r>
            <a:r>
              <a:rPr lang="pl-PL" dirty="0" err="1"/>
              <a:t>xn</a:t>
            </a:r>
            <a:r>
              <a:rPr lang="pl-PL" dirty="0"/>
              <a:t>.</a:t>
            </a:r>
          </a:p>
          <a:p>
            <a:r>
              <a:rPr lang="pl-PL" dirty="0"/>
              <a:t>Dolna suma całkowa =&gt; S=</a:t>
            </a:r>
            <a:r>
              <a:rPr lang="pl-PL" dirty="0" err="1"/>
              <a:t>m_i</a:t>
            </a:r>
            <a:r>
              <a:rPr lang="pl-PL" dirty="0"/>
              <a:t>(</a:t>
            </a:r>
            <a:r>
              <a:rPr lang="pl-PL" dirty="0" err="1"/>
              <a:t>f,P</a:t>
            </a:r>
            <a:r>
              <a:rPr lang="pl-PL" dirty="0"/>
              <a:t>)dx </a:t>
            </a:r>
          </a:p>
          <a:p>
            <a:r>
              <a:rPr lang="pl-PL" dirty="0"/>
              <a:t>Górna suma całkowa =&gt; S=</a:t>
            </a:r>
            <a:r>
              <a:rPr lang="pl-PL" dirty="0" err="1"/>
              <a:t>M_i</a:t>
            </a:r>
            <a:r>
              <a:rPr lang="pl-PL" dirty="0"/>
              <a:t>(</a:t>
            </a:r>
            <a:r>
              <a:rPr lang="pl-PL" dirty="0" err="1"/>
              <a:t>f,P</a:t>
            </a:r>
            <a:r>
              <a:rPr lang="pl-PL" dirty="0"/>
              <a:t>)dx</a:t>
            </a:r>
          </a:p>
          <a:p>
            <a:r>
              <a:rPr lang="pl-PL" dirty="0"/>
              <a:t>m-</a:t>
            </a:r>
            <a:r>
              <a:rPr lang="pl-PL" dirty="0" err="1"/>
              <a:t>inf</a:t>
            </a:r>
            <a:r>
              <a:rPr lang="pl-PL" dirty="0"/>
              <a:t>(f(x)) //infimum</a:t>
            </a:r>
          </a:p>
          <a:p>
            <a:r>
              <a:rPr lang="pl-PL" dirty="0"/>
              <a:t>M- </a:t>
            </a:r>
            <a:r>
              <a:rPr lang="pl-PL" dirty="0" err="1"/>
              <a:t>sup</a:t>
            </a:r>
            <a:r>
              <a:rPr lang="pl-PL" dirty="0"/>
              <a:t>(f(x)) </a:t>
            </a:r>
            <a:r>
              <a:rPr lang="pl-PL"/>
              <a:t>//supremum</a:t>
            </a:r>
            <a:endParaRPr lang="pl-PL" dirty="0"/>
          </a:p>
          <a:p>
            <a:r>
              <a:rPr lang="pl-PL" dirty="0"/>
              <a:t>P – zbiór punktów, którymi podzieliliśmy przedział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19FA2A1D-BAAD-CAFA-6796-ECA8213D17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772B74-BE0C-458B-BF67-1E162353DF5C}" type="slidenum">
              <a:rPr lang="pl-PL" smtClean="0"/>
              <a:t>22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096626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Dodatkowo np. jest metoda Gaussa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772B74-BE0C-458B-BF67-1E162353DF5C}" type="slidenum">
              <a:rPr lang="pl-PL" smtClean="0"/>
              <a:t>23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363045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4700D-17B4-9B13-C6AF-80DBCF94D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6A647DBD-FB75-5C3A-3445-87C6E89A64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9B055123-72F4-6280-D21E-0E6A205F65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6D33E94A-EE45-C2BC-D525-CE5D0B6A2F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772B74-BE0C-458B-BF67-1E162353DF5C}" type="slidenum">
              <a:rPr lang="pl-PL" smtClean="0"/>
              <a:t>24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900621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E2DD8-9E49-D194-C158-BADB3A050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1E90CC84-1282-C3F4-2543-0BBFEF7151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ED223D19-C9FB-EDF2-5951-6D4C6F44BB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P =  (f(x1)+f(x2))*dx/2</a:t>
            </a:r>
          </a:p>
          <a:p>
            <a:r>
              <a:rPr lang="pl-PL" dirty="0"/>
              <a:t>dx = x2-x1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7389A329-B1D5-D62D-7369-4EF448FC24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772B74-BE0C-458B-BF67-1E162353DF5C}" type="slidenum">
              <a:rPr lang="pl-PL" smtClean="0"/>
              <a:t>25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061809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11AC1-3308-B7CF-1EA0-0E48647AB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ED7AFDFE-E457-2E2E-C2C6-6E131B870D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CE0467FD-81E3-A89F-6E82-2E6436EF6A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h- odległość między punktami (odległości muszą być równe)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DBB876DB-7ABF-FA1C-998C-6B6DC208AA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772B74-BE0C-458B-BF67-1E162353DF5C}" type="slidenum">
              <a:rPr lang="pl-PL" smtClean="0"/>
              <a:t>26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707851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415C4-E86B-9C72-08AC-C3DFE93C7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D20B8A3B-9EDC-A7AD-E1B3-2D09B995F3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5A63D5C8-9E0A-4020-E92E-06C3607B1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Jest też inna metoda:</a:t>
            </a:r>
          </a:p>
          <a:p>
            <a:r>
              <a:rPr lang="pl-PL" dirty="0"/>
              <a:t>Sumujemy wartości funkcji wylosowanych punktów, dzielimy przez ich ilość i mnożymy przez przedział [</a:t>
            </a:r>
            <a:r>
              <a:rPr lang="pl-PL" dirty="0" err="1"/>
              <a:t>a,b</a:t>
            </a:r>
            <a:r>
              <a:rPr lang="pl-PL" dirty="0"/>
              <a:t>] (b-a)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7E623984-8008-3FF5-A740-67E872BA40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772B74-BE0C-458B-BF67-1E162353DF5C}" type="slidenum">
              <a:rPr lang="pl-PL" smtClean="0"/>
              <a:t>27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82708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44EED-2CD1-F06A-4E2E-BAECEF7D9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4423DB5C-B090-CF10-9B67-F368E24791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0BA8FC96-834D-A6A2-AC23-40BA353EC8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Dodatkowo np. jest metoda Gaussa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95313CCB-AAAC-D3F1-5166-1CAF97C1D1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772B74-BE0C-458B-BF67-1E162353DF5C}" type="slidenum">
              <a:rPr lang="pl-PL" smtClean="0"/>
              <a:t>28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178126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D97AD-1ED4-814A-EABC-6B495A65B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7BDFB59A-77D6-5A40-B1B5-E4E73F0F78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0131B6EC-0DD5-7435-76C6-332797A5FE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Dodatkowo np. jest metoda Gaussa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5D6D5559-7A35-370C-295D-283D71B5A7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772B74-BE0C-458B-BF67-1E162353DF5C}" type="slidenum">
              <a:rPr lang="pl-PL" smtClean="0"/>
              <a:t>29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464852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SPIR-V </a:t>
            </a:r>
            <a:r>
              <a:rPr lang="pl-PL"/>
              <a:t>dla Vul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772B74-BE0C-458B-BF67-1E162353DF5C}" type="slidenum">
              <a:rPr lang="pl-PL" smtClean="0"/>
              <a:t>31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612659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3ds max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772B74-BE0C-458B-BF67-1E162353DF5C}" type="slidenum">
              <a:rPr lang="pl-PL" smtClean="0"/>
              <a:t>32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3461477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Metal(?) – w produktach Apple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772B74-BE0C-458B-BF67-1E162353DF5C}" type="slidenum">
              <a:rPr lang="pl-PL" smtClean="0"/>
              <a:t>33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0612924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Shadery 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772B74-BE0C-458B-BF67-1E162353DF5C}" type="slidenum">
              <a:rPr lang="pl-PL" smtClean="0"/>
              <a:t>35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53198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85819BB-B119-3CAD-E033-CDF9759D52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E5E28BC-20B7-1E3D-AECD-A9D57C640F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88659C98-BCEA-57E4-1565-BA336889E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C9746-F207-4219-AE9A-721378FB0CC2}" type="datetime1">
              <a:rPr lang="pl-PL" smtClean="0"/>
              <a:t>13.05.2025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A9479DE-9A25-916C-8B79-83BA71668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7A5740E-7041-EF87-638B-E9A743049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BAC0-DDFC-49BC-A164-59258706C6D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67241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84FF381-CE0C-4471-1662-7AD250F25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3DDE925-E67F-A9C6-754E-107D9FE8D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A80E2A1-5026-F01E-064F-181D28BDF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DAB27-E67E-476B-B3F5-BBF3FD513283}" type="datetime1">
              <a:rPr lang="pl-PL" smtClean="0"/>
              <a:t>13.05.2025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3B369CBA-19F0-6FB9-316B-B45EB6759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CE3696A4-35E1-B795-334F-F4B3BEB46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BAC0-DDFC-49BC-A164-59258706C6D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01952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5DDD119-5A4B-3959-2C8A-65EFAACE0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98ED04D-7302-3EB7-FB73-FC0BE1192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06FCB4D-8729-1F9F-2286-89EDB6D87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8A982-AF33-40B3-8720-75DBB308AC0C}" type="datetime1">
              <a:rPr lang="pl-PL" smtClean="0"/>
              <a:t>13.05.2025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8EB88E6B-7F69-AC5A-7BAB-0DA25D358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01C9729-7318-0EF3-A3A5-AFDD2C5B6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BAC0-DDFC-49BC-A164-59258706C6D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60571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F7FE1DF-FF8F-A929-DE9F-B0C7C7BC7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CB8E788-3026-92C6-4783-CC7F916122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C18D31AC-4CE0-7AC3-633A-31F2E0C286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7F291863-CC7A-66F9-33E5-BD7459C14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C8F02-1B1E-4D3A-96EA-EC917178637E}" type="datetime1">
              <a:rPr lang="pl-PL" smtClean="0"/>
              <a:t>13.05.2025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B9C60AC2-6021-188E-962F-E703E085D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DAA0C74E-EEB2-02E8-A0C4-1B9135820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BAC0-DDFC-49BC-A164-59258706C6D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90751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6D60095-A752-0F53-6F9F-79016541A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DB49E66B-481E-8F0F-29D1-561AF435A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848D6133-1D72-469E-FF04-47DCA56C16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5A0AFE0C-6D5D-309B-1C38-C2B7B1B780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CDEDE8A1-FF4F-952F-1B36-74AEC01392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F2EB8998-95C0-856D-43C8-7D910BC41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E6F96-0246-421B-AEA2-7E5AE4B4AF7F}" type="datetime1">
              <a:rPr lang="pl-PL" smtClean="0"/>
              <a:t>13.05.2025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04457252-46E2-ACD9-473B-A19A7E1E6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CB9F47E3-0F69-BAC6-BF36-9D60A7EAB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BAC0-DDFC-49BC-A164-59258706C6D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5165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105FFD4-81AB-A676-E22A-88F03F99A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B714E7A4-50C4-D507-6091-892107C78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58C3B-5436-4B66-8533-795816C9EDFB}" type="datetime1">
              <a:rPr lang="pl-PL" smtClean="0"/>
              <a:t>13.05.2025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52B81F70-80A4-BE6A-49F5-3D300F581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16A755E7-2D4E-F0DE-AC1C-06837D6E8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BAC0-DDFC-49BC-A164-59258706C6D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51937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E8ECA682-3141-1369-360E-9138F162D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B320-9EEA-4CAB-9223-A17F2661C39A}" type="datetime1">
              <a:rPr lang="pl-PL" smtClean="0"/>
              <a:t>13.05.2025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D5E1457F-057D-F19E-3CA1-1C4B625BC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6165B13E-A5F8-AB01-1133-E50D226E5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BAC0-DDFC-49BC-A164-59258706C6D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78131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0463839-8979-9A4C-559D-86C7816DB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E5315FA-A00E-DC77-56F3-7BA545C031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DC8A32B3-8AEC-B768-3157-7B8ED4B3F6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E1ACEEDF-1CDC-2952-2027-6FD6A540D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EB7FD-0F39-4DB3-862C-060E3A117307}" type="datetime1">
              <a:rPr lang="pl-PL" smtClean="0"/>
              <a:t>13.05.2025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A536B9C4-3C93-E776-E63D-1F9510E46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CAF4244-F194-C7F7-2EE5-13040B888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BAC0-DDFC-49BC-A164-59258706C6D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02339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51A3F4A-05D8-B2DC-D8AB-9AF4E251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865378D4-B481-41A8-A56B-3AD1B9E330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5A3DF971-E699-81E9-24B0-8B3A976F3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83CCA665-D520-0A03-137D-A2D6E7C38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D57BD-ED48-4AC6-8DD8-3AA7F394E384}" type="datetime1">
              <a:rPr lang="pl-PL" smtClean="0"/>
              <a:t>13.05.2025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B93EAF40-3B49-372C-B055-CEC07AC34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402D9987-18CD-2379-990A-D702A64C7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BAC0-DDFC-49BC-A164-59258706C6D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70482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42E836F-32F8-2B12-30A0-7CF1E8830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B8520440-A69E-5B66-53DB-00F8A69F19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79AF698-599B-1F08-0574-94F78A2F4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EBB15-3408-47EE-A6A3-5FC780463911}" type="datetime1">
              <a:rPr lang="pl-PL" smtClean="0"/>
              <a:t>13.05.2025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32E8686-2848-5053-3936-D3E40B0CD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81DF6D3-083E-BB00-7299-F0DFB5117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BAC0-DDFC-49BC-A164-59258706C6D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74075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1073083E-71FA-2BDE-BE4F-AFF3C11179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BF499BE6-59B0-98C5-C4F8-8C1DB3855C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550C3A3-F9AB-680B-E6C8-EB1925742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8D880-2268-4F0E-9EFA-4977FF89AC8A}" type="datetime1">
              <a:rPr lang="pl-PL" smtClean="0"/>
              <a:t>13.05.2025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95C6953-C78E-4DF6-02B0-7F97DB05A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AC0F70F-522F-FC1F-C891-7F8B325EF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BAC0-DDFC-49BC-A164-59258706C6D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00074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7000">
              <a:srgbClr val="FAE8D1"/>
            </a:gs>
            <a:gs pos="37000">
              <a:srgbClr val="FAF3EA"/>
            </a:gs>
            <a:gs pos="0">
              <a:srgbClr val="FFFFFF"/>
            </a:gs>
            <a:gs pos="100000">
              <a:srgbClr val="EFD2AB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1067736E-0D2C-1B1D-80AC-1C0C2898D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22722628-296C-B497-541F-D29C32957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AB69CD9-F524-AD91-D4F3-18E5D466A0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66A569-6C28-48EA-9964-446C3D401D9B}" type="datetime1">
              <a:rPr lang="pl-PL" smtClean="0"/>
              <a:t>13.05.2025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701AE1B-4BF0-B97D-A74A-95C65B7203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7CADF0B-44FB-3AA7-4C77-04EBDF2840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32BAC0-DDFC-49BC-A164-59258706C6D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81955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793" r:id="rId4"/>
    <p:sldLayoutId id="2147483794" r:id="rId5"/>
    <p:sldLayoutId id="2147483795" r:id="rId6"/>
    <p:sldLayoutId id="2147483796" r:id="rId7"/>
    <p:sldLayoutId id="2147483797" r:id="rId8"/>
    <p:sldLayoutId id="2147483798" r:id="rId9"/>
    <p:sldLayoutId id="2147483799" r:id="rId10"/>
    <p:sldLayoutId id="2147483800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4.xml"/><Relationship Id="rId13" Type="http://schemas.openxmlformats.org/officeDocument/2006/relationships/slide" Target="slide23.xml"/><Relationship Id="rId18" Type="http://schemas.openxmlformats.org/officeDocument/2006/relationships/slide" Target="slide34.xml"/><Relationship Id="rId3" Type="http://schemas.openxmlformats.org/officeDocument/2006/relationships/slide" Target="slide4.xml"/><Relationship Id="rId21" Type="http://schemas.openxmlformats.org/officeDocument/2006/relationships/slide" Target="slide37.xml"/><Relationship Id="rId7" Type="http://schemas.openxmlformats.org/officeDocument/2006/relationships/slide" Target="slide13.xml"/><Relationship Id="rId12" Type="http://schemas.openxmlformats.org/officeDocument/2006/relationships/slide" Target="slide21.xml"/><Relationship Id="rId17" Type="http://schemas.openxmlformats.org/officeDocument/2006/relationships/slide" Target="slide33.xml"/><Relationship Id="rId2" Type="http://schemas.openxmlformats.org/officeDocument/2006/relationships/slide" Target="slide3.xml"/><Relationship Id="rId16" Type="http://schemas.openxmlformats.org/officeDocument/2006/relationships/slide" Target="slide32.xml"/><Relationship Id="rId20" Type="http://schemas.openxmlformats.org/officeDocument/2006/relationships/slide" Target="slide36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2.xml"/><Relationship Id="rId11" Type="http://schemas.openxmlformats.org/officeDocument/2006/relationships/slide" Target="slide20.xml"/><Relationship Id="rId5" Type="http://schemas.openxmlformats.org/officeDocument/2006/relationships/slide" Target="slide9.xml"/><Relationship Id="rId15" Type="http://schemas.openxmlformats.org/officeDocument/2006/relationships/slide" Target="slide31.xml"/><Relationship Id="rId10" Type="http://schemas.openxmlformats.org/officeDocument/2006/relationships/slide" Target="slide17.xml"/><Relationship Id="rId19" Type="http://schemas.openxmlformats.org/officeDocument/2006/relationships/slide" Target="slide35.xml"/><Relationship Id="rId4" Type="http://schemas.openxmlformats.org/officeDocument/2006/relationships/slide" Target="slide6.xml"/><Relationship Id="rId9" Type="http://schemas.openxmlformats.org/officeDocument/2006/relationships/slide" Target="slide15.xml"/><Relationship Id="rId14" Type="http://schemas.openxmlformats.org/officeDocument/2006/relationships/slide" Target="slide2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g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hyperlink" Target="https://link.springer.com/content/pdf/10.1007/978-0-387-68436-9_15" TargetMode="External"/><Relationship Id="rId13" Type="http://schemas.openxmlformats.org/officeDocument/2006/relationships/hyperlink" Target="https://mat.ug.edu.pl/~matpz/powtorka12.pdf" TargetMode="External"/><Relationship Id="rId3" Type="http://schemas.openxmlformats.org/officeDocument/2006/relationships/hyperlink" Target="https://www.math.uchicago.edu/~kach/mathematics/slides28apr2007.pdf" TargetMode="External"/><Relationship Id="rId7" Type="http://schemas.openxmlformats.org/officeDocument/2006/relationships/hyperlink" Target="https://www.math.us.edu.pl/pgladki/teaching/2010-2011/log_w02.pdf" TargetMode="External"/><Relationship Id="rId12" Type="http://schemas.openxmlformats.org/officeDocument/2006/relationships/hyperlink" Target="http://katmat.wilsig.tu.koszalin.pl/attachments/article/268/Ca%C5%82ka%20oznaczona%202%20-%20interpretacja%20geometryczna.pdf" TargetMode="External"/><Relationship Id="rId2" Type="http://schemas.openxmlformats.org/officeDocument/2006/relationships/hyperlink" Target="https://ai.ia.agh.edu.pl/_media/pl:dydaktyka:logic:logika-boole-synthesis-9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s.pwr.edu.pl/kobylanski/dydaktyka/resources/ti_wyk2.pdf" TargetMode="External"/><Relationship Id="rId11" Type="http://schemas.openxmlformats.org/officeDocument/2006/relationships/hyperlink" Target="https://el.us.edu.pl/ekonofizyka/index.php/Ca%C5%82ka_oznaczona_i_nieoznaczona" TargetMode="External"/><Relationship Id="rId5" Type="http://schemas.openxmlformats.org/officeDocument/2006/relationships/hyperlink" Target="https://esezam.okno.pw.edu.pl/mod/book/view.php?id=38&amp;chapterid=770" TargetMode="External"/><Relationship Id="rId10" Type="http://schemas.openxmlformats.org/officeDocument/2006/relationships/hyperlink" Target="https://botland.com.pl/blog/bramki-logiczne-jak-to-dziala/" TargetMode="External"/><Relationship Id="rId4" Type="http://schemas.openxmlformats.org/officeDocument/2006/relationships/hyperlink" Target="https://pl.wikipedia.org/wiki/Algebra_Boole%E2%80%99a" TargetMode="External"/><Relationship Id="rId9" Type="http://schemas.openxmlformats.org/officeDocument/2006/relationships/hyperlink" Target="https://math.libretexts.org/Courses/SUNY_Schenectady_County_Community_College/Discrete_Structures/12%3A_Boolean_Algebra/12.04%3A_Atoms_of_a_Boolean_Algebra" TargetMode="Externa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hyperlink" Target="https://daru-daru.tistory.com/82" TargetMode="External"/><Relationship Id="rId3" Type="http://schemas.openxmlformats.org/officeDocument/2006/relationships/hyperlink" Target="https://commons.wikimedia.org/wiki/File:Simpsons_method_illustration.svg#/media/Plik:Simpsons_method_illustration.svg" TargetMode="External"/><Relationship Id="rId7" Type="http://schemas.openxmlformats.org/officeDocument/2006/relationships/hyperlink" Target="https://home.agh.edu.pl/~glowacki/docs/matwykl/GrafKomp/OpenGL-SFML-Wielokaty.pdf" TargetMode="External"/><Relationship Id="rId2" Type="http://schemas.openxmlformats.org/officeDocument/2006/relationships/hyperlink" Target="https://robert-jakubowski.v.prz.edu.pl/download/M9cTFhUWQSCXcSG3BAQyZ0SCNna1dXbnh4dFRKK2dua0tuIHRRdRJMOkooYUgyZyFx,MsO2AoECkoAXsEZC8FIi4gbz5_YgYefDU1Ox5wPmlmfVxsJg/calkowanie_numeryczne_wyklad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anual.gamemaker.io/monthly/pl/The_Asset_Editors/Shaders.htm" TargetMode="External"/><Relationship Id="rId5" Type="http://schemas.openxmlformats.org/officeDocument/2006/relationships/hyperlink" Target="https://polytechnic.purdue.edu/departments/computer-graphics-technology/about/what-computer-graphics-technology" TargetMode="External"/><Relationship Id="rId4" Type="http://schemas.openxmlformats.org/officeDocument/2006/relationships/hyperlink" Target="https://www.algorytm.org/procedury-numeryczne/calkowanie-numeryczne-metoda-monte-carlo-i.html" TargetMode="External"/><Relationship Id="rId9" Type="http://schemas.openxmlformats.org/officeDocument/2006/relationships/hyperlink" Target="https://www.ire.pw.edu.pl/~trubel/grk/files/GRK_06.pdf" TargetMode="Externa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943869C-7834-F7AF-1E6C-383C7F6370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11325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pl-PL" b="1" dirty="0"/>
              <a:t>Opracowanie pytań do egzaminu inżynierskiego </a:t>
            </a:r>
            <a:br>
              <a:rPr lang="pl-PL" b="1" dirty="0"/>
            </a:br>
            <a:r>
              <a:rPr lang="pl-PL" b="1" dirty="0"/>
              <a:t>–  temat 1, 13, 25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763A1C4F-7E40-A2A4-BB4A-FB46B04328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52914"/>
            <a:ext cx="9144000" cy="458171"/>
          </a:xfrm>
        </p:spPr>
        <p:txBody>
          <a:bodyPr>
            <a:normAutofit/>
          </a:bodyPr>
          <a:lstStyle/>
          <a:p>
            <a:r>
              <a:rPr lang="pl-PL" dirty="0"/>
              <a:t>Patrycja Bąk</a:t>
            </a:r>
          </a:p>
        </p:txBody>
      </p:sp>
      <p:pic>
        <p:nvPicPr>
          <p:cNvPr id="5" name="Obraz 4" descr="Obraz zawierający Czcionka, tekst, zrzut ekranu, Grafika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ECE6EA96-6EF7-459E-4A08-88FBBC9104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514" y="5477477"/>
            <a:ext cx="3848977" cy="952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757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55DEDA8-E4EF-BE4A-A4F1-FCC64605E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4859"/>
            <a:ext cx="10515600" cy="740014"/>
          </a:xfrm>
          <a:noFill/>
        </p:spPr>
        <p:txBody>
          <a:bodyPr>
            <a:normAutofit/>
          </a:bodyPr>
          <a:lstStyle/>
          <a:p>
            <a:pPr algn="ctr"/>
            <a:r>
              <a:rPr lang="pl-PL" b="1" dirty="0"/>
              <a:t>Spis treści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30B6D04-6A49-CA0B-43BB-A3DBA9A52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304" y="839337"/>
            <a:ext cx="10515600" cy="5882138"/>
          </a:xfrm>
        </p:spPr>
        <p:txBody>
          <a:bodyPr>
            <a:normAutofit fontScale="85000" lnSpcReduction="20000"/>
          </a:bodyPr>
          <a:lstStyle/>
          <a:p>
            <a:r>
              <a:rPr lang="pl-PL" sz="2200" b="1" dirty="0">
                <a:solidFill>
                  <a:schemeClr val="accent2">
                    <a:lumMod val="50000"/>
                  </a:schemeClr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Pytanie 1 - Algebra Boole’a, ich własności i zastosowania</a:t>
            </a:r>
            <a:r>
              <a:rPr lang="pl-PL" sz="2200" b="1" dirty="0">
                <a:solidFill>
                  <a:schemeClr val="accent2">
                    <a:lumMod val="50000"/>
                  </a:schemeClr>
                </a:solidFill>
              </a:rPr>
              <a:t> </a:t>
            </a:r>
          </a:p>
          <a:p>
            <a:pPr lvl="1"/>
            <a:r>
              <a:rPr lang="pl-PL" sz="2200" dirty="0">
                <a:solidFill>
                  <a:schemeClr val="accent2">
                    <a:lumMod val="50000"/>
                  </a:schemeClr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Definicja</a:t>
            </a:r>
            <a:endParaRPr lang="pl-PL" sz="2200" dirty="0">
              <a:solidFill>
                <a:schemeClr val="accent2">
                  <a:lumMod val="50000"/>
                </a:schemeClr>
              </a:solidFill>
            </a:endParaRPr>
          </a:p>
          <a:p>
            <a:pPr lvl="1"/>
            <a:r>
              <a:rPr lang="pl-PL" sz="2200" dirty="0">
                <a:solidFill>
                  <a:schemeClr val="accent2">
                    <a:lumMod val="50000"/>
                  </a:schemeClr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Aksjomaty i własności</a:t>
            </a:r>
            <a:endParaRPr lang="pl-PL" sz="2200" dirty="0">
              <a:solidFill>
                <a:schemeClr val="accent2">
                  <a:lumMod val="50000"/>
                </a:schemeClr>
              </a:solidFill>
            </a:endParaRPr>
          </a:p>
          <a:p>
            <a:pPr lvl="1"/>
            <a:r>
              <a:rPr lang="pl-PL" sz="2200" dirty="0">
                <a:solidFill>
                  <a:schemeClr val="accent2">
                    <a:lumMod val="50000"/>
                  </a:schemeClr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Przykłady</a:t>
            </a:r>
            <a:endParaRPr lang="pl-PL" sz="2200" dirty="0">
              <a:solidFill>
                <a:schemeClr val="accent2">
                  <a:lumMod val="50000"/>
                </a:schemeClr>
              </a:solidFill>
            </a:endParaRPr>
          </a:p>
          <a:p>
            <a:pPr lvl="1"/>
            <a:r>
              <a:rPr lang="pl-PL" sz="2200" dirty="0">
                <a:solidFill>
                  <a:schemeClr val="accent2">
                    <a:lumMod val="50000"/>
                  </a:schemeClr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Relacja mniejszości</a:t>
            </a:r>
            <a:endParaRPr lang="pl-PL" sz="2200" dirty="0">
              <a:solidFill>
                <a:schemeClr val="accent2">
                  <a:lumMod val="50000"/>
                </a:schemeClr>
              </a:solidFill>
            </a:endParaRPr>
          </a:p>
          <a:p>
            <a:pPr lvl="1"/>
            <a:r>
              <a:rPr lang="pl-PL" sz="2200" dirty="0">
                <a:solidFill>
                  <a:schemeClr val="accent2">
                    <a:lumMod val="50000"/>
                  </a:schemeClr>
                </a:solidFill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Atom</a:t>
            </a:r>
            <a:endParaRPr lang="pl-PL" sz="2200" dirty="0">
              <a:solidFill>
                <a:schemeClr val="accent2">
                  <a:lumMod val="50000"/>
                </a:schemeClr>
              </a:solidFill>
            </a:endParaRPr>
          </a:p>
          <a:p>
            <a:pPr lvl="1"/>
            <a:r>
              <a:rPr lang="pl-PL" sz="2200" dirty="0">
                <a:solidFill>
                  <a:schemeClr val="accent2">
                    <a:lumMod val="50000"/>
                  </a:schemeClr>
                </a:solidFill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Twierdzenie o izomorfizmie skończonych algebr Boole’a</a:t>
            </a:r>
            <a:endParaRPr lang="pl-PL" sz="2200" dirty="0">
              <a:solidFill>
                <a:schemeClr val="accent2">
                  <a:lumMod val="50000"/>
                </a:schemeClr>
              </a:solidFill>
            </a:endParaRPr>
          </a:p>
          <a:p>
            <a:pPr lvl="1"/>
            <a:r>
              <a:rPr lang="pl-PL" sz="2200" dirty="0">
                <a:solidFill>
                  <a:schemeClr val="accent2">
                    <a:lumMod val="50000"/>
                  </a:schemeClr>
                </a:solidFill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Opis układów bramek logicznych w języku algebr Boole’a</a:t>
            </a:r>
            <a:endParaRPr lang="pl-PL" sz="2200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pl-PL" sz="2200" b="1" dirty="0">
                <a:solidFill>
                  <a:schemeClr val="accent2">
                    <a:lumMod val="50000"/>
                  </a:schemeClr>
                </a:solidFill>
                <a:hlinkClick r:id="rId1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Pytanie 13 - Podstawowe metody całkowania numerycznego</a:t>
            </a:r>
            <a:endParaRPr lang="pl-PL" sz="2200" b="1" dirty="0">
              <a:solidFill>
                <a:schemeClr val="accent2">
                  <a:lumMod val="50000"/>
                </a:schemeClr>
              </a:solidFill>
            </a:endParaRPr>
          </a:p>
          <a:p>
            <a:pPr lvl="1"/>
            <a:r>
              <a:rPr lang="pl-PL" sz="2200" dirty="0">
                <a:solidFill>
                  <a:schemeClr val="accent2">
                    <a:lumMod val="50000"/>
                  </a:schemeClr>
                </a:solidFill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Geometryczna interpretacja całki oznaczonej</a:t>
            </a:r>
            <a:endParaRPr lang="pl-PL" sz="2200" dirty="0">
              <a:solidFill>
                <a:schemeClr val="accent2">
                  <a:lumMod val="50000"/>
                </a:schemeClr>
              </a:solidFill>
            </a:endParaRPr>
          </a:p>
          <a:p>
            <a:pPr lvl="1"/>
            <a:r>
              <a:rPr lang="pl-PL" sz="2200" dirty="0">
                <a:solidFill>
                  <a:schemeClr val="accent2">
                    <a:lumMod val="50000"/>
                  </a:schemeClr>
                </a:solidFill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Definicja całki Riemanna</a:t>
            </a:r>
            <a:endParaRPr lang="pl-PL" sz="2200" dirty="0">
              <a:solidFill>
                <a:schemeClr val="accent2">
                  <a:lumMod val="50000"/>
                </a:schemeClr>
              </a:solidFill>
            </a:endParaRPr>
          </a:p>
          <a:p>
            <a:pPr lvl="1"/>
            <a:r>
              <a:rPr lang="pl-PL" sz="2200" dirty="0">
                <a:solidFill>
                  <a:schemeClr val="accent2">
                    <a:lumMod val="50000"/>
                  </a:schemeClr>
                </a:solidFill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Metody całkowania</a:t>
            </a:r>
            <a:endParaRPr lang="pl-PL" sz="2200" dirty="0">
              <a:solidFill>
                <a:schemeClr val="accent2">
                  <a:lumMod val="50000"/>
                </a:schemeClr>
              </a:solidFill>
            </a:endParaRPr>
          </a:p>
          <a:p>
            <a:pPr lvl="1"/>
            <a:r>
              <a:rPr lang="pl-PL" sz="2200" dirty="0">
                <a:solidFill>
                  <a:schemeClr val="accent2">
                    <a:lumMod val="50000"/>
                  </a:schemeClr>
                </a:solidFill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Dokładność obliczeń</a:t>
            </a:r>
            <a:endParaRPr lang="pl-PL" sz="2200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pl-PL" sz="2200" b="1" dirty="0">
                <a:solidFill>
                  <a:schemeClr val="accent2">
                    <a:lumMod val="50000"/>
                  </a:schemeClr>
                </a:solidFill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Pytanie 25 - Technologie w programowaniu grafiki komputerowej</a:t>
            </a:r>
            <a:endParaRPr lang="pl-PL" sz="2200" b="1" dirty="0">
              <a:solidFill>
                <a:schemeClr val="accent2">
                  <a:lumMod val="50000"/>
                </a:schemeClr>
              </a:solidFill>
            </a:endParaRPr>
          </a:p>
          <a:p>
            <a:pPr lvl="1"/>
            <a:r>
              <a:rPr lang="pl-PL" sz="2200" dirty="0">
                <a:solidFill>
                  <a:schemeClr val="accent2">
                    <a:lumMod val="50000"/>
                  </a:schemeClr>
                </a:solidFill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Języki programowania grafiki</a:t>
            </a:r>
            <a:endParaRPr lang="pl-PL" sz="2200" dirty="0">
              <a:solidFill>
                <a:schemeClr val="accent2">
                  <a:lumMod val="50000"/>
                </a:schemeClr>
              </a:solidFill>
            </a:endParaRPr>
          </a:p>
          <a:p>
            <a:pPr lvl="1"/>
            <a:r>
              <a:rPr lang="pl-PL" sz="2200" dirty="0">
                <a:solidFill>
                  <a:schemeClr val="accent2">
                    <a:lumMod val="50000"/>
                  </a:schemeClr>
                </a:solidFill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Wykorzystywane</a:t>
            </a:r>
            <a:r>
              <a:rPr lang="pl-PL" sz="2200" dirty="0">
                <a:solidFill>
                  <a:srgbClr val="467886"/>
                </a:solidFill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pl-PL" sz="2200" dirty="0">
                <a:solidFill>
                  <a:schemeClr val="accent2">
                    <a:lumMod val="50000"/>
                  </a:schemeClr>
                </a:solidFill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platformy</a:t>
            </a:r>
            <a:endParaRPr lang="pl-PL" sz="2200" dirty="0">
              <a:solidFill>
                <a:schemeClr val="accent2">
                  <a:lumMod val="50000"/>
                </a:schemeClr>
              </a:solidFill>
            </a:endParaRPr>
          </a:p>
          <a:p>
            <a:pPr lvl="1"/>
            <a:r>
              <a:rPr lang="pl-PL" sz="2200" dirty="0">
                <a:solidFill>
                  <a:schemeClr val="accent2">
                    <a:lumMod val="50000"/>
                  </a:schemeClr>
                </a:solidFill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Wykorzystywane technologie</a:t>
            </a:r>
            <a:endParaRPr lang="pl-PL" sz="2200" dirty="0">
              <a:solidFill>
                <a:schemeClr val="accent2">
                  <a:lumMod val="50000"/>
                </a:schemeClr>
              </a:solidFill>
            </a:endParaRPr>
          </a:p>
          <a:p>
            <a:pPr lvl="1"/>
            <a:r>
              <a:rPr lang="pl-PL" sz="2200" dirty="0">
                <a:solidFill>
                  <a:schemeClr val="accent2">
                    <a:lumMod val="50000"/>
                  </a:schemeClr>
                </a:solidFill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Wykorzystywane biblioteki</a:t>
            </a:r>
            <a:endParaRPr lang="pl-PL" sz="2200" dirty="0">
              <a:solidFill>
                <a:schemeClr val="accent2">
                  <a:lumMod val="50000"/>
                </a:schemeClr>
              </a:solidFill>
            </a:endParaRPr>
          </a:p>
          <a:p>
            <a:pPr lvl="1"/>
            <a:r>
              <a:rPr lang="pl-PL" sz="2200" dirty="0">
                <a:solidFill>
                  <a:schemeClr val="accent2">
                    <a:lumMod val="50000"/>
                  </a:schemeClr>
                </a:solidFill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Shadery i ich dostępność</a:t>
            </a:r>
            <a:endParaRPr lang="pl-PL" sz="2200" dirty="0">
              <a:solidFill>
                <a:schemeClr val="accent2">
                  <a:lumMod val="50000"/>
                </a:schemeClr>
              </a:solidFill>
            </a:endParaRPr>
          </a:p>
          <a:p>
            <a:pPr lvl="1"/>
            <a:r>
              <a:rPr lang="pl-PL" sz="2200" dirty="0">
                <a:solidFill>
                  <a:schemeClr val="accent2">
                    <a:lumMod val="50000"/>
                  </a:schemeClr>
                </a:solidFill>
                <a:hlinkClick r:id="rId2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Potok graficzny</a:t>
            </a:r>
            <a:endParaRPr lang="pl-PL" sz="2200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pl-PL" sz="2200" dirty="0">
                <a:solidFill>
                  <a:schemeClr val="accent2">
                    <a:lumMod val="50000"/>
                  </a:schemeClr>
                </a:solidFill>
                <a:hlinkClick r:id="rId2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Bibliografia </a:t>
            </a:r>
            <a:endParaRPr lang="pl-PL" sz="22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48781493-1DE5-4319-2A72-75D98ECAF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BAC0-DDFC-49BC-A164-59258706C6D7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85662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C3AE25B-4956-C573-A634-D353F0B3A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02631"/>
            <a:ext cx="10515600" cy="2852737"/>
          </a:xfrm>
          <a:noFill/>
          <a:ln cmpd="thickThin">
            <a:noFill/>
            <a:prstDash val="sys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0515600"/>
                      <a:gd name="connsiteY0" fmla="*/ 0 h 2852737"/>
                      <a:gd name="connsiteX1" fmla="*/ 10515600 w 10515600"/>
                      <a:gd name="connsiteY1" fmla="*/ 0 h 2852737"/>
                      <a:gd name="connsiteX2" fmla="*/ 10515600 w 10515600"/>
                      <a:gd name="connsiteY2" fmla="*/ 2852737 h 2852737"/>
                      <a:gd name="connsiteX3" fmla="*/ 0 w 10515600"/>
                      <a:gd name="connsiteY3" fmla="*/ 2852737 h 2852737"/>
                      <a:gd name="connsiteX4" fmla="*/ 0 w 10515600"/>
                      <a:gd name="connsiteY4" fmla="*/ 0 h 285273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515600" h="2852737" extrusionOk="0">
                        <a:moveTo>
                          <a:pt x="0" y="0"/>
                        </a:moveTo>
                        <a:cubicBezTo>
                          <a:pt x="2385074" y="118645"/>
                          <a:pt x="7736396" y="116012"/>
                          <a:pt x="10515600" y="0"/>
                        </a:cubicBezTo>
                        <a:cubicBezTo>
                          <a:pt x="10382718" y="417896"/>
                          <a:pt x="10600551" y="1516192"/>
                          <a:pt x="10515600" y="2852737"/>
                        </a:cubicBezTo>
                        <a:cubicBezTo>
                          <a:pt x="8570514" y="2987337"/>
                          <a:pt x="4733866" y="2695541"/>
                          <a:pt x="0" y="2852737"/>
                        </a:cubicBezTo>
                        <a:cubicBezTo>
                          <a:pt x="-20187" y="2382979"/>
                          <a:pt x="-152480" y="36015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anchor="ctr"/>
          <a:lstStyle/>
          <a:p>
            <a:r>
              <a:rPr lang="pl-PL" b="1" dirty="0"/>
              <a:t>Pytanie 1 </a:t>
            </a:r>
            <a:br>
              <a:rPr lang="pl-PL" b="1" dirty="0"/>
            </a:br>
            <a:r>
              <a:rPr lang="pl-PL" b="1" dirty="0"/>
              <a:t>- Algebra Boole’a, ich własności i zastosowania 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EC756651-6D7B-858D-1D8B-209C7D1E7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BAC0-DDFC-49BC-A164-59258706C6D7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74934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6F682B0B-67B3-5930-70CD-E8637B7B72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2875"/>
                <a:ext cx="10515600" cy="5040000"/>
              </a:xfrm>
            </p:spPr>
            <p:txBody>
              <a:bodyPr/>
              <a:lstStyle/>
              <a:p>
                <a:pPr marL="0" indent="0" algn="ctr">
                  <a:lnSpc>
                    <a:spcPct val="150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r>
                      <a:rPr lang="pl-PL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ℬ</m:t>
                    </m:r>
                    <m:r>
                      <m:rPr>
                        <m:nor/>
                      </m:rPr>
                      <a:rPr lang="pl-PL" kern="100">
                        <a:latin typeface="Aptos" panose="020B0004020202020204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pl-PL" kern="10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Cambria Math" panose="02040503050406030204" pitchFamily="18" charset="0"/>
                      </a:rPr>
                      <m:t>≔</m:t>
                    </m:r>
                    <m:r>
                      <m:rPr>
                        <m:nor/>
                      </m:rPr>
                      <a:rPr lang="pl-PL" kern="100">
                        <a:latin typeface="Aptos" panose="020B0004020202020204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pl-PL" kern="100">
                        <a:latin typeface="Aptos" panose="020B0004020202020204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B</m:t>
                    </m:r>
                    <m:r>
                      <m:rPr>
                        <m:nor/>
                      </m:rPr>
                      <a:rPr lang="pl-PL" kern="100">
                        <a:latin typeface="Aptos" panose="020B0004020202020204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,</m:t>
                    </m:r>
                    <m:r>
                      <a:rPr lang="pl-PL" i="0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Malgun Gothic" panose="020B0503020000020004" pitchFamily="34" charset="-127"/>
                      </a:rPr>
                      <m:t>∨</m:t>
                    </m:r>
                    <m:r>
                      <m:rPr>
                        <m:nor/>
                      </m:rPr>
                      <a:rPr lang="pl-PL" kern="100">
                        <a:latin typeface="Aptos" panose="020B0004020202020204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pl-PL" kern="100">
                        <a:latin typeface="Aptos" panose="020B0004020202020204" pitchFamily="34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pl-PL" kern="100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∧</m:t>
                    </m:r>
                    <m:r>
                      <m:rPr>
                        <m:nor/>
                      </m:rPr>
                      <a:rPr lang="pl-PL" kern="10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 </m:t>
                    </m:r>
                    <m:r>
                      <a:rPr lang="pl-PL" i="0" kern="10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,¬, 0, 1)</m:t>
                    </m:r>
                  </m:oMath>
                </a14:m>
                <a:r>
                  <a:rPr lang="pl-PL" kern="100" dirty="0">
                    <a:latin typeface="Aptos" panose="020B0004020202020204" pitchFamily="34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  lub </a:t>
                </a:r>
                <a14:m>
                  <m:oMath xmlns:m="http://schemas.openxmlformats.org/officeDocument/2006/math">
                    <m:r>
                      <a:rPr lang="pl-PL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ℬ</m:t>
                    </m:r>
                    <m:r>
                      <m:rPr>
                        <m:nor/>
                      </m:rPr>
                      <a:rPr lang="pl-PL" i="1" kern="100">
                        <a:latin typeface="Aptos" panose="020B0004020202020204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pl-PL" kern="10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Cambria Math" panose="02040503050406030204" pitchFamily="18" charset="0"/>
                      </a:rPr>
                      <m:t>≔</m:t>
                    </m:r>
                    <m:r>
                      <m:rPr>
                        <m:nor/>
                      </m:rPr>
                      <a:rPr lang="pl-PL" kern="100">
                        <a:latin typeface="Aptos" panose="020B0004020202020204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pl-PL" kern="100">
                        <a:latin typeface="Aptos" panose="020B0004020202020204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B</m:t>
                    </m:r>
                    <m:r>
                      <m:rPr>
                        <m:nor/>
                      </m:rPr>
                      <a:rPr lang="pl-PL" kern="100">
                        <a:latin typeface="Aptos" panose="020B0004020202020204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pl-PL" i="1" kern="100">
                        <a:latin typeface="Aptos" panose="020B0004020202020204" pitchFamily="34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pl-PL" b="0" i="0" kern="100" smtClean="0">
                        <a:latin typeface="Aptos" panose="020B0004020202020204" pitchFamily="34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+</m:t>
                    </m:r>
                    <m:r>
                      <m:rPr>
                        <m:nor/>
                      </m:rPr>
                      <a:rPr lang="pl-PL" kern="100">
                        <a:latin typeface="Aptos" panose="020B0004020202020204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pl-PL" kern="100">
                        <a:latin typeface="Aptos" panose="020B0004020202020204" pitchFamily="34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 ∙</m:t>
                    </m:r>
                    <m:r>
                      <m:rPr>
                        <m:nor/>
                      </m:rPr>
                      <a:rPr lang="pl-PL" kern="10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 </m:t>
                    </m:r>
                    <m:r>
                      <a:rPr lang="pl-PL" kern="10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,</m:t>
                    </m:r>
                    <m:r>
                      <a:rPr lang="pl-PL" b="0" i="1" kern="100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 −</m:t>
                    </m:r>
                    <m:r>
                      <a:rPr lang="pl-PL" i="1" kern="10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, 0, 1)</m:t>
                    </m:r>
                  </m:oMath>
                </a14:m>
                <a:r>
                  <a:rPr lang="pl-PL" kern="100" dirty="0">
                    <a:latin typeface="Aptos" panose="020B0004020202020204" pitchFamily="34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lnSpc>
                    <a:spcPct val="200000"/>
                  </a:lnSpc>
                  <a:spcAft>
                    <a:spcPts val="800"/>
                  </a:spcAft>
                  <a:buNone/>
                </a:pPr>
                <a:r>
                  <a:rPr lang="pl-PL" dirty="0"/>
                  <a:t>Jest kilka sposobów oznaczeń podstawowych operatorów</a:t>
                </a:r>
              </a:p>
              <a:p>
                <a:pPr marL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endParaRPr lang="pl-PL" dirty="0"/>
              </a:p>
              <a:p>
                <a:pPr marL="0" indent="0" algn="ctr">
                  <a:buNone/>
                </a:pPr>
                <a:endParaRPr lang="pl-PL" sz="1800" kern="100" dirty="0">
                  <a:effectLst/>
                  <a:latin typeface="Aptos" panose="020B0004020202020204" pitchFamily="34" charset="0"/>
                  <a:ea typeface="Malgun Gothic" panose="020B0503020000020004" pitchFamily="34" charset="-127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pl-PL" dirty="0"/>
              </a:p>
              <a:p>
                <a:pPr marL="0" indent="0">
                  <a:buNone/>
                </a:pPr>
                <a:endParaRPr lang="pl-PL" dirty="0"/>
              </a:p>
              <a:p>
                <a:pPr marL="0" indent="0">
                  <a:buNone/>
                </a:pPr>
                <a:r>
                  <a:rPr lang="pl-PL" dirty="0"/>
                  <a:t>W prezentacji będzie wykorzystywany 2 typ z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l-PL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l-PL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pl-PL" dirty="0"/>
                  <a:t>.</a:t>
                </a:r>
              </a:p>
            </p:txBody>
          </p:sp>
        </mc:Choice>
        <mc:Fallback xmlns="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6F682B0B-67B3-5930-70CD-E8637B7B72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2875"/>
                <a:ext cx="10515600" cy="5040000"/>
              </a:xfrm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ela 3">
                <a:extLst>
                  <a:ext uri="{FF2B5EF4-FFF2-40B4-BE49-F238E27FC236}">
                    <a16:creationId xmlns:a16="http://schemas.microsoft.com/office/drawing/2014/main" id="{39FD3700-9600-1BDF-863D-84EA63534C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02272329"/>
                  </p:ext>
                </p:extLst>
              </p:nvPr>
            </p:nvGraphicFramePr>
            <p:xfrm>
              <a:off x="2032000" y="3429000"/>
              <a:ext cx="8128000" cy="1752600"/>
            </p:xfrm>
            <a:graphic>
              <a:graphicData uri="http://schemas.openxmlformats.org/drawingml/2006/table">
                <a:tbl>
                  <a:tblPr firstRow="1" bandRow="1">
                    <a:tableStyleId>{9DCAF9ED-07DC-4A11-8D7F-57B35C25682E}</a:tableStyleId>
                  </a:tblPr>
                  <a:tblGrid>
                    <a:gridCol w="469900">
                      <a:extLst>
                        <a:ext uri="{9D8B030D-6E8A-4147-A177-3AD203B41FA5}">
                          <a16:colId xmlns:a16="http://schemas.microsoft.com/office/drawing/2014/main" val="3161886310"/>
                        </a:ext>
                      </a:extLst>
                    </a:gridCol>
                    <a:gridCol w="3594100">
                      <a:extLst>
                        <a:ext uri="{9D8B030D-6E8A-4147-A177-3AD203B41FA5}">
                          <a16:colId xmlns:a16="http://schemas.microsoft.com/office/drawing/2014/main" val="1025605177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478510020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1340248514"/>
                        </a:ext>
                      </a:extLst>
                    </a:gridCol>
                  </a:tblGrid>
                  <a:tr h="43946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/>
                            <a:t>lp.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/>
                            <a:t>Suma / Alternatywa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/>
                            <a:t>Iloczyn / Koniunkcja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/>
                            <a:t>Negacja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352041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smtClean="0">
                                    <a:latin typeface="Cambria Math" panose="02040503050406030204" pitchFamily="18" charset="0"/>
                                  </a:rPr>
                                  <m:t>∨</m:t>
                                </m:r>
                              </m:oMath>
                            </m:oMathPara>
                          </a14:m>
                          <a:endParaRPr lang="pl-PL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smtClean="0">
                                    <a:latin typeface="Cambria Math" panose="02040503050406030204" pitchFamily="18" charset="0"/>
                                  </a:rPr>
                                  <m:t>∧</m:t>
                                </m:r>
                              </m:oMath>
                            </m:oMathPara>
                          </a14:m>
                          <a:endParaRPr lang="pl-PL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kern="100" smtClean="0"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pl-PL" b="0" kern="10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pl-PL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857516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/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/>
                            <a:t>+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pl-PL" kern="100" smtClean="0"/>
                                  <m:t>∙</m:t>
                                </m:r>
                              </m:oMath>
                            </m:oMathPara>
                          </a14:m>
                          <a:endParaRPr lang="pl-PL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sz="1800" b="0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l-PL" sz="1800" b="0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pl-PL" sz="1800" b="0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pl-PL" sz="18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pl-PL" sz="1800" b="0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pl-PL" sz="1800" b="0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pl-PL" sz="1800" b="0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pl-PL" sz="1800" b="0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pl-PL" sz="180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54492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/>
                            <a:t>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/>
                            <a:t>OR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/>
                            <a:t>AND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l-PL" sz="180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NOT</a:t>
                          </a:r>
                          <a:endParaRPr lang="pl-PL" sz="180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396924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ela 3">
                <a:extLst>
                  <a:ext uri="{FF2B5EF4-FFF2-40B4-BE49-F238E27FC236}">
                    <a16:creationId xmlns:a16="http://schemas.microsoft.com/office/drawing/2014/main" id="{39FD3700-9600-1BDF-863D-84EA63534C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02272329"/>
                  </p:ext>
                </p:extLst>
              </p:nvPr>
            </p:nvGraphicFramePr>
            <p:xfrm>
              <a:off x="2032000" y="3429000"/>
              <a:ext cx="8128000" cy="1752600"/>
            </p:xfrm>
            <a:graphic>
              <a:graphicData uri="http://schemas.openxmlformats.org/drawingml/2006/table">
                <a:tbl>
                  <a:tblPr firstRow="1" bandRow="1">
                    <a:tableStyleId>{9DCAF9ED-07DC-4A11-8D7F-57B35C25682E}</a:tableStyleId>
                  </a:tblPr>
                  <a:tblGrid>
                    <a:gridCol w="469900">
                      <a:extLst>
                        <a:ext uri="{9D8B030D-6E8A-4147-A177-3AD203B41FA5}">
                          <a16:colId xmlns:a16="http://schemas.microsoft.com/office/drawing/2014/main" val="3161886310"/>
                        </a:ext>
                      </a:extLst>
                    </a:gridCol>
                    <a:gridCol w="3594100">
                      <a:extLst>
                        <a:ext uri="{9D8B030D-6E8A-4147-A177-3AD203B41FA5}">
                          <a16:colId xmlns:a16="http://schemas.microsoft.com/office/drawing/2014/main" val="1025605177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478510020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1340248514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/>
                            <a:t>lp.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/>
                            <a:t>Suma / Alternatywa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/>
                            <a:t>Iloczyn / Koniunkcja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/>
                            <a:t>Negacja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352041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3220" t="-180328" r="-113390" b="-2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180328" r="-100299" b="-2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901" t="-180328" r="-601" b="-2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857516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/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/>
                            <a:t>+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280328" r="-100299" b="-1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901" t="-280328" r="-601" b="-1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4492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/>
                            <a:t>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/>
                            <a:t>OR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/>
                            <a:t>AND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l-PL" sz="1800" kern="1200">
                              <a:solidFill>
                                <a:schemeClr val="dk1"/>
                              </a:solidFill>
                              <a:effectLst/>
                            </a:rPr>
                            <a:t>NOT</a:t>
                          </a:r>
                          <a:endParaRPr lang="pl-PL" sz="1800" kern="120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396924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Symbol zastępczy numeru slajdu 9">
            <a:extLst>
              <a:ext uri="{FF2B5EF4-FFF2-40B4-BE49-F238E27FC236}">
                <a16:creationId xmlns:a16="http://schemas.microsoft.com/office/drawing/2014/main" id="{54D2F945-86B0-188A-C1E3-5793AA551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BAC0-DDFC-49BC-A164-59258706C6D7}" type="slidenum">
              <a:rPr lang="pl-PL" smtClean="0"/>
              <a:t>4</a:t>
            </a:fld>
            <a:endParaRPr lang="pl-PL"/>
          </a:p>
        </p:txBody>
      </p:sp>
      <p:sp>
        <p:nvSpPr>
          <p:cNvPr id="12" name="Tytuł 11">
            <a:extLst>
              <a:ext uri="{FF2B5EF4-FFF2-40B4-BE49-F238E27FC236}">
                <a16:creationId xmlns:a16="http://schemas.microsoft.com/office/drawing/2014/main" id="{55D0D671-2E61-8AF4-1C11-AD3A03374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4588"/>
          </a:xfrm>
        </p:spPr>
        <p:txBody>
          <a:bodyPr/>
          <a:lstStyle/>
          <a:p>
            <a:pPr algn="ctr"/>
            <a:r>
              <a:rPr lang="pl-PL" b="1" dirty="0"/>
              <a:t>Definicja</a:t>
            </a:r>
          </a:p>
        </p:txBody>
      </p:sp>
    </p:spTree>
    <p:extLst>
      <p:ext uri="{BB962C8B-B14F-4D97-AF65-F5344CB8AC3E}">
        <p14:creationId xmlns:p14="http://schemas.microsoft.com/office/powerpoint/2010/main" val="4042447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4810C-F6FF-06E6-9E1D-81A65E1FE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CAEE6148-D1CB-130B-C52F-02252E551A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2875"/>
                <a:ext cx="10515600" cy="5040000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pl-PL" dirty="0"/>
                  <a:t>Dodatkowe operatory:</a:t>
                </a: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</a:pPr>
                <a:r>
                  <a:rPr lang="pl-PL" dirty="0"/>
                  <a:t>Implikacja					</a:t>
                </a:r>
                <a14:m>
                  <m:oMath xmlns:m="http://schemas.openxmlformats.org/officeDocument/2006/math">
                    <m:r>
                      <a:rPr lang="pl-PL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l-P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pl-P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endParaRPr lang="pl-PL" dirty="0"/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</a:pPr>
                <a:r>
                  <a:rPr lang="pl-PL" dirty="0"/>
                  <a:t>Równoważność				</a:t>
                </a:r>
                <a14:m>
                  <m:oMath xmlns:m="http://schemas.openxmlformats.org/officeDocument/2006/math">
                    <m:r>
                      <a:rPr lang="pl-PL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l-P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⇔</m:t>
                    </m:r>
                    <m:r>
                      <a:rPr lang="pl-P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pl-PL" dirty="0"/>
                  <a:t>	</a:t>
                </a: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</a:pPr>
                <a:r>
                  <a:rPr lang="pl-PL" dirty="0"/>
                  <a:t>Alternatywa wykluczająca		</a:t>
                </a:r>
                <a14:m>
                  <m:oMath xmlns:m="http://schemas.openxmlformats.org/officeDocument/2006/math">
                    <m:r>
                      <a:rPr lang="pl-PL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l-P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⨁</m:t>
                    </m:r>
                    <m:r>
                      <a:rPr lang="pl-P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endParaRPr lang="pl-PL" dirty="0"/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</a:pPr>
                <a:r>
                  <a:rPr lang="pl-PL" dirty="0"/>
                  <a:t>Kreska Scheffera			</a:t>
                </a:r>
                <a14:m>
                  <m:oMath xmlns:m="http://schemas.openxmlformats.org/officeDocument/2006/math">
                    <m:r>
                      <a:rPr lang="pl-PL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l-PL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pl-PL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pl-PL" dirty="0"/>
              </a:p>
            </p:txBody>
          </p:sp>
        </mc:Choice>
        <mc:Fallback xmlns="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CAEE6148-D1CB-130B-C52F-02252E551A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2875"/>
                <a:ext cx="10515600" cy="5040000"/>
              </a:xfrm>
              <a:blipFill>
                <a:blip r:embed="rId3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8C7C12CF-6C84-EE1A-9E7D-D1421E5F5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BAC0-DDFC-49BC-A164-59258706C6D7}" type="slidenum">
              <a:rPr lang="pl-PL" smtClean="0"/>
              <a:t>5</a:t>
            </a:fld>
            <a:endParaRPr lang="pl-PL"/>
          </a:p>
        </p:txBody>
      </p:sp>
      <p:sp>
        <p:nvSpPr>
          <p:cNvPr id="7" name="Tytuł 6">
            <a:extLst>
              <a:ext uri="{FF2B5EF4-FFF2-40B4-BE49-F238E27FC236}">
                <a16:creationId xmlns:a16="http://schemas.microsoft.com/office/drawing/2014/main" id="{42CEE478-56E2-DE92-371D-D9811D304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9056"/>
            <a:ext cx="10515600" cy="859150"/>
          </a:xfrm>
        </p:spPr>
        <p:txBody>
          <a:bodyPr/>
          <a:lstStyle/>
          <a:p>
            <a:pPr algn="ctr"/>
            <a:r>
              <a:rPr lang="pl-PL" b="1" dirty="0"/>
              <a:t>Definicja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995869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738C40A-39ED-7F3D-BF0F-021C7980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225"/>
            <a:ext cx="10515600" cy="619125"/>
          </a:xfrm>
        </p:spPr>
        <p:txBody>
          <a:bodyPr>
            <a:normAutofit fontScale="90000"/>
          </a:bodyPr>
          <a:lstStyle/>
          <a:p>
            <a:pPr algn="ctr"/>
            <a:r>
              <a:rPr lang="pl-PL" b="1" dirty="0"/>
              <a:t>Aksjomaty i własności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0DD3CB17-4C93-3A9D-0956-7B948A1AD5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04900"/>
                <a:ext cx="10515600" cy="530860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l-PL" sz="2400" dirty="0"/>
                  <a:t>Element neutralny: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pl-PL" sz="2400" dirty="0"/>
                  <a:t>			</a:t>
                </a:r>
                <a:r>
                  <a:rPr lang="pl-PL" sz="2400" b="0" kern="100" dirty="0">
                    <a:ea typeface="Malgun Gothic" panose="020B0503020000020004" pitchFamily="34" charset="-127"/>
                    <a:cs typeface="Aptos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kern="100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𝑥</m:t>
                    </m:r>
                    <m:r>
                      <a:rPr lang="pl-PL" sz="2400" b="0" i="1" kern="100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+0=</m:t>
                    </m:r>
                    <m:r>
                      <a:rPr lang="pl-PL" sz="2400" b="0" i="1" kern="100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𝑥</m:t>
                    </m:r>
                  </m:oMath>
                </a14:m>
                <a:r>
                  <a:rPr lang="pl-PL" sz="2400" dirty="0"/>
                  <a:t>			</a:t>
                </a:r>
                <a14:m>
                  <m:oMath xmlns:m="http://schemas.openxmlformats.org/officeDocument/2006/math">
                    <m:r>
                      <a:rPr lang="pl-PL" sz="2400" b="0" i="1" kern="100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𝑥</m:t>
                    </m:r>
                    <m:r>
                      <a:rPr lang="pl-PL" sz="2400" i="1" kern="10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∙</m:t>
                    </m:r>
                    <m:r>
                      <a:rPr lang="pl-PL" sz="2400" b="0" i="1" kern="100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1</m:t>
                    </m:r>
                    <m:r>
                      <a:rPr lang="pl-PL" sz="2400" i="1" kern="10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 =</m:t>
                    </m:r>
                    <m:r>
                      <a:rPr lang="pl-PL" sz="2400" b="0" i="1" kern="100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𝑥</m:t>
                    </m:r>
                  </m:oMath>
                </a14:m>
                <a:endParaRPr lang="pl-PL" sz="2400" dirty="0"/>
              </a:p>
              <a:p>
                <a:pPr>
                  <a:lnSpc>
                    <a:spcPct val="150000"/>
                  </a:lnSpc>
                </a:pPr>
                <a:r>
                  <a:rPr lang="pl-PL" sz="2400" dirty="0"/>
                  <a:t>Identyczność: </a:t>
                </a:r>
              </a:p>
              <a:p>
                <a:pPr marL="457200" lvl="1" indent="0">
                  <a:lnSpc>
                    <a:spcPct val="150000"/>
                  </a:lnSpc>
                  <a:buNone/>
                </a:pPr>
                <a:r>
                  <a:rPr lang="pl-PL" dirty="0"/>
                  <a:t>			</a:t>
                </a:r>
                <a:r>
                  <a:rPr lang="pl-PL" b="0" kern="100" dirty="0">
                    <a:ea typeface="Malgun Gothic" panose="020B0503020000020004" pitchFamily="34" charset="-127"/>
                    <a:cs typeface="Aptos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b="0" i="1" kern="100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𝑥</m:t>
                    </m:r>
                    <m:r>
                      <a:rPr lang="pl-PL" b="0" i="1" kern="100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+1=1</m:t>
                    </m:r>
                  </m:oMath>
                </a14:m>
                <a:r>
                  <a:rPr lang="pl-PL" dirty="0"/>
                  <a:t>			</a:t>
                </a:r>
                <a14:m>
                  <m:oMath xmlns:m="http://schemas.openxmlformats.org/officeDocument/2006/math">
                    <m:r>
                      <a:rPr lang="pl-PL" b="0" i="1" kern="100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𝑥</m:t>
                    </m:r>
                    <m:r>
                      <a:rPr lang="pl-PL" i="1" kern="10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∙</m:t>
                    </m:r>
                    <m:r>
                      <a:rPr lang="pl-PL" b="0" i="1" kern="100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0</m:t>
                    </m:r>
                    <m:r>
                      <a:rPr lang="pl-PL" i="1" kern="10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 =</m:t>
                    </m:r>
                    <m:r>
                      <a:rPr lang="pl-PL" b="0" i="1" kern="100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0</m:t>
                    </m:r>
                  </m:oMath>
                </a14:m>
                <a:endParaRPr lang="pl-PL" dirty="0"/>
              </a:p>
              <a:p>
                <a:pPr>
                  <a:lnSpc>
                    <a:spcPct val="150000"/>
                  </a:lnSpc>
                </a:pPr>
                <a:r>
                  <a:rPr lang="pl-PL" sz="2400" dirty="0"/>
                  <a:t>Idempotentność: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pl-PL" sz="2400" dirty="0"/>
                  <a:t>			</a:t>
                </a:r>
                <a:r>
                  <a:rPr lang="pl-PL" sz="2400" b="0" kern="100" dirty="0">
                    <a:ea typeface="Malgun Gothic" panose="020B0503020000020004" pitchFamily="34" charset="-127"/>
                    <a:cs typeface="Aptos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kern="100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𝑥</m:t>
                    </m:r>
                    <m:r>
                      <a:rPr lang="pl-PL" sz="2400" b="0" i="1" kern="100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+</m:t>
                    </m:r>
                    <m:r>
                      <a:rPr lang="pl-PL" sz="2400" b="0" i="1" kern="100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𝑥</m:t>
                    </m:r>
                    <m:r>
                      <a:rPr lang="pl-PL" sz="2400" b="0" i="1" kern="100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=</m:t>
                    </m:r>
                    <m:r>
                      <a:rPr lang="pl-PL" sz="2400" b="0" i="1" kern="100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𝑥</m:t>
                    </m:r>
                  </m:oMath>
                </a14:m>
                <a:r>
                  <a:rPr lang="pl-PL" sz="2400" dirty="0"/>
                  <a:t>			</a:t>
                </a:r>
                <a14:m>
                  <m:oMath xmlns:m="http://schemas.openxmlformats.org/officeDocument/2006/math">
                    <m:r>
                      <a:rPr lang="pl-PL" sz="2400" b="0" i="1" kern="100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𝑥</m:t>
                    </m:r>
                    <m:r>
                      <a:rPr lang="pl-PL" sz="2400" i="1" kern="10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∙</m:t>
                    </m:r>
                    <m:r>
                      <a:rPr lang="pl-PL" sz="2400" b="0" i="1" kern="100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𝑥</m:t>
                    </m:r>
                    <m:r>
                      <a:rPr lang="pl-PL" sz="2400" i="1" kern="10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 =</m:t>
                    </m:r>
                    <m:r>
                      <a:rPr lang="pl-PL" sz="2400" b="0" i="1" kern="100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𝑥</m:t>
                    </m:r>
                    <m:r>
                      <a:rPr lang="pl-PL" sz="2400" i="1" kern="10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 </m:t>
                    </m:r>
                  </m:oMath>
                </a14:m>
                <a:endParaRPr lang="pl-PL" sz="2400" dirty="0"/>
              </a:p>
              <a:p>
                <a:pPr>
                  <a:lnSpc>
                    <a:spcPct val="150000"/>
                  </a:lnSpc>
                </a:pPr>
                <a:r>
                  <a:rPr lang="pl-PL" sz="2400" dirty="0"/>
                  <a:t>Prawo podwójnego przeczenia:</a:t>
                </a:r>
              </a:p>
              <a:p>
                <a:pPr marL="914400" lvl="2" indent="0">
                  <a:lnSpc>
                    <a:spcPct val="150000"/>
                  </a:lnSpc>
                  <a:buNone/>
                </a:pPr>
                <a:r>
                  <a:rPr lang="pl-PL" sz="1600" dirty="0"/>
                  <a:t>				</a:t>
                </a:r>
                <a:r>
                  <a:rPr lang="pl-PL" sz="2400" b="0" kern="100" dirty="0">
                    <a:ea typeface="Malgun Gothic" panose="020B0503020000020004" pitchFamily="34" charset="-127"/>
                    <a:cs typeface="Aptos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̿"/>
                        <m:ctrlPr>
                          <a:rPr lang="pl-PL" sz="2400" b="0" i="1" kern="100" smtClean="0">
                            <a:latin typeface="Cambria Math" panose="02040503050406030204" pitchFamily="18" charset="0"/>
                            <a:ea typeface="Malgun Gothic" panose="020B0503020000020004" pitchFamily="34" charset="-127"/>
                          </a:rPr>
                        </m:ctrlPr>
                      </m:accPr>
                      <m:e>
                        <m:r>
                          <a:rPr lang="pl-PL" sz="2400" b="0" i="1" kern="100" smtClean="0">
                            <a:latin typeface="Cambria Math" panose="02040503050406030204" pitchFamily="18" charset="0"/>
                            <a:ea typeface="Malgun Gothic" panose="020B0503020000020004" pitchFamily="34" charset="-127"/>
                          </a:rPr>
                          <m:t>𝑥</m:t>
                        </m:r>
                      </m:e>
                    </m:acc>
                    <m:r>
                      <a:rPr lang="pl-PL" sz="2400" b="0" i="1" kern="100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=</m:t>
                    </m:r>
                    <m:r>
                      <a:rPr lang="pl-PL" sz="2400" b="0" i="1" kern="100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𝑥</m:t>
                    </m:r>
                  </m:oMath>
                </a14:m>
                <a:endParaRPr lang="pl-PL" sz="24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pl-PL" dirty="0"/>
              </a:p>
            </p:txBody>
          </p:sp>
        </mc:Choice>
        <mc:Fallback xmlns="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0DD3CB17-4C93-3A9D-0956-7B948A1AD5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04900"/>
                <a:ext cx="10515600" cy="5308600"/>
              </a:xfrm>
              <a:blipFill>
                <a:blip r:embed="rId3"/>
                <a:stretch>
                  <a:fillRect l="-8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20EA3BA8-CFDB-9322-DC11-CE1E50B96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BAC0-DDFC-49BC-A164-59258706C6D7}" type="slidenum">
              <a:rPr lang="pl-PL" smtClean="0"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35060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5EF03-538E-3DC3-C490-404A17F02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8C3C4AD-B391-3E4D-7407-5CA1BE70F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225"/>
            <a:ext cx="10515600" cy="619125"/>
          </a:xfrm>
        </p:spPr>
        <p:txBody>
          <a:bodyPr>
            <a:normAutofit fontScale="90000"/>
          </a:bodyPr>
          <a:lstStyle/>
          <a:p>
            <a:pPr algn="ctr"/>
            <a:r>
              <a:rPr lang="pl-PL" b="1" dirty="0"/>
              <a:t>Aksjomaty i własności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44B44A3A-F0FB-0BC5-D0C3-869347E7CD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04900"/>
                <a:ext cx="10515600" cy="530860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l-PL" sz="2400" dirty="0"/>
                  <a:t>Reguła dopełniania:		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pl-PL" sz="2400" b="0" kern="100" dirty="0">
                    <a:ea typeface="Malgun Gothic" panose="020B0503020000020004" pitchFamily="34" charset="-127"/>
                    <a:cs typeface="Aptos" panose="020B0004020202020204" pitchFamily="34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pl-PL" sz="2400" b="0" i="1" kern="100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𝑥</m:t>
                    </m:r>
                    <m:r>
                      <a:rPr lang="pl-PL" sz="2400" b="0" i="1" kern="100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pl-PL" sz="2400" b="0" i="1" kern="100" smtClean="0">
                            <a:latin typeface="Cambria Math" panose="02040503050406030204" pitchFamily="18" charset="0"/>
                            <a:ea typeface="Malgun Gothic" panose="020B0503020000020004" pitchFamily="34" charset="-127"/>
                          </a:rPr>
                        </m:ctrlPr>
                      </m:accPr>
                      <m:e>
                        <m:r>
                          <a:rPr lang="pl-PL" sz="2400" b="0" i="1" kern="100" smtClean="0">
                            <a:latin typeface="Cambria Math" panose="02040503050406030204" pitchFamily="18" charset="0"/>
                            <a:ea typeface="Malgun Gothic" panose="020B0503020000020004" pitchFamily="34" charset="-127"/>
                          </a:rPr>
                          <m:t>𝑥</m:t>
                        </m:r>
                      </m:e>
                    </m:acc>
                    <m:r>
                      <a:rPr lang="pl-PL" sz="2400" b="0" i="1" kern="100" smtClean="0">
                        <a:latin typeface="Cambria Math" panose="02040503050406030204" pitchFamily="18" charset="0"/>
                        <a:ea typeface="Malgun Gothic" panose="020B0503020000020004" pitchFamily="34" charset="-127"/>
                      </a:rPr>
                      <m:t>=0</m:t>
                    </m:r>
                  </m:oMath>
                </a14:m>
                <a:r>
                  <a:rPr lang="pl-PL" sz="2400" dirty="0"/>
                  <a:t>			</a:t>
                </a:r>
                <a14:m>
                  <m:oMath xmlns:m="http://schemas.openxmlformats.org/officeDocument/2006/math">
                    <m:r>
                      <a:rPr lang="pl-PL" sz="2400" i="1" kern="10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𝑥</m:t>
                    </m:r>
                    <m:r>
                      <a:rPr lang="pl-PL" sz="2400" i="1" kern="10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∙</m:t>
                    </m:r>
                    <m:acc>
                      <m:accPr>
                        <m:chr m:val="̅"/>
                        <m:ctrlPr>
                          <a:rPr lang="pl-PL" sz="2400" i="1" kern="100">
                            <a:latin typeface="Cambria Math" panose="02040503050406030204" pitchFamily="18" charset="0"/>
                            <a:ea typeface="Malgun Gothic" panose="020B0503020000020004" pitchFamily="34" charset="-127"/>
                          </a:rPr>
                        </m:ctrlPr>
                      </m:accPr>
                      <m:e>
                        <m:r>
                          <a:rPr lang="pl-PL" sz="2400" i="1" kern="100">
                            <a:latin typeface="Cambria Math" panose="02040503050406030204" pitchFamily="18" charset="0"/>
                            <a:ea typeface="Malgun Gothic" panose="020B0503020000020004" pitchFamily="34" charset="-127"/>
                          </a:rPr>
                          <m:t>𝑥</m:t>
                        </m:r>
                      </m:e>
                    </m:acc>
                    <m:r>
                      <a:rPr lang="pl-PL" sz="2400" i="1" kern="100">
                        <a:latin typeface="Cambria Math" panose="02040503050406030204" pitchFamily="18" charset="0"/>
                        <a:ea typeface="Malgun Gothic" panose="020B0503020000020004" pitchFamily="34" charset="-127"/>
                      </a:rPr>
                      <m:t>=</m:t>
                    </m:r>
                    <m:r>
                      <a:rPr lang="pl-PL" sz="2400" i="1" kern="100" smtClean="0">
                        <a:latin typeface="Cambria Math" panose="02040503050406030204" pitchFamily="18" charset="0"/>
                        <a:ea typeface="Malgun Gothic" panose="020B0503020000020004" pitchFamily="34" charset="-127"/>
                      </a:rPr>
                      <m:t>1</m:t>
                    </m:r>
                  </m:oMath>
                </a14:m>
                <a:endParaRPr lang="pl-PL" sz="2400" dirty="0"/>
              </a:p>
              <a:p>
                <a:pPr>
                  <a:lnSpc>
                    <a:spcPct val="150000"/>
                  </a:lnSpc>
                  <a:spcBef>
                    <a:spcPts val="1800"/>
                  </a:spcBef>
                </a:pPr>
                <a:r>
                  <a:rPr lang="pl-PL" sz="2400" dirty="0"/>
                  <a:t>Przemienność:	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1800"/>
                  </a:spcBef>
                  <a:buNone/>
                </a:pPr>
                <a:r>
                  <a:rPr lang="pl-PL" sz="2400" dirty="0"/>
                  <a:t>			</a:t>
                </a:r>
                <a:r>
                  <a:rPr lang="pl-PL" sz="2400" b="0" kern="100" dirty="0">
                    <a:ea typeface="Malgun Gothic" panose="020B0503020000020004" pitchFamily="34" charset="-127"/>
                    <a:cs typeface="Aptos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kern="100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𝑥</m:t>
                    </m:r>
                    <m:r>
                      <a:rPr lang="pl-PL" sz="2400" b="0" i="1" kern="100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+</m:t>
                    </m:r>
                    <m:r>
                      <a:rPr lang="pl-PL" sz="2400" b="0" i="1" kern="100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𝑦</m:t>
                    </m:r>
                    <m:r>
                      <a:rPr lang="pl-PL" sz="2400" b="0" i="1" kern="100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=</m:t>
                    </m:r>
                    <m:r>
                      <a:rPr lang="pl-PL" sz="2400" b="0" i="1" kern="100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𝑦</m:t>
                    </m:r>
                    <m:r>
                      <a:rPr lang="pl-PL" sz="2400" b="0" i="1" kern="100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 +</m:t>
                    </m:r>
                    <m:r>
                      <a:rPr lang="pl-PL" sz="2400" b="0" i="1" kern="100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𝑥</m:t>
                    </m:r>
                  </m:oMath>
                </a14:m>
                <a:r>
                  <a:rPr lang="pl-PL" sz="2400" dirty="0"/>
                  <a:t>		</a:t>
                </a:r>
                <a14:m>
                  <m:oMath xmlns:m="http://schemas.openxmlformats.org/officeDocument/2006/math">
                    <m:r>
                      <a:rPr lang="pl-PL" sz="2400" b="0" i="1" kern="100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𝑥</m:t>
                    </m:r>
                    <m:r>
                      <a:rPr lang="pl-PL" sz="2400" i="1" kern="10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∙</m:t>
                    </m:r>
                    <m:r>
                      <a:rPr lang="pl-PL" sz="2400" b="0" i="1" kern="100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𝑦</m:t>
                    </m:r>
                    <m:r>
                      <a:rPr lang="pl-PL" sz="2400" i="1" kern="10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 =</m:t>
                    </m:r>
                    <m:r>
                      <a:rPr lang="pl-PL" sz="2400" b="0" i="1" kern="100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𝑦</m:t>
                    </m:r>
                    <m:r>
                      <a:rPr lang="pl-PL" sz="2400" i="1" kern="10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∙</m:t>
                    </m:r>
                    <m:r>
                      <a:rPr lang="pl-PL" sz="2400" i="1" kern="100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𝑧</m:t>
                    </m:r>
                  </m:oMath>
                </a14:m>
                <a:endParaRPr lang="pl-PL" sz="2400" kern="100" dirty="0">
                  <a:ea typeface="Malgun Gothic" panose="020B0503020000020004" pitchFamily="34" charset="-127"/>
                  <a:cs typeface="Aptos" panose="020B0004020202020204" pitchFamily="34" charset="0"/>
                </a:endParaRPr>
              </a:p>
              <a:p>
                <a:pPr>
                  <a:lnSpc>
                    <a:spcPct val="150000"/>
                  </a:lnSpc>
                  <a:spcBef>
                    <a:spcPts val="1800"/>
                  </a:spcBef>
                </a:pPr>
                <a:r>
                  <a:rPr lang="pl-PL" sz="2400" kern="100" dirty="0">
                    <a:ea typeface="Malgun Gothic" panose="020B0503020000020004" pitchFamily="34" charset="-127"/>
                    <a:cs typeface="Aptos" panose="020B0004020202020204" pitchFamily="34" charset="0"/>
                  </a:rPr>
                  <a:t>Pochłanianie: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1800"/>
                  </a:spcBef>
                  <a:buNone/>
                </a:pPr>
                <a:r>
                  <a:rPr lang="pl-PL" sz="2400" b="0" kern="100" dirty="0">
                    <a:ea typeface="Malgun Gothic" panose="020B0503020000020004" pitchFamily="34" charset="-127"/>
                    <a:cs typeface="Aptos" panose="020B0004020202020204" pitchFamily="34" charset="0"/>
                  </a:rPr>
                  <a:t>			 </a:t>
                </a:r>
                <a14:m>
                  <m:oMath xmlns:m="http://schemas.openxmlformats.org/officeDocument/2006/math">
                    <m:r>
                      <a:rPr lang="pl-PL" sz="2400" b="0" i="1" kern="100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𝑥</m:t>
                    </m:r>
                    <m:r>
                      <a:rPr lang="pl-PL" sz="2400" b="0" i="1" kern="100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+</m:t>
                    </m:r>
                    <m:d>
                      <m:dPr>
                        <m:ctrlPr>
                          <a:rPr lang="pl-PL" sz="2400" b="0" i="1" kern="100" smtClean="0"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Aptos" panose="020B0004020202020204" pitchFamily="34" charset="0"/>
                          </a:rPr>
                        </m:ctrlPr>
                      </m:dPr>
                      <m:e>
                        <m:r>
                          <a:rPr lang="pl-PL" sz="2400" b="0" i="1" kern="100" smtClean="0"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Aptos" panose="020B0004020202020204" pitchFamily="34" charset="0"/>
                          </a:rPr>
                          <m:t>𝑥</m:t>
                        </m:r>
                        <m:r>
                          <a:rPr lang="pl-PL" sz="2400" i="1" kern="100"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Aptos" panose="020B0004020202020204" pitchFamily="34" charset="0"/>
                          </a:rPr>
                          <m:t>∙</m:t>
                        </m:r>
                        <m:r>
                          <a:rPr lang="pl-PL" sz="2400" b="0" i="1" kern="100" smtClean="0"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Aptos" panose="020B0004020202020204" pitchFamily="34" charset="0"/>
                          </a:rPr>
                          <m:t>𝑦</m:t>
                        </m:r>
                      </m:e>
                    </m:d>
                    <m:r>
                      <a:rPr lang="pl-PL" sz="2400" b="0" i="1" kern="100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=</m:t>
                    </m:r>
                    <m:r>
                      <a:rPr lang="pl-PL" sz="2400" b="0" i="1" kern="100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𝑥</m:t>
                    </m:r>
                  </m:oMath>
                </a14:m>
                <a:r>
                  <a:rPr lang="pl-PL" sz="2400" b="0" kern="100" dirty="0">
                    <a:ea typeface="Malgun Gothic" panose="020B0503020000020004" pitchFamily="34" charset="-127"/>
                    <a:cs typeface="Aptos" panose="020B0004020202020204" pitchFamily="34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pl-PL" sz="2400" i="1" kern="10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𝑥</m:t>
                    </m:r>
                    <m:r>
                      <a:rPr lang="pl-PL" sz="2400" i="1" kern="10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∙</m:t>
                    </m:r>
                    <m:d>
                      <m:dPr>
                        <m:ctrlPr>
                          <a:rPr lang="pl-PL" sz="2400" b="0" i="1" kern="100" smtClean="0"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Aptos" panose="020B0004020202020204" pitchFamily="34" charset="0"/>
                          </a:rPr>
                        </m:ctrlPr>
                      </m:dPr>
                      <m:e>
                        <m:r>
                          <a:rPr lang="pl-PL" sz="2400" b="0" i="1" kern="100" smtClean="0"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Aptos" panose="020B0004020202020204" pitchFamily="34" charset="0"/>
                          </a:rPr>
                          <m:t>𝑥</m:t>
                        </m:r>
                        <m:r>
                          <a:rPr lang="pl-PL" sz="2400" b="0" i="1" kern="100" smtClean="0"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Aptos" panose="020B0004020202020204" pitchFamily="34" charset="0"/>
                          </a:rPr>
                          <m:t>+</m:t>
                        </m:r>
                        <m:r>
                          <a:rPr lang="pl-PL" sz="2400" b="0" i="1" kern="100" smtClean="0"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Aptos" panose="020B0004020202020204" pitchFamily="34" charset="0"/>
                          </a:rPr>
                          <m:t>𝑦</m:t>
                        </m:r>
                      </m:e>
                    </m:d>
                    <m:r>
                      <a:rPr lang="pl-PL" sz="2400" b="0" i="1" kern="100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=</m:t>
                    </m:r>
                    <m:r>
                      <a:rPr lang="pl-PL" sz="2400" b="0" i="1" kern="100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𝑥</m:t>
                    </m:r>
                  </m:oMath>
                </a14:m>
                <a:r>
                  <a:rPr lang="pl-PL" sz="2400" b="0" kern="100" dirty="0">
                    <a:ea typeface="Malgun Gothic" panose="020B0503020000020004" pitchFamily="34" charset="-127"/>
                    <a:cs typeface="Aptos" panose="020B0004020202020204" pitchFamily="34" charset="0"/>
                  </a:rPr>
                  <a:t>		</a:t>
                </a:r>
              </a:p>
            </p:txBody>
          </p:sp>
        </mc:Choice>
        <mc:Fallback xmlns="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44B44A3A-F0FB-0BC5-D0C3-869347E7CD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04900"/>
                <a:ext cx="10515600" cy="5308600"/>
              </a:xfrm>
              <a:blipFill>
                <a:blip r:embed="rId3"/>
                <a:stretch>
                  <a:fillRect l="-8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661FE6DD-D659-9769-3B5A-6260965CD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BAC0-DDFC-49BC-A164-59258706C6D7}" type="slidenum">
              <a:rPr lang="pl-PL" smtClean="0"/>
              <a:t>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16184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B1B10-D563-AE7C-D02E-F812FE43D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D9AA0CA-D106-168F-7BD9-DDE297832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225"/>
            <a:ext cx="10515600" cy="619125"/>
          </a:xfrm>
        </p:spPr>
        <p:txBody>
          <a:bodyPr>
            <a:normAutofit fontScale="90000"/>
          </a:bodyPr>
          <a:lstStyle/>
          <a:p>
            <a:pPr algn="ctr"/>
            <a:r>
              <a:rPr lang="pl-PL" b="1" dirty="0"/>
              <a:t>Aksjomaty i własności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26154B6F-0CFC-9169-5809-66B8920139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04900"/>
                <a:ext cx="10515600" cy="530860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spcBef>
                    <a:spcPts val="1800"/>
                  </a:spcBef>
                </a:pPr>
                <a:r>
                  <a:rPr lang="pl-PL" sz="2400" dirty="0"/>
                  <a:t>Łączność: 		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1800"/>
                  </a:spcBef>
                  <a:buNone/>
                </a:pPr>
                <a:r>
                  <a:rPr lang="pl-PL" sz="2400" b="0" kern="100" dirty="0">
                    <a:ea typeface="Malgun Gothic" panose="020B0503020000020004" pitchFamily="34" charset="-127"/>
                    <a:cs typeface="Aptos" panose="020B0004020202020204" pitchFamily="34" charset="0"/>
                  </a:rPr>
                  <a:t>	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b="0" i="1" kern="100" smtClean="0"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Aptos" panose="020B0004020202020204" pitchFamily="34" charset="0"/>
                          </a:rPr>
                        </m:ctrlPr>
                      </m:dPr>
                      <m:e>
                        <m:r>
                          <a:rPr lang="pl-PL" sz="2400" b="0" i="1" kern="100" smtClean="0"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Aptos" panose="020B0004020202020204" pitchFamily="34" charset="0"/>
                          </a:rPr>
                          <m:t>𝑥</m:t>
                        </m:r>
                        <m:r>
                          <a:rPr lang="pl-PL" sz="2400" b="0" i="1" kern="100" smtClean="0"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Aptos" panose="020B0004020202020204" pitchFamily="34" charset="0"/>
                          </a:rPr>
                          <m:t>+</m:t>
                        </m:r>
                        <m:r>
                          <a:rPr lang="pl-PL" sz="2400" b="0" i="1" kern="100" smtClean="0"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Aptos" panose="020B0004020202020204" pitchFamily="34" charset="0"/>
                          </a:rPr>
                          <m:t>𝑦</m:t>
                        </m:r>
                      </m:e>
                    </m:d>
                    <m:r>
                      <a:rPr lang="pl-PL" sz="2400" b="0" i="1" kern="100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+</m:t>
                    </m:r>
                    <m:r>
                      <a:rPr lang="pl-PL" sz="2400" b="0" i="1" kern="100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𝑧</m:t>
                    </m:r>
                    <m:r>
                      <a:rPr lang="pl-PL" sz="2400" b="0" i="1" kern="100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=</m:t>
                    </m:r>
                    <m:r>
                      <a:rPr lang="pl-PL" sz="2400" b="0" i="1" kern="100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𝑥</m:t>
                    </m:r>
                    <m:r>
                      <a:rPr lang="pl-PL" sz="2400" b="0" i="1" kern="100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+(</m:t>
                    </m:r>
                    <m:r>
                      <a:rPr lang="pl-PL" sz="2400" b="0" i="1" kern="100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𝑦</m:t>
                    </m:r>
                    <m:r>
                      <a:rPr lang="pl-PL" sz="2400" b="0" i="1" kern="100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+</m:t>
                    </m:r>
                    <m:r>
                      <a:rPr lang="pl-PL" sz="2400" b="0" i="1" kern="100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𝑧</m:t>
                    </m:r>
                    <m:r>
                      <a:rPr lang="pl-PL" sz="2400" b="0" i="1" kern="100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) </m:t>
                    </m:r>
                  </m:oMath>
                </a14:m>
                <a:r>
                  <a:rPr lang="pl-PL" sz="2400" dirty="0"/>
                  <a:t>	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2400" i="1" kern="100"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Aptos" panose="020B0004020202020204" pitchFamily="34" charset="0"/>
                          </a:rPr>
                        </m:ctrlPr>
                      </m:dPr>
                      <m:e>
                        <m:r>
                          <a:rPr lang="pl-PL" sz="2400" b="0" i="1" kern="100" smtClean="0"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Aptos" panose="020B0004020202020204" pitchFamily="34" charset="0"/>
                          </a:rPr>
                          <m:t>𝑥</m:t>
                        </m:r>
                        <m:r>
                          <a:rPr lang="pl-PL" sz="2400" i="1" kern="100"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Aptos" panose="020B0004020202020204" pitchFamily="34" charset="0"/>
                          </a:rPr>
                          <m:t>∙</m:t>
                        </m:r>
                        <m:r>
                          <a:rPr lang="pl-PL" sz="2400" b="0" i="1" kern="100" smtClean="0"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Aptos" panose="020B0004020202020204" pitchFamily="34" charset="0"/>
                          </a:rPr>
                          <m:t>𝑦</m:t>
                        </m:r>
                      </m:e>
                    </m:d>
                    <m:r>
                      <a:rPr lang="pl-PL" sz="2400" i="1" kern="10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∙</m:t>
                    </m:r>
                    <m:r>
                      <a:rPr lang="pl-PL" sz="2400" b="0" i="1" kern="100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𝑧</m:t>
                    </m:r>
                    <m:r>
                      <a:rPr lang="pl-PL" sz="2400" i="1" kern="10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=</m:t>
                    </m:r>
                    <m:r>
                      <a:rPr lang="pl-PL" sz="2400" b="0" i="1" kern="100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𝑥</m:t>
                    </m:r>
                    <m:r>
                      <a:rPr lang="pl-PL" sz="2400" i="1" kern="10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∙</m:t>
                    </m:r>
                    <m:d>
                      <m:dPr>
                        <m:ctrlPr>
                          <a:rPr lang="pl-PL" sz="2400" i="1" kern="100"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Aptos" panose="020B0004020202020204" pitchFamily="34" charset="0"/>
                          </a:rPr>
                        </m:ctrlPr>
                      </m:dPr>
                      <m:e>
                        <m:r>
                          <a:rPr lang="pl-PL" sz="2400" b="0" i="1" kern="100" smtClean="0"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Aptos" panose="020B0004020202020204" pitchFamily="34" charset="0"/>
                          </a:rPr>
                          <m:t>𝑦</m:t>
                        </m:r>
                        <m:r>
                          <a:rPr lang="pl-PL" sz="2400" i="1" kern="100"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Aptos" panose="020B0004020202020204" pitchFamily="34" charset="0"/>
                          </a:rPr>
                          <m:t>∙</m:t>
                        </m:r>
                        <m:r>
                          <a:rPr lang="pl-PL" sz="2400" b="0" i="1" kern="100" smtClean="0"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Aptos" panose="020B0004020202020204" pitchFamily="34" charset="0"/>
                          </a:rPr>
                          <m:t>𝑧</m:t>
                        </m:r>
                      </m:e>
                    </m:d>
                  </m:oMath>
                </a14:m>
                <a:endParaRPr lang="pl-PL" sz="2400" b="0" kern="100" dirty="0">
                  <a:ea typeface="Malgun Gothic" panose="020B0503020000020004" pitchFamily="34" charset="-127"/>
                  <a:cs typeface="Aptos" panose="020B0004020202020204" pitchFamily="34" charset="0"/>
                </a:endParaRPr>
              </a:p>
              <a:p>
                <a:pPr>
                  <a:lnSpc>
                    <a:spcPct val="150000"/>
                  </a:lnSpc>
                  <a:spcBef>
                    <a:spcPts val="1800"/>
                  </a:spcBef>
                </a:pPr>
                <a:r>
                  <a:rPr lang="pl-PL" sz="2400" kern="100" dirty="0">
                    <a:ea typeface="Malgun Gothic" panose="020B0503020000020004" pitchFamily="34" charset="-127"/>
                    <a:cs typeface="Aptos" panose="020B0004020202020204" pitchFamily="34" charset="0"/>
                  </a:rPr>
                  <a:t>Rozdzielność: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1800"/>
                  </a:spcBef>
                  <a:buNone/>
                </a:pPr>
                <a:r>
                  <a:rPr lang="pl-PL" sz="2400" b="0" kern="100" dirty="0">
                    <a:ea typeface="Malgun Gothic" panose="020B0503020000020004" pitchFamily="34" charset="-127"/>
                    <a:cs typeface="Aptos" panose="020B0004020202020204" pitchFamily="34" charset="0"/>
                  </a:rPr>
                  <a:t>		 x</a:t>
                </a:r>
                <a14:m>
                  <m:oMath xmlns:m="http://schemas.openxmlformats.org/officeDocument/2006/math">
                    <m:r>
                      <a:rPr lang="pl-PL" sz="2400" b="0" i="1" kern="100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+</m:t>
                    </m:r>
                    <m:d>
                      <m:dPr>
                        <m:ctrlPr>
                          <a:rPr lang="pl-PL" sz="2400" b="0" i="1" kern="100" smtClean="0"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Aptos" panose="020B0004020202020204" pitchFamily="34" charset="0"/>
                          </a:rPr>
                        </m:ctrlPr>
                      </m:dPr>
                      <m:e>
                        <m:r>
                          <a:rPr lang="pl-PL" sz="2400" b="0" i="1" kern="100" smtClean="0"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Aptos" panose="020B0004020202020204" pitchFamily="34" charset="0"/>
                          </a:rPr>
                          <m:t>𝑦</m:t>
                        </m:r>
                        <m:r>
                          <a:rPr lang="pl-PL" sz="2400" i="1" kern="100"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Aptos" panose="020B0004020202020204" pitchFamily="34" charset="0"/>
                          </a:rPr>
                          <m:t>∙</m:t>
                        </m:r>
                        <m:r>
                          <a:rPr lang="pl-PL" sz="2400" b="0" i="1" kern="100" smtClean="0"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Aptos" panose="020B0004020202020204" pitchFamily="34" charset="0"/>
                          </a:rPr>
                          <m:t>𝑧</m:t>
                        </m:r>
                      </m:e>
                    </m:d>
                    <m:r>
                      <a:rPr lang="pl-PL" sz="2400" b="0" i="1" kern="100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=(</m:t>
                    </m:r>
                    <m:r>
                      <a:rPr lang="pl-PL" sz="2400" b="0" i="1" kern="100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𝑥</m:t>
                    </m:r>
                    <m:r>
                      <a:rPr lang="pl-PL" sz="2400" b="0" i="1" kern="100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+</m:t>
                    </m:r>
                    <m:r>
                      <a:rPr lang="pl-PL" sz="2400" b="0" i="1" kern="100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𝑦</m:t>
                    </m:r>
                    <m:r>
                      <a:rPr lang="pl-PL" sz="2400" b="0" i="1" kern="100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)∙(</m:t>
                    </m:r>
                    <m:r>
                      <a:rPr lang="pl-PL" sz="2400" b="0" i="1" kern="100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𝑥</m:t>
                    </m:r>
                    <m:r>
                      <a:rPr lang="pl-PL" sz="2400" b="0" i="1" kern="100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+</m:t>
                    </m:r>
                    <m:r>
                      <a:rPr lang="pl-PL" sz="2400" b="0" i="1" kern="100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𝑧</m:t>
                    </m:r>
                    <m:r>
                      <a:rPr lang="pl-PL" sz="2400" b="0" i="1" kern="100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)</m:t>
                    </m:r>
                  </m:oMath>
                </a14:m>
                <a:r>
                  <a:rPr lang="pl-PL" sz="2400" b="0" kern="100" dirty="0">
                    <a:ea typeface="Malgun Gothic" panose="020B0503020000020004" pitchFamily="34" charset="-127"/>
                    <a:cs typeface="Aptos" panose="020B0004020202020204" pitchFamily="34" charset="0"/>
                  </a:rPr>
                  <a:t>	</a:t>
                </a:r>
                <a:r>
                  <a:rPr lang="pl-PL" sz="2400" kern="100" dirty="0">
                    <a:ea typeface="Malgun Gothic" panose="020B0503020000020004" pitchFamily="34" charset="-127"/>
                    <a:cs typeface="Aptos" panose="020B0004020202020204" pitchFamily="34" charset="0"/>
                  </a:rPr>
                  <a:t> x</a:t>
                </a:r>
                <a14:m>
                  <m:oMath xmlns:m="http://schemas.openxmlformats.org/officeDocument/2006/math">
                    <m:r>
                      <a:rPr lang="pl-PL" sz="2400" i="1" kern="10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∙</m:t>
                    </m:r>
                    <m:d>
                      <m:dPr>
                        <m:ctrlPr>
                          <a:rPr lang="pl-PL" sz="2400" i="1" kern="100"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Aptos" panose="020B0004020202020204" pitchFamily="34" charset="0"/>
                          </a:rPr>
                        </m:ctrlPr>
                      </m:dPr>
                      <m:e>
                        <m:r>
                          <a:rPr lang="pl-PL" sz="2400" b="0" i="1" kern="100" smtClean="0"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Aptos" panose="020B0004020202020204" pitchFamily="34" charset="0"/>
                          </a:rPr>
                          <m:t>𝑦</m:t>
                        </m:r>
                        <m:r>
                          <a:rPr lang="pl-PL" sz="2400" b="0" i="1" kern="100" smtClean="0"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Aptos" panose="020B0004020202020204" pitchFamily="34" charset="0"/>
                          </a:rPr>
                          <m:t>+</m:t>
                        </m:r>
                        <m:r>
                          <a:rPr lang="pl-PL" sz="2400" b="0" i="1" kern="100" smtClean="0"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Aptos" panose="020B0004020202020204" pitchFamily="34" charset="0"/>
                          </a:rPr>
                          <m:t>𝑧</m:t>
                        </m:r>
                      </m:e>
                    </m:d>
                    <m:r>
                      <a:rPr lang="pl-PL" sz="2400" i="1" kern="10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=</m:t>
                    </m:r>
                    <m:d>
                      <m:dPr>
                        <m:ctrlPr>
                          <a:rPr lang="pl-PL" sz="2400" i="1" kern="100"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Aptos" panose="020B0004020202020204" pitchFamily="34" charset="0"/>
                          </a:rPr>
                        </m:ctrlPr>
                      </m:dPr>
                      <m:e>
                        <m:r>
                          <a:rPr lang="pl-PL" sz="2400" b="0" i="1" kern="100" smtClean="0"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Aptos" panose="020B0004020202020204" pitchFamily="34" charset="0"/>
                          </a:rPr>
                          <m:t>𝑥</m:t>
                        </m:r>
                        <m:r>
                          <a:rPr lang="pl-PL" sz="2400" i="1" kern="100"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Aptos" panose="020B0004020202020204" pitchFamily="34" charset="0"/>
                          </a:rPr>
                          <m:t>∙</m:t>
                        </m:r>
                        <m:r>
                          <a:rPr lang="pl-PL" sz="2400" b="0" i="1" kern="100" smtClean="0"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Aptos" panose="020B0004020202020204" pitchFamily="34" charset="0"/>
                          </a:rPr>
                          <m:t>𝑦</m:t>
                        </m:r>
                      </m:e>
                    </m:d>
                    <m:r>
                      <a:rPr lang="pl-PL" sz="2400" b="0" i="1" kern="100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+</m:t>
                    </m:r>
                    <m:r>
                      <a:rPr lang="pl-PL" sz="2400" i="1" kern="10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(</m:t>
                    </m:r>
                    <m:r>
                      <a:rPr lang="pl-PL" sz="2400" b="0" i="1" kern="100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𝑥</m:t>
                    </m:r>
                    <m:r>
                      <a:rPr lang="pl-PL" sz="2400" i="1" kern="10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∙</m:t>
                    </m:r>
                    <m:r>
                      <a:rPr lang="pl-PL" sz="2400" b="0" i="1" kern="100" smtClean="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𝑧</m:t>
                    </m:r>
                    <m:r>
                      <a:rPr lang="pl-PL" sz="2400" i="1" kern="10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)</m:t>
                    </m:r>
                  </m:oMath>
                </a14:m>
                <a:endParaRPr lang="pl-PL" sz="2400" b="0" kern="100" dirty="0">
                  <a:ea typeface="Malgun Gothic" panose="020B0503020000020004" pitchFamily="34" charset="-127"/>
                  <a:cs typeface="Aptos" panose="020B0004020202020204" pitchFamily="34" charset="0"/>
                </a:endParaRPr>
              </a:p>
              <a:p>
                <a:pPr>
                  <a:lnSpc>
                    <a:spcPct val="150000"/>
                  </a:lnSpc>
                  <a:spcBef>
                    <a:spcPts val="1800"/>
                  </a:spcBef>
                </a:pPr>
                <a:r>
                  <a:rPr lang="pl-PL" sz="2400" kern="100" dirty="0">
                    <a:ea typeface="Malgun Gothic" panose="020B0503020000020004" pitchFamily="34" charset="-127"/>
                    <a:cs typeface="Aptos" panose="020B0004020202020204" pitchFamily="34" charset="0"/>
                  </a:rPr>
                  <a:t>Prawa de Morgana: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1800"/>
                  </a:spcBef>
                  <a:buNone/>
                </a:pPr>
                <a:r>
                  <a:rPr lang="pl-PL" sz="2400" b="0" kern="100" dirty="0">
                    <a:ea typeface="Malgun Gothic" panose="020B0503020000020004" pitchFamily="34" charset="-127"/>
                    <a:cs typeface="Aptos" panose="020B0004020202020204" pitchFamily="34" charset="0"/>
                  </a:rPr>
                  <a:t>		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l-PL" sz="2400" b="0" i="1" kern="100" smtClean="0">
                            <a:latin typeface="Cambria Math" panose="02040503050406030204" pitchFamily="18" charset="0"/>
                            <a:ea typeface="Malgun Gothic" panose="020B0503020000020004" pitchFamily="34" charset="-127"/>
                          </a:rPr>
                        </m:ctrlPr>
                      </m:accPr>
                      <m:e>
                        <m:r>
                          <a:rPr lang="pl-PL" sz="2400" b="0" i="1" kern="100" smtClean="0">
                            <a:latin typeface="Cambria Math" panose="02040503050406030204" pitchFamily="18" charset="0"/>
                            <a:ea typeface="Malgun Gothic" panose="020B0503020000020004" pitchFamily="34" charset="-127"/>
                          </a:rPr>
                          <m:t>𝑥</m:t>
                        </m:r>
                        <m:r>
                          <a:rPr lang="pl-PL" sz="2400" b="0" i="1" kern="100" smtClean="0">
                            <a:latin typeface="Cambria Math" panose="02040503050406030204" pitchFamily="18" charset="0"/>
                            <a:ea typeface="Malgun Gothic" panose="020B0503020000020004" pitchFamily="34" charset="-127"/>
                          </a:rPr>
                          <m:t>+</m:t>
                        </m:r>
                        <m:r>
                          <a:rPr lang="pl-PL" sz="2400" b="0" i="1" kern="100" smtClean="0">
                            <a:latin typeface="Cambria Math" panose="02040503050406030204" pitchFamily="18" charset="0"/>
                            <a:ea typeface="Malgun Gothic" panose="020B0503020000020004" pitchFamily="34" charset="-127"/>
                          </a:rPr>
                          <m:t>𝑦</m:t>
                        </m:r>
                      </m:e>
                    </m:acc>
                    <m:r>
                      <a:rPr lang="pl-PL" sz="2400" b="0" i="1" kern="100" smtClean="0">
                        <a:latin typeface="Cambria Math" panose="02040503050406030204" pitchFamily="18" charset="0"/>
                        <a:ea typeface="Malgun Gothic" panose="020B0503020000020004" pitchFamily="34" charset="-127"/>
                      </a:rPr>
                      <m:t>=</m:t>
                    </m:r>
                    <m:acc>
                      <m:accPr>
                        <m:chr m:val="̅"/>
                        <m:ctrlPr>
                          <a:rPr lang="pl-PL" sz="2400" b="0" i="1" kern="100" smtClean="0">
                            <a:latin typeface="Cambria Math" panose="02040503050406030204" pitchFamily="18" charset="0"/>
                            <a:ea typeface="Malgun Gothic" panose="020B0503020000020004" pitchFamily="34" charset="-127"/>
                          </a:rPr>
                        </m:ctrlPr>
                      </m:accPr>
                      <m:e>
                        <m:r>
                          <a:rPr lang="pl-PL" sz="2400" b="0" i="1" kern="100" smtClean="0">
                            <a:latin typeface="Cambria Math" panose="02040503050406030204" pitchFamily="18" charset="0"/>
                            <a:ea typeface="Malgun Gothic" panose="020B0503020000020004" pitchFamily="34" charset="-127"/>
                          </a:rPr>
                          <m:t>𝑥</m:t>
                        </m:r>
                      </m:e>
                    </m:acc>
                    <m:r>
                      <a:rPr lang="pl-PL" sz="2400" i="1" kern="100"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ptos" panose="020B0004020202020204" pitchFamily="34" charset="0"/>
                      </a:rPr>
                      <m:t>∙</m:t>
                    </m:r>
                    <m:acc>
                      <m:accPr>
                        <m:chr m:val="̅"/>
                        <m:ctrlPr>
                          <a:rPr lang="pl-PL" sz="2400" b="0" i="1" kern="100" smtClean="0">
                            <a:latin typeface="Cambria Math" panose="02040503050406030204" pitchFamily="18" charset="0"/>
                            <a:ea typeface="Malgun Gothic" panose="020B0503020000020004" pitchFamily="34" charset="-127"/>
                          </a:rPr>
                        </m:ctrlPr>
                      </m:accPr>
                      <m:e>
                        <m:r>
                          <a:rPr lang="pl-PL" sz="2400" b="0" i="1" kern="100" smtClean="0">
                            <a:latin typeface="Cambria Math" panose="02040503050406030204" pitchFamily="18" charset="0"/>
                            <a:ea typeface="Malgun Gothic" panose="020B0503020000020004" pitchFamily="34" charset="-127"/>
                          </a:rPr>
                          <m:t>𝑦</m:t>
                        </m:r>
                      </m:e>
                    </m:acc>
                  </m:oMath>
                </a14:m>
                <a:r>
                  <a:rPr lang="pl-PL" sz="2400" b="0" kern="100" dirty="0">
                    <a:ea typeface="Malgun Gothic" panose="020B0503020000020004" pitchFamily="34" charset="-127"/>
                    <a:cs typeface="Aptos" panose="020B0004020202020204" pitchFamily="34" charset="0"/>
                  </a:rPr>
                  <a:t>				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l-PL" sz="2400" b="0" i="1" kern="100" smtClean="0">
                            <a:latin typeface="Cambria Math" panose="02040503050406030204" pitchFamily="18" charset="0"/>
                            <a:ea typeface="Malgun Gothic" panose="020B0503020000020004" pitchFamily="34" charset="-127"/>
                          </a:rPr>
                        </m:ctrlPr>
                      </m:accPr>
                      <m:e>
                        <m:r>
                          <a:rPr lang="pl-PL" sz="2400" b="0" i="1" kern="100" smtClean="0">
                            <a:latin typeface="Cambria Math" panose="02040503050406030204" pitchFamily="18" charset="0"/>
                            <a:ea typeface="Malgun Gothic" panose="020B0503020000020004" pitchFamily="34" charset="-127"/>
                          </a:rPr>
                          <m:t>𝑥</m:t>
                        </m:r>
                        <m:r>
                          <a:rPr lang="pl-PL" sz="2400" i="1" kern="100"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Aptos" panose="020B0004020202020204" pitchFamily="34" charset="0"/>
                          </a:rPr>
                          <m:t>∙</m:t>
                        </m:r>
                        <m:r>
                          <a:rPr lang="pl-PL" sz="2400" b="0" i="1" kern="100" smtClean="0"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Aptos" panose="020B0004020202020204" pitchFamily="34" charset="0"/>
                          </a:rPr>
                          <m:t>𝑦</m:t>
                        </m:r>
                      </m:e>
                    </m:acc>
                    <m:r>
                      <a:rPr lang="pl-PL" sz="2400" b="0" i="1" kern="100" smtClean="0">
                        <a:latin typeface="Cambria Math" panose="02040503050406030204" pitchFamily="18" charset="0"/>
                        <a:ea typeface="Malgun Gothic" panose="020B0503020000020004" pitchFamily="34" charset="-127"/>
                      </a:rPr>
                      <m:t>=</m:t>
                    </m:r>
                    <m:acc>
                      <m:accPr>
                        <m:chr m:val="̅"/>
                        <m:ctrlPr>
                          <a:rPr lang="pl-PL" sz="2400" b="0" i="1" kern="100" smtClean="0">
                            <a:latin typeface="Cambria Math" panose="02040503050406030204" pitchFamily="18" charset="0"/>
                            <a:ea typeface="Malgun Gothic" panose="020B0503020000020004" pitchFamily="34" charset="-127"/>
                          </a:rPr>
                        </m:ctrlPr>
                      </m:accPr>
                      <m:e>
                        <m:r>
                          <a:rPr lang="pl-PL" sz="2400" b="0" i="1" kern="100" smtClean="0">
                            <a:latin typeface="Cambria Math" panose="02040503050406030204" pitchFamily="18" charset="0"/>
                            <a:ea typeface="Malgun Gothic" panose="020B0503020000020004" pitchFamily="34" charset="-127"/>
                          </a:rPr>
                          <m:t>𝑥</m:t>
                        </m:r>
                      </m:e>
                    </m:acc>
                    <m:r>
                      <a:rPr lang="pl-PL" sz="2400" b="0" i="1" kern="100" smtClean="0">
                        <a:latin typeface="Cambria Math" panose="02040503050406030204" pitchFamily="18" charset="0"/>
                        <a:ea typeface="Malgun Gothic" panose="020B0503020000020004" pitchFamily="34" charset="-127"/>
                      </a:rPr>
                      <m:t>+</m:t>
                    </m:r>
                    <m:acc>
                      <m:accPr>
                        <m:chr m:val="̅"/>
                        <m:ctrlPr>
                          <a:rPr lang="pl-PL" sz="2400" b="0" i="1" kern="100" smtClean="0">
                            <a:latin typeface="Cambria Math" panose="02040503050406030204" pitchFamily="18" charset="0"/>
                            <a:ea typeface="Malgun Gothic" panose="020B0503020000020004" pitchFamily="34" charset="-127"/>
                          </a:rPr>
                        </m:ctrlPr>
                      </m:accPr>
                      <m:e>
                        <m:r>
                          <a:rPr lang="pl-PL" sz="2400" b="0" i="1" kern="100" smtClean="0">
                            <a:latin typeface="Cambria Math" panose="02040503050406030204" pitchFamily="18" charset="0"/>
                            <a:ea typeface="Malgun Gothic" panose="020B0503020000020004" pitchFamily="34" charset="-127"/>
                          </a:rPr>
                          <m:t>𝑦</m:t>
                        </m:r>
                      </m:e>
                    </m:acc>
                  </m:oMath>
                </a14:m>
                <a:r>
                  <a:rPr lang="pl-PL" sz="2400" b="0" kern="100" dirty="0">
                    <a:ea typeface="Malgun Gothic" panose="020B0503020000020004" pitchFamily="34" charset="-127"/>
                    <a:cs typeface="Aptos" panose="020B0004020202020204" pitchFamily="34" charset="0"/>
                  </a:rPr>
                  <a:t>		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1800"/>
                  </a:spcBef>
                  <a:buNone/>
                </a:pPr>
                <a:r>
                  <a:rPr lang="pl-PL" sz="2400" b="0" kern="100" dirty="0">
                    <a:ea typeface="Malgun Gothic" panose="020B0503020000020004" pitchFamily="34" charset="-127"/>
                    <a:cs typeface="Aptos" panose="020B0004020202020204" pitchFamily="34" charset="0"/>
                  </a:rPr>
                  <a:t>		</a:t>
                </a:r>
              </a:p>
            </p:txBody>
          </p:sp>
        </mc:Choice>
        <mc:Fallback xmlns="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26154B6F-0CFC-9169-5809-66B8920139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04900"/>
                <a:ext cx="10515600" cy="5308600"/>
              </a:xfrm>
              <a:blipFill>
                <a:blip r:embed="rId3"/>
                <a:stretch>
                  <a:fillRect l="-8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74310EFD-051B-9D8C-56C1-CB3956196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BAC0-DDFC-49BC-A164-59258706C6D7}" type="slidenum">
              <a:rPr lang="pl-PL" smtClean="0"/>
              <a:t>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16334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0DF272F-E917-33DF-0C58-380E9E612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717"/>
            <a:ext cx="10515600" cy="862784"/>
          </a:xfrm>
        </p:spPr>
        <p:txBody>
          <a:bodyPr/>
          <a:lstStyle/>
          <a:p>
            <a:pPr algn="ctr"/>
            <a:r>
              <a:rPr lang="pl-PL" b="1" dirty="0"/>
              <a:t>Przykłady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E8B5EAD-EBCC-FA27-E7FD-17021B1C4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3922"/>
            <a:ext cx="5337412" cy="54480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ko-KR" sz="2600" b="1" i="1" dirty="0"/>
              <a:t>Algebra</a:t>
            </a:r>
            <a:r>
              <a:rPr lang="ko-KR" altLang="en-US" sz="2600" b="1" i="1" dirty="0"/>
              <a:t> </a:t>
            </a:r>
            <a:r>
              <a:rPr lang="en-US" altLang="ko-KR" sz="2600" b="1" i="1" dirty="0"/>
              <a:t>dwuelementowa</a:t>
            </a:r>
            <a:endParaRPr lang="pl-PL" sz="2600" b="1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F9DF4A3A-2DCE-8965-68D4-0C94A37E8E05}"/>
                  </a:ext>
                </a:extLst>
              </p:cNvPr>
              <p:cNvSpPr txBox="1"/>
              <p:nvPr/>
            </p:nvSpPr>
            <p:spPr>
              <a:xfrm>
                <a:off x="917811" y="3443038"/>
                <a:ext cx="10515601" cy="58477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320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ℬ</m:t>
                      </m:r>
                      <m:r>
                        <m:rPr>
                          <m:nor/>
                        </m:rPr>
                        <a:rPr lang="pl-PL" sz="3200" kern="100">
                          <a:latin typeface="Aptos" panose="020B000402020202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pl-PL" sz="3200" kern="100">
                          <a:latin typeface="Cambria Math" panose="02040503050406030204" pitchFamily="18" charset="0"/>
                          <a:ea typeface="Malgun Gothic" panose="020B0503020000020004" pitchFamily="34" charset="-127"/>
                          <a:cs typeface="Cambria Math" panose="02040503050406030204" pitchFamily="18" charset="0"/>
                        </a:rPr>
                        <m:t>≔</m:t>
                      </m:r>
                      <m:r>
                        <m:rPr>
                          <m:nor/>
                        </m:rPr>
                        <a:rPr lang="pl-PL" sz="3200" kern="100">
                          <a:latin typeface="Aptos" panose="020B000402020202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pl-PL" sz="3200" b="0" i="0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pl-PL" sz="3200" kern="100">
                          <a:latin typeface="Aptos" panose="020B000402020202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pl-PL" sz="3200" i="0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Malgun Gothic" panose="020B0503020000020004" pitchFamily="34" charset="-127"/>
                        </a:rPr>
                        <m:t>∨</m:t>
                      </m:r>
                      <m:r>
                        <m:rPr>
                          <m:nor/>
                        </m:rPr>
                        <a:rPr lang="pl-PL" sz="3200" kern="100">
                          <a:latin typeface="Aptos" panose="020B000402020202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pl-PL" sz="3200" kern="100">
                          <a:latin typeface="Aptos" panose="020B0004020202020204" pitchFamily="34" charset="0"/>
                          <a:ea typeface="Malgun Gothic" panose="020B0503020000020004" pitchFamily="34" charset="-127"/>
                          <a:cs typeface="Aptos" panose="020B00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pl-PL" sz="3200" kern="100" smtClean="0">
                          <a:latin typeface="Cambria Math" panose="02040503050406030204" pitchFamily="18" charset="0"/>
                          <a:ea typeface="Malgun Gothic" panose="020B0503020000020004" pitchFamily="34" charset="-127"/>
                          <a:cs typeface="Aptos" panose="020B0004020202020204" pitchFamily="34" charset="0"/>
                        </a:rPr>
                        <m:t>∧</m:t>
                      </m:r>
                      <m:r>
                        <m:rPr>
                          <m:nor/>
                        </m:rPr>
                        <a:rPr lang="pl-PL" sz="3200" kern="100">
                          <a:latin typeface="Cambria Math" panose="02040503050406030204" pitchFamily="18" charset="0"/>
                          <a:ea typeface="Malgun Gothic" panose="020B0503020000020004" pitchFamily="34" charset="-127"/>
                          <a:cs typeface="Aptos" panose="020B0004020202020204" pitchFamily="34" charset="0"/>
                        </a:rPr>
                        <m:t> </m:t>
                      </m:r>
                      <m:r>
                        <a:rPr lang="pl-PL" sz="3200" i="0" kern="100">
                          <a:latin typeface="Cambria Math" panose="02040503050406030204" pitchFamily="18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m:t>,¬, 0, 1)</m:t>
                      </m:r>
                      <m:r>
                        <a:rPr lang="pl-PL" sz="3200" b="0" i="0" kern="100" smtClean="0">
                          <a:latin typeface="Cambria Math" panose="02040503050406030204" pitchFamily="18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m:t>,   </m:t>
                      </m:r>
                      <m:r>
                        <m:rPr>
                          <m:sty m:val="p"/>
                        </m:rPr>
                        <a:rPr lang="pl-PL" sz="3200" b="0" i="0" kern="100" smtClean="0">
                          <a:latin typeface="Cambria Math" panose="02040503050406030204" pitchFamily="18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m:t>B</m:t>
                      </m:r>
                      <m:r>
                        <a:rPr lang="pl-PL" sz="3200" b="0" i="0" kern="100" smtClean="0">
                          <a:latin typeface="Cambria Math" panose="02040503050406030204" pitchFamily="18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m:t>={0, 1}</m:t>
                      </m:r>
                    </m:oMath>
                  </m:oMathPara>
                </a14:m>
                <a:endParaRPr lang="pl-PL" sz="3200" dirty="0"/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F9DF4A3A-2DCE-8965-68D4-0C94A37E8E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811" y="3443038"/>
                <a:ext cx="10515601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0C11122-83F2-8F49-6C88-5CF17EE3A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BAC0-DDFC-49BC-A164-59258706C6D7}" type="slidenum">
              <a:rPr lang="pl-PL" smtClean="0"/>
              <a:t>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76661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BFD02-2E12-9FDD-274E-0A9AFE36F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5636071-5D91-643E-EE7E-28F3A475E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717"/>
            <a:ext cx="10515600" cy="862784"/>
          </a:xfrm>
        </p:spPr>
        <p:txBody>
          <a:bodyPr/>
          <a:lstStyle/>
          <a:p>
            <a:pPr algn="ctr"/>
            <a:r>
              <a:rPr lang="pl-PL" b="1" dirty="0"/>
              <a:t>Przykłady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888B279-F184-DADD-5E92-80C42D073B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37898"/>
            <a:ext cx="8217091" cy="34524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l-PL" altLang="ko-KR" sz="2600" b="1" i="1" dirty="0"/>
              <a:t>Algebra wszystkich podzbiorów ustalonego zbioru</a:t>
            </a:r>
            <a:endParaRPr lang="pl-PL" sz="2600" b="1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A6B9C057-207C-C12B-24B4-F543E8F4B7A5}"/>
                  </a:ext>
                </a:extLst>
              </p:cNvPr>
              <p:cNvSpPr txBox="1"/>
              <p:nvPr/>
            </p:nvSpPr>
            <p:spPr>
              <a:xfrm>
                <a:off x="946245" y="2520419"/>
                <a:ext cx="5924267" cy="276684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ctr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l-PL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l-PL" sz="2400" dirty="0"/>
                  <a:t> – dowolny niepusty zbiór 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d>
                      <m:dPr>
                        <m:ctrlPr>
                          <a:rPr lang="pl-PL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pl-PL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l-PL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pl-PL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sup>
                    </m:sSup>
                  </m:oMath>
                </a14:m>
                <a:r>
                  <a:rPr lang="pl-PL" sz="2400" dirty="0"/>
                  <a:t> – zbiór wszystkich podzbiorów </a:t>
                </a:r>
                <a14:m>
                  <m:oMath xmlns:m="http://schemas.openxmlformats.org/officeDocument/2006/math">
                    <m:r>
                      <a:rPr lang="pl-PL" sz="24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pl-PL" sz="2400" dirty="0"/>
              </a:p>
              <a:p>
                <a:endParaRPr lang="pl-PL" sz="2400" dirty="0"/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pl-PL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pl-PL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l-PL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pl-PL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p>
                        </m:sSup>
                        <m:r>
                          <a:rPr lang="pl-PL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pl-PL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∪, ∩,−</m:t>
                        </m:r>
                        <m:r>
                          <a:rPr lang="pl-PL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l-PL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∅,</m:t>
                        </m:r>
                        <m:r>
                          <a:rPr lang="pl-PL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pl-PL" sz="2400" dirty="0"/>
                  <a:t> jest algebrą Boole’a</a:t>
                </a:r>
              </a:p>
              <a:p>
                <a:endParaRPr lang="pl-PL" sz="2400" dirty="0"/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l-PL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l-PL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l-PL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pl-PL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l-PL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l-PL" sz="2400" dirty="0"/>
                  <a:t> </a:t>
                </a:r>
              </a:p>
              <a:p>
                <a:endParaRPr lang="pl-PL" sz="2400" dirty="0"/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A6B9C057-207C-C12B-24B4-F543E8F4B7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245" y="2520419"/>
                <a:ext cx="5924267" cy="2766848"/>
              </a:xfrm>
              <a:prstGeom prst="rect">
                <a:avLst/>
              </a:prstGeom>
              <a:blipFill>
                <a:blip r:embed="rId3"/>
                <a:stretch>
                  <a:fillRect l="-20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BB7C9C7-C2A5-F1B4-A757-FF6F5AB65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BAC0-DDFC-49BC-A164-59258706C6D7}" type="slidenum">
              <a:rPr lang="pl-PL" smtClean="0"/>
              <a:t>10</a:t>
            </a:fld>
            <a:endParaRPr lang="pl-PL"/>
          </a:p>
        </p:txBody>
      </p:sp>
      <p:pic>
        <p:nvPicPr>
          <p:cNvPr id="19" name="Obraz 18" descr="Obraz zawierający krąg, Grafika, diagram, Wielobarwność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67BF5004-3984-49D5-2157-936D5BEF55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0512" y="2187585"/>
            <a:ext cx="4483288" cy="343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472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1C0F7-56C1-9B9D-C865-2F51F2C1E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651B173-6F39-7DE2-6F98-8E299E96B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717"/>
            <a:ext cx="10515600" cy="862784"/>
          </a:xfrm>
        </p:spPr>
        <p:txBody>
          <a:bodyPr/>
          <a:lstStyle/>
          <a:p>
            <a:pPr algn="ctr"/>
            <a:r>
              <a:rPr lang="pl-PL" b="1" dirty="0"/>
              <a:t>Przykłady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AE90A44-55C6-60CB-5728-99F7210CE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37898"/>
            <a:ext cx="8217091" cy="34524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l-PL" altLang="ko-KR" sz="2600" b="1" i="1" dirty="0"/>
              <a:t>Algebra wszystkich podzbiorów ustalonego zbioru</a:t>
            </a:r>
            <a:endParaRPr lang="pl-PL" sz="2600" b="1" i="1" dirty="0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64E8432-CA76-5C39-FE13-FFECDAC94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BAC0-DDFC-49BC-A164-59258706C6D7}" type="slidenum">
              <a:rPr lang="pl-PL" smtClean="0"/>
              <a:t>11</a:t>
            </a:fld>
            <a:endParaRPr lang="pl-PL"/>
          </a:p>
        </p:txBody>
      </p:sp>
      <p:pic>
        <p:nvPicPr>
          <p:cNvPr id="10" name="Obraz 9" descr="Obraz zawierający krąg, Grafika, diagram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9963224D-4B25-6D38-7F32-594442381E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5960" y="2158030"/>
            <a:ext cx="2698395" cy="1916454"/>
          </a:xfrm>
          <a:prstGeom prst="rect">
            <a:avLst/>
          </a:prstGeom>
        </p:spPr>
      </p:pic>
      <p:pic>
        <p:nvPicPr>
          <p:cNvPr id="12" name="Obraz 11">
            <a:extLst>
              <a:ext uri="{FF2B5EF4-FFF2-40B4-BE49-F238E27FC236}">
                <a16:creationId xmlns:a16="http://schemas.microsoft.com/office/drawing/2014/main" id="{0A49792C-164A-29CB-2823-8671B1AC62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08227" y="2088524"/>
            <a:ext cx="2894126" cy="2055465"/>
          </a:xfrm>
          <a:prstGeom prst="rect">
            <a:avLst/>
          </a:prstGeom>
        </p:spPr>
      </p:pic>
      <p:pic>
        <p:nvPicPr>
          <p:cNvPr id="14" name="Obraz 13">
            <a:extLst>
              <a:ext uri="{FF2B5EF4-FFF2-40B4-BE49-F238E27FC236}">
                <a16:creationId xmlns:a16="http://schemas.microsoft.com/office/drawing/2014/main" id="{553FD117-7716-868D-178E-BF6B12129E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08227" y="4439895"/>
            <a:ext cx="2894126" cy="2055465"/>
          </a:xfrm>
          <a:prstGeom prst="rect">
            <a:avLst/>
          </a:prstGeom>
        </p:spPr>
      </p:pic>
      <p:pic>
        <p:nvPicPr>
          <p:cNvPr id="18" name="Obraz 17" descr="Obraz zawierający krąg, diagram, Grafika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3F6CE58C-64F4-79B5-EE20-854A3FE99A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5959" y="4439895"/>
            <a:ext cx="2698396" cy="19164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0FC9F714-D75F-1D2D-3492-5C518DC709B8}"/>
                  </a:ext>
                </a:extLst>
              </p:cNvPr>
              <p:cNvSpPr txBox="1"/>
              <p:nvPr/>
            </p:nvSpPr>
            <p:spPr>
              <a:xfrm>
                <a:off x="838199" y="3059668"/>
                <a:ext cx="129824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pl-PL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l-PL" b="1" i="1" smtClean="0"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pl-PL" b="1" dirty="0"/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0FC9F714-D75F-1D2D-3492-5C518DC709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3059668"/>
                <a:ext cx="129824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A01E59FC-817E-164A-2D1C-81D9E8653112}"/>
                  </a:ext>
                </a:extLst>
              </p:cNvPr>
              <p:cNvSpPr txBox="1"/>
              <p:nvPr/>
            </p:nvSpPr>
            <p:spPr>
              <a:xfrm>
                <a:off x="6096000" y="3059668"/>
                <a:ext cx="163479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pl-PL" b="1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pl-PL" b="1" dirty="0"/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A01E59FC-817E-164A-2D1C-81D9E86531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059668"/>
                <a:ext cx="163479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C6236754-3C9B-F819-CCDA-B21B82412DF9}"/>
                  </a:ext>
                </a:extLst>
              </p:cNvPr>
              <p:cNvSpPr txBox="1"/>
              <p:nvPr/>
            </p:nvSpPr>
            <p:spPr>
              <a:xfrm>
                <a:off x="6096000" y="5467628"/>
                <a:ext cx="163479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b="1" i="1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pl-PL" b="1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pl-PL" b="1" dirty="0"/>
              </a:p>
            </p:txBody>
          </p:sp>
        </mc:Choice>
        <mc:Fallback xmlns="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C6236754-3C9B-F819-CCDA-B21B82412D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5467628"/>
                <a:ext cx="1634794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69E5D8C8-9D3B-8459-4BBA-FADDD35C223D}"/>
                  </a:ext>
                </a:extLst>
              </p:cNvPr>
              <p:cNvSpPr txBox="1"/>
              <p:nvPr/>
            </p:nvSpPr>
            <p:spPr>
              <a:xfrm>
                <a:off x="669923" y="5620102"/>
                <a:ext cx="163479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pl-PL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pl-PL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pl-PL" b="1" dirty="0"/>
              </a:p>
            </p:txBody>
          </p:sp>
        </mc:Choice>
        <mc:Fallback xmlns="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69E5D8C8-9D3B-8459-4BBA-FADDD35C22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923" y="5620102"/>
                <a:ext cx="1634794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0576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15" grpId="0"/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295F730-88B5-3A35-D40A-D18242401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1759"/>
          </a:xfrm>
        </p:spPr>
        <p:txBody>
          <a:bodyPr/>
          <a:lstStyle/>
          <a:p>
            <a:pPr algn="ctr"/>
            <a:r>
              <a:rPr lang="pl-PL" b="1" dirty="0"/>
              <a:t>Relacja mniejszości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07479473-3D88-4416-42C0-83F4ED3C31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251880"/>
                <a:ext cx="10515600" cy="2354240"/>
              </a:xfrm>
            </p:spPr>
            <p:txBody>
              <a:bodyPr anchor="ctr">
                <a:normAutofit fontScale="40000" lnSpcReduction="20000"/>
              </a:bodyPr>
              <a:lstStyle/>
              <a:p>
                <a:pPr marL="0" indent="0">
                  <a:buNone/>
                </a:pPr>
                <a:endParaRPr lang="pl-PL" sz="100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10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l-PL" sz="10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pl-PL" sz="10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pl-PL" sz="10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⇔</m:t>
                      </m:r>
                      <m:r>
                        <a:rPr lang="pl-PL" sz="10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pl-PL" sz="10000" i="1" kern="100">
                          <a:latin typeface="Cambria Math" panose="02040503050406030204" pitchFamily="18" charset="0"/>
                          <a:ea typeface="Malgun Gothic" panose="020B0503020000020004" pitchFamily="34" charset="-127"/>
                          <a:cs typeface="Aptos" panose="020B0004020202020204" pitchFamily="34" charset="0"/>
                        </a:rPr>
                        <m:t>∙</m:t>
                      </m:r>
                      <m:r>
                        <a:rPr lang="pl-PL" sz="10000" b="0" i="1" kern="100" smtClean="0">
                          <a:latin typeface="Cambria Math" panose="02040503050406030204" pitchFamily="18" charset="0"/>
                          <a:ea typeface="Malgun Gothic" panose="020B0503020000020004" pitchFamily="34" charset="-127"/>
                          <a:cs typeface="Aptos" panose="020B0004020202020204" pitchFamily="34" charset="0"/>
                        </a:rPr>
                        <m:t>𝑦</m:t>
                      </m:r>
                      <m:r>
                        <a:rPr lang="pl-PL" sz="10000" b="0" i="1" kern="100" smtClean="0">
                          <a:latin typeface="Cambria Math" panose="02040503050406030204" pitchFamily="18" charset="0"/>
                          <a:ea typeface="Malgun Gothic" panose="020B0503020000020004" pitchFamily="34" charset="-127"/>
                          <a:cs typeface="Aptos" panose="020B0004020202020204" pitchFamily="34" charset="0"/>
                        </a:rPr>
                        <m:t>=</m:t>
                      </m:r>
                      <m:r>
                        <a:rPr lang="pl-PL" sz="10000" b="0" i="1" kern="100" smtClean="0">
                          <a:latin typeface="Cambria Math" panose="02040503050406030204" pitchFamily="18" charset="0"/>
                          <a:ea typeface="Malgun Gothic" panose="020B0503020000020004" pitchFamily="34" charset="-127"/>
                          <a:cs typeface="Aptos" panose="020B0004020202020204" pitchFamily="34" charset="0"/>
                        </a:rPr>
                        <m:t>𝑥</m:t>
                      </m:r>
                    </m:oMath>
                  </m:oMathPara>
                </a14:m>
                <a:endParaRPr lang="pl-PL" sz="10000" b="0" kern="100" dirty="0">
                  <a:ea typeface="Malgun Gothic" panose="020B0503020000020004" pitchFamily="34" charset="-127"/>
                  <a:cs typeface="Aptos" panose="020B0004020202020204" pitchFamily="34" charset="0"/>
                </a:endParaRPr>
              </a:p>
              <a:p>
                <a:pPr marL="0" indent="0">
                  <a:buNone/>
                </a:pPr>
                <a:endParaRPr lang="pl-PL" sz="10000" b="0" kern="100" dirty="0">
                  <a:ea typeface="Malgun Gothic" panose="020B0503020000020004" pitchFamily="34" charset="-127"/>
                  <a:cs typeface="Aptos" panose="020B0004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10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l-PL" sz="10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pl-PL" sz="10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pl-PL" sz="10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⇔</m:t>
                      </m:r>
                      <m:r>
                        <a:rPr lang="pl-PL" sz="10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pl-PL" sz="10000" i="1" kern="100">
                          <a:latin typeface="Cambria Math" panose="02040503050406030204" pitchFamily="18" charset="0"/>
                          <a:ea typeface="Malgun Gothic" panose="020B0503020000020004" pitchFamily="34" charset="-127"/>
                          <a:cs typeface="Aptos" panose="020B0004020202020204" pitchFamily="34" charset="0"/>
                        </a:rPr>
                        <m:t>∙</m:t>
                      </m:r>
                      <m:r>
                        <a:rPr lang="pl-PL" sz="10000" b="0" i="1" kern="100" smtClean="0">
                          <a:latin typeface="Cambria Math" panose="02040503050406030204" pitchFamily="18" charset="0"/>
                          <a:ea typeface="Malgun Gothic" panose="020B0503020000020004" pitchFamily="34" charset="-127"/>
                          <a:cs typeface="Aptos" panose="020B0004020202020204" pitchFamily="34" charset="0"/>
                        </a:rPr>
                        <m:t>𝑦</m:t>
                      </m:r>
                      <m:r>
                        <a:rPr lang="pl-PL" sz="10000" b="0" i="1" kern="100" smtClean="0">
                          <a:latin typeface="Cambria Math" panose="02040503050406030204" pitchFamily="18" charset="0"/>
                          <a:ea typeface="Malgun Gothic" panose="020B0503020000020004" pitchFamily="34" charset="-127"/>
                          <a:cs typeface="Aptos" panose="020B0004020202020204" pitchFamily="34" charset="0"/>
                        </a:rPr>
                        <m:t>=</m:t>
                      </m:r>
                      <m:r>
                        <a:rPr lang="pl-PL" sz="10000" b="0" i="1" kern="100" smtClean="0">
                          <a:latin typeface="Cambria Math" panose="02040503050406030204" pitchFamily="18" charset="0"/>
                          <a:ea typeface="Malgun Gothic" panose="020B0503020000020004" pitchFamily="34" charset="-127"/>
                          <a:cs typeface="Aptos" panose="020B0004020202020204" pitchFamily="34" charset="0"/>
                        </a:rPr>
                        <m:t>𝑥</m:t>
                      </m:r>
                      <m:r>
                        <a:rPr lang="pl-PL" sz="10000" b="0" i="1" kern="100" smtClean="0">
                          <a:latin typeface="Cambria Math" panose="02040503050406030204" pitchFamily="18" charset="0"/>
                          <a:ea typeface="Malgun Gothic" panose="020B0503020000020004" pitchFamily="34" charset="-127"/>
                          <a:cs typeface="Aptos" panose="020B0004020202020204" pitchFamily="34" charset="0"/>
                        </a:rPr>
                        <m:t>,  </m:t>
                      </m:r>
                      <m:r>
                        <a:rPr lang="pl-PL" sz="10000" b="0" i="1" kern="100" smtClean="0">
                          <a:latin typeface="Cambria Math" panose="02040503050406030204" pitchFamily="18" charset="0"/>
                          <a:ea typeface="Malgun Gothic" panose="020B0503020000020004" pitchFamily="34" charset="-127"/>
                          <a:cs typeface="Aptos" panose="020B0004020202020204" pitchFamily="34" charset="0"/>
                        </a:rPr>
                        <m:t>𝑥</m:t>
                      </m:r>
                      <m:r>
                        <a:rPr lang="pl-PL" sz="100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ptos" panose="020B0004020202020204" pitchFamily="34" charset="0"/>
                        </a:rPr>
                        <m:t>≠</m:t>
                      </m:r>
                      <m:r>
                        <a:rPr lang="pl-PL" sz="100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ptos" panose="020B0004020202020204" pitchFamily="34" charset="0"/>
                        </a:rPr>
                        <m:t>𝑦</m:t>
                      </m:r>
                    </m:oMath>
                  </m:oMathPara>
                </a14:m>
                <a:endParaRPr lang="pl-PL" sz="10000" dirty="0"/>
              </a:p>
              <a:p>
                <a:pPr marL="0" indent="0">
                  <a:buNone/>
                </a:pPr>
                <a:endParaRPr lang="pl-PL" sz="4000" dirty="0"/>
              </a:p>
            </p:txBody>
          </p:sp>
        </mc:Choice>
        <mc:Fallback xmlns="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07479473-3D88-4416-42C0-83F4ED3C31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251880"/>
                <a:ext cx="10515600" cy="2354240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0C6A986C-0CC4-7304-24F9-36CA21930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BAC0-DDFC-49BC-A164-59258706C6D7}" type="slidenum">
              <a:rPr lang="pl-PL" smtClean="0"/>
              <a:t>12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16833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6228B49-54B4-27A2-C0B2-44B70B7DC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5060"/>
          </a:xfrm>
        </p:spPr>
        <p:txBody>
          <a:bodyPr/>
          <a:lstStyle/>
          <a:p>
            <a:pPr algn="ctr"/>
            <a:r>
              <a:rPr lang="pl-PL" b="1" dirty="0"/>
              <a:t>Atom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B63F538C-321F-1AAF-9C62-C9D9F1ED0E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187289"/>
                <a:ext cx="10515600" cy="2589427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pl-PL" dirty="0"/>
                  <a:t> </a:t>
                </a:r>
                <a:r>
                  <a:rPr lang="pl-PL" sz="3200" dirty="0"/>
                  <a:t>Niezerowy element </a:t>
                </a:r>
                <a14:m>
                  <m:oMath xmlns:m="http://schemas.openxmlformats.org/officeDocument/2006/math">
                    <m:r>
                      <a:rPr lang="pl-PL" sz="32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pl-PL" sz="3200" dirty="0"/>
                  <a:t> algebry </a:t>
                </a:r>
                <a14:m>
                  <m:oMath xmlns:m="http://schemas.openxmlformats.org/officeDocument/2006/math">
                    <m:r>
                      <a:rPr lang="pl-PL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ℬ</m:t>
                    </m:r>
                  </m:oMath>
                </a14:m>
                <a:r>
                  <a:rPr lang="pl-PL" sz="3200" dirty="0"/>
                  <a:t>, gdzie dla każdego </a:t>
                </a:r>
                <a14:m>
                  <m:oMath xmlns:m="http://schemas.openxmlformats.org/officeDocument/2006/math">
                    <m:r>
                      <a:rPr lang="pl-PL" sz="32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pl-PL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pl-PL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ℬ</m:t>
                    </m:r>
                  </m:oMath>
                </a14:m>
                <a:r>
                  <a:rPr lang="pl-PL" sz="3200" dirty="0"/>
                  <a:t> spełniana jest zależność: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3200" b="0" i="1" smtClean="0">
                          <a:latin typeface="Cambria Math" panose="02040503050406030204" pitchFamily="18" charset="0"/>
                        </a:rPr>
                        <m:t>0&lt;</m:t>
                      </m:r>
                      <m:r>
                        <a:rPr lang="pl-PL" sz="32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l-PL" sz="3200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pl-PL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l-PL" sz="3200" b="0" i="1" smtClean="0">
                          <a:latin typeface="Cambria Math" panose="02040503050406030204" pitchFamily="18" charset="0"/>
                        </a:rPr>
                        <m:t> →</m:t>
                      </m:r>
                      <m:r>
                        <a:rPr lang="pl-PL" sz="32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l-PL" sz="3200" b="0" i="1" smtClean="0">
                          <a:latin typeface="Cambria Math" panose="02040503050406030204" pitchFamily="18" charset="0"/>
                        </a:rPr>
                        <m:t>=0,  </m:t>
                      </m:r>
                      <m:r>
                        <a:rPr lang="pl-PL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l-PL" sz="32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l-PL" sz="32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l-PL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pl-PL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ℬ</m:t>
                      </m:r>
                    </m:oMath>
                  </m:oMathPara>
                </a14:m>
                <a:endParaRPr lang="pl-PL" sz="3200" dirty="0"/>
              </a:p>
            </p:txBody>
          </p:sp>
        </mc:Choice>
        <mc:Fallback xmlns="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B63F538C-321F-1AAF-9C62-C9D9F1ED0E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187289"/>
                <a:ext cx="10515600" cy="2589427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786B8993-8005-723C-7E78-5E86A9683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BAC0-DDFC-49BC-A164-59258706C6D7}" type="slidenum">
              <a:rPr lang="pl-PL" smtClean="0"/>
              <a:t>13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997227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1F0E7DB-BE4B-0C5B-F61F-831236B1C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l-PL" b="1" dirty="0"/>
              <a:t>Twierdzenie o izomorfizmie skończonych algebr Boole’a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D31F156F-4D83-D1F7-D802-4A3CDA19CB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178642"/>
                <a:ext cx="10515600" cy="2500715"/>
              </a:xfrm>
            </p:spPr>
            <p:txBody>
              <a:bodyPr>
                <a:noAutofit/>
              </a:bodyPr>
              <a:lstStyle/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pl-PL" sz="3600" dirty="0"/>
                  <a:t>Niech </a:t>
                </a:r>
                <a14:m>
                  <m:oMath xmlns:m="http://schemas.openxmlformats.org/officeDocument/2006/math">
                    <m:r>
                      <a:rPr lang="pl-PL" sz="3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ℬ</m:t>
                    </m:r>
                  </m:oMath>
                </a14:m>
                <a:r>
                  <a:rPr lang="pl-PL" sz="3600" dirty="0"/>
                  <a:t> będzie skończoną algebrą Boole’a i </a:t>
                </a:r>
                <a14:m>
                  <m:oMath xmlns:m="http://schemas.openxmlformats.org/officeDocument/2006/math">
                    <m:r>
                      <a:rPr lang="pl-PL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pl-PL" sz="3600" dirty="0"/>
                  <a:t> zbiorem wszystkich atomów w </a:t>
                </a:r>
                <a14:m>
                  <m:oMath xmlns:m="http://schemas.openxmlformats.org/officeDocument/2006/math">
                    <m:r>
                      <a:rPr lang="pl-PL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ℬ</m:t>
                    </m:r>
                  </m:oMath>
                </a14:m>
                <a:r>
                  <a:rPr lang="pl-PL" sz="3600" dirty="0"/>
                  <a:t>. Wtedy algebra </a:t>
                </a:r>
                <a14:m>
                  <m:oMath xmlns:m="http://schemas.openxmlformats.org/officeDocument/2006/math">
                    <m:r>
                      <a:rPr lang="pl-PL" sz="3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r>
                      <a:rPr lang="pl-PL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pl-PL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pl-PL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l-PL" sz="3600" dirty="0"/>
                  <a:t> będzie izomorficzna do </a:t>
                </a:r>
                <a14:m>
                  <m:oMath xmlns:m="http://schemas.openxmlformats.org/officeDocument/2006/math">
                    <m:r>
                      <a:rPr lang="pl-PL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ℬ</m:t>
                    </m:r>
                  </m:oMath>
                </a14:m>
                <a:r>
                  <a:rPr lang="pl-PL" sz="3600" dirty="0"/>
                  <a:t>.</a:t>
                </a:r>
              </a:p>
            </p:txBody>
          </p:sp>
        </mc:Choice>
        <mc:Fallback xmlns="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D31F156F-4D83-D1F7-D802-4A3CDA19CB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178642"/>
                <a:ext cx="10515600" cy="2500715"/>
              </a:xfrm>
              <a:blipFill>
                <a:blip r:embed="rId3"/>
                <a:stretch>
                  <a:fillRect l="-232" r="-1101" b="-80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31E8B169-3841-C9A8-E11D-B96207FBA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BAC0-DDFC-49BC-A164-59258706C6D7}" type="slidenum">
              <a:rPr lang="pl-PL" smtClean="0"/>
              <a:t>14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66830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F6E06-78E4-B2A3-3FF6-61C9BDB6F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0916745-08A3-DB2A-8E99-73843E0B5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l-PL" b="1" dirty="0"/>
              <a:t>Opis układów bramek logicznych w języku algebr Boole’a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42DEC8A-2ED9-EFC2-BBB0-58226B74B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Bramka AND</a:t>
            </a:r>
          </a:p>
          <a:p>
            <a:endParaRPr lang="pl-PL" dirty="0"/>
          </a:p>
          <a:p>
            <a:endParaRPr lang="pl-PL" dirty="0"/>
          </a:p>
          <a:p>
            <a:pPr marL="0" indent="0">
              <a:buNone/>
            </a:pPr>
            <a:endParaRPr lang="pl-PL" dirty="0"/>
          </a:p>
          <a:p>
            <a:r>
              <a:rPr lang="pl-PL" dirty="0"/>
              <a:t>Bramka NAND</a:t>
            </a:r>
          </a:p>
        </p:txBody>
      </p:sp>
      <p:pic>
        <p:nvPicPr>
          <p:cNvPr id="7" name="Obraz 6" descr="Obraz zawierający diagram, linia, symbol, Czcionka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A95D9679-F9DC-7295-1386-0FC316CA4B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95" r="14351"/>
          <a:stretch/>
        </p:blipFill>
        <p:spPr>
          <a:xfrm>
            <a:off x="1503035" y="2267790"/>
            <a:ext cx="3132813" cy="139731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ela 7">
                <a:extLst>
                  <a:ext uri="{FF2B5EF4-FFF2-40B4-BE49-F238E27FC236}">
                    <a16:creationId xmlns:a16="http://schemas.microsoft.com/office/drawing/2014/main" id="{3DB3C0E6-D398-7D13-A2A5-D3E831A53FE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91113225"/>
                  </p:ext>
                </p:extLst>
              </p:nvPr>
            </p:nvGraphicFramePr>
            <p:xfrm>
              <a:off x="6359857" y="2050553"/>
              <a:ext cx="4046560" cy="1849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80531">
                      <a:extLst>
                        <a:ext uri="{9D8B030D-6E8A-4147-A177-3AD203B41FA5}">
                          <a16:colId xmlns:a16="http://schemas.microsoft.com/office/drawing/2014/main" val="2637805321"/>
                        </a:ext>
                      </a:extLst>
                    </a:gridCol>
                    <a:gridCol w="1125940">
                      <a:extLst>
                        <a:ext uri="{9D8B030D-6E8A-4147-A177-3AD203B41FA5}">
                          <a16:colId xmlns:a16="http://schemas.microsoft.com/office/drawing/2014/main" val="1767029813"/>
                        </a:ext>
                      </a:extLst>
                    </a:gridCol>
                    <a:gridCol w="1740089">
                      <a:extLst>
                        <a:ext uri="{9D8B030D-6E8A-4147-A177-3AD203B41FA5}">
                          <a16:colId xmlns:a16="http://schemas.microsoft.com/office/drawing/2014/main" val="2095563624"/>
                        </a:ext>
                      </a:extLst>
                    </a:gridCol>
                  </a:tblGrid>
                  <a:tr h="3277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99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99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>
                              <a:solidFill>
                                <a:schemeClr val="tx1"/>
                              </a:solidFill>
                            </a:rPr>
                            <a:t>Y </a:t>
                          </a:r>
                          <a14:m>
                            <m:oMath xmlns:m="http://schemas.openxmlformats.org/officeDocument/2006/math">
                              <m:r>
                                <a:rPr lang="pl-PL" sz="1800" b="1" i="0" kern="1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Aptos" panose="020B0004020202020204" pitchFamily="34" charset="0"/>
                                </a:rPr>
                                <m:t>=</m:t>
                              </m:r>
                              <m:r>
                                <a:rPr lang="pl-PL" sz="1800" b="1" i="1" kern="1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Aptos" panose="020B0004020202020204" pitchFamily="34" charset="0"/>
                                </a:rPr>
                                <m:t>𝑨</m:t>
                              </m:r>
                              <m:r>
                                <a:rPr lang="pl-PL" sz="1800" b="1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Aptos" panose="020B0004020202020204" pitchFamily="34" charset="0"/>
                                </a:rPr>
                                <m:t>∙</m:t>
                              </m:r>
                              <m:r>
                                <a:rPr lang="pl-PL" sz="1800" b="1" i="1" kern="1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Aptos" panose="020B0004020202020204" pitchFamily="34" charset="0"/>
                                </a:rPr>
                                <m:t>𝑩</m:t>
                              </m:r>
                              <m:r>
                                <a:rPr lang="pl-PL" sz="1800" b="1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Aptos" panose="020B0004020202020204" pitchFamily="34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pl-PL" b="1" dirty="0">
                              <a:solidFill>
                                <a:schemeClr val="tx1"/>
                              </a:solidFill>
                            </a:rPr>
                            <a:t>  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99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79043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/>
                            <a:t>0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242378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/>
                            <a:t>0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87309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/>
                            <a:t>0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082151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/>
                            <a:t>1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269193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ela 7">
                <a:extLst>
                  <a:ext uri="{FF2B5EF4-FFF2-40B4-BE49-F238E27FC236}">
                    <a16:creationId xmlns:a16="http://schemas.microsoft.com/office/drawing/2014/main" id="{3DB3C0E6-D398-7D13-A2A5-D3E831A53FE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91113225"/>
                  </p:ext>
                </p:extLst>
              </p:nvPr>
            </p:nvGraphicFramePr>
            <p:xfrm>
              <a:off x="6359857" y="2050553"/>
              <a:ext cx="4046560" cy="1849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80531">
                      <a:extLst>
                        <a:ext uri="{9D8B030D-6E8A-4147-A177-3AD203B41FA5}">
                          <a16:colId xmlns:a16="http://schemas.microsoft.com/office/drawing/2014/main" val="2637805321"/>
                        </a:ext>
                      </a:extLst>
                    </a:gridCol>
                    <a:gridCol w="1125940">
                      <a:extLst>
                        <a:ext uri="{9D8B030D-6E8A-4147-A177-3AD203B41FA5}">
                          <a16:colId xmlns:a16="http://schemas.microsoft.com/office/drawing/2014/main" val="1767029813"/>
                        </a:ext>
                      </a:extLst>
                    </a:gridCol>
                    <a:gridCol w="1740089">
                      <a:extLst>
                        <a:ext uri="{9D8B030D-6E8A-4147-A177-3AD203B41FA5}">
                          <a16:colId xmlns:a16="http://schemas.microsoft.com/office/drawing/2014/main" val="2095563624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99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99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32867" t="-8333" r="-1049" b="-43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79043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/>
                            <a:t>0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242378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/>
                            <a:t>0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87309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/>
                            <a:t>0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082151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/>
                            <a:t>1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26919390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" name="Obraz 9" descr="Obraz zawierający diagram, szkic, linia, design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DABFD6C4-A0DC-F0CF-1549-5B18F423AE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16" r="12920"/>
          <a:stretch/>
        </p:blipFill>
        <p:spPr>
          <a:xfrm>
            <a:off x="1503035" y="4688681"/>
            <a:ext cx="3132813" cy="139731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ela 12">
                <a:extLst>
                  <a:ext uri="{FF2B5EF4-FFF2-40B4-BE49-F238E27FC236}">
                    <a16:creationId xmlns:a16="http://schemas.microsoft.com/office/drawing/2014/main" id="{A091E773-EC63-AF49-9769-8A261E5CA17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6110430"/>
                  </p:ext>
                </p:extLst>
              </p:nvPr>
            </p:nvGraphicFramePr>
            <p:xfrm>
              <a:off x="6359857" y="4462780"/>
              <a:ext cx="4046560" cy="1849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80531">
                      <a:extLst>
                        <a:ext uri="{9D8B030D-6E8A-4147-A177-3AD203B41FA5}">
                          <a16:colId xmlns:a16="http://schemas.microsoft.com/office/drawing/2014/main" val="1192331598"/>
                        </a:ext>
                      </a:extLst>
                    </a:gridCol>
                    <a:gridCol w="1125940">
                      <a:extLst>
                        <a:ext uri="{9D8B030D-6E8A-4147-A177-3AD203B41FA5}">
                          <a16:colId xmlns:a16="http://schemas.microsoft.com/office/drawing/2014/main" val="3207881633"/>
                        </a:ext>
                      </a:extLst>
                    </a:gridCol>
                    <a:gridCol w="1740089">
                      <a:extLst>
                        <a:ext uri="{9D8B030D-6E8A-4147-A177-3AD203B41FA5}">
                          <a16:colId xmlns:a16="http://schemas.microsoft.com/office/drawing/2014/main" val="677855379"/>
                        </a:ext>
                      </a:extLst>
                    </a:gridCol>
                  </a:tblGrid>
                  <a:tr h="2947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99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99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>
                              <a:solidFill>
                                <a:schemeClr val="tx1"/>
                              </a:solidFill>
                            </a:rPr>
                            <a:t>Y </a:t>
                          </a:r>
                          <a14:m>
                            <m:oMath xmlns:m="http://schemas.openxmlformats.org/officeDocument/2006/math">
                              <m:r>
                                <a:rPr lang="pl-PL" sz="1800" b="1" i="0" kern="1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Aptos" panose="020B0004020202020204" pitchFamily="34" charset="0"/>
                                </a:rPr>
                                <m:t>=</m:t>
                              </m:r>
                              <m:acc>
                                <m:accPr>
                                  <m:chr m:val="̅"/>
                                  <m:ctrlPr>
                                    <a:rPr lang="pl-PL" sz="1800" b="1" i="1" kern="1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algun Gothic" panose="020B0503020000020004" pitchFamily="34" charset="-127"/>
                                    </a:rPr>
                                  </m:ctrlPr>
                                </m:accPr>
                                <m:e>
                                  <m:r>
                                    <a:rPr lang="pl-PL" sz="1800" b="1" i="1" kern="1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algun Gothic" panose="020B0503020000020004" pitchFamily="34" charset="-127"/>
                                    </a:rPr>
                                    <m:t>𝑨</m:t>
                                  </m:r>
                                  <m:r>
                                    <a:rPr lang="pl-PL" sz="1800" b="1" i="1" kern="1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algun Gothic" panose="020B0503020000020004" pitchFamily="34" charset="-127"/>
                                      <a:cs typeface="Aptos" panose="020B0004020202020204" pitchFamily="34" charset="0"/>
                                    </a:rPr>
                                    <m:t>∙</m:t>
                                  </m:r>
                                  <m:r>
                                    <a:rPr lang="pl-PL" sz="1800" b="1" i="1" kern="1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algun Gothic" panose="020B0503020000020004" pitchFamily="34" charset="-127"/>
                                      <a:cs typeface="Aptos" panose="020B0004020202020204" pitchFamily="34" charset="0"/>
                                    </a:rPr>
                                    <m:t>𝑩</m:t>
                                  </m:r>
                                </m:e>
                              </m:acc>
                            </m:oMath>
                          </a14:m>
                          <a:endParaRPr lang="pl-P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99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29623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/>
                            <a:t>1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77211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/>
                            <a:t>1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838906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/>
                            <a:t>1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603828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/>
                            <a:t>0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687307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ela 12">
                <a:extLst>
                  <a:ext uri="{FF2B5EF4-FFF2-40B4-BE49-F238E27FC236}">
                    <a16:creationId xmlns:a16="http://schemas.microsoft.com/office/drawing/2014/main" id="{A091E773-EC63-AF49-9769-8A261E5CA17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6110430"/>
                  </p:ext>
                </p:extLst>
              </p:nvPr>
            </p:nvGraphicFramePr>
            <p:xfrm>
              <a:off x="6359857" y="4462780"/>
              <a:ext cx="4046560" cy="1849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80531">
                      <a:extLst>
                        <a:ext uri="{9D8B030D-6E8A-4147-A177-3AD203B41FA5}">
                          <a16:colId xmlns:a16="http://schemas.microsoft.com/office/drawing/2014/main" val="1192331598"/>
                        </a:ext>
                      </a:extLst>
                    </a:gridCol>
                    <a:gridCol w="1125940">
                      <a:extLst>
                        <a:ext uri="{9D8B030D-6E8A-4147-A177-3AD203B41FA5}">
                          <a16:colId xmlns:a16="http://schemas.microsoft.com/office/drawing/2014/main" val="3207881633"/>
                        </a:ext>
                      </a:extLst>
                    </a:gridCol>
                    <a:gridCol w="1740089">
                      <a:extLst>
                        <a:ext uri="{9D8B030D-6E8A-4147-A177-3AD203B41FA5}">
                          <a16:colId xmlns:a16="http://schemas.microsoft.com/office/drawing/2014/main" val="677855379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99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99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32867" t="-8333" r="-1049" b="-43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29623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/>
                            <a:t>1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77211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/>
                            <a:t>1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838906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/>
                            <a:t>1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603828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/>
                            <a:t>0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687307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6" name="Symbol zastępczy numeru slajdu 15">
            <a:extLst>
              <a:ext uri="{FF2B5EF4-FFF2-40B4-BE49-F238E27FC236}">
                <a16:creationId xmlns:a16="http://schemas.microsoft.com/office/drawing/2014/main" id="{EDB321EF-A85F-C457-0749-CA5C4BBEF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BAC0-DDFC-49BC-A164-59258706C6D7}" type="slidenum">
              <a:rPr lang="pl-PL" smtClean="0"/>
              <a:t>15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23445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8BDB1-B0F3-CC10-31BF-00897624A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AC1ED30-5BA2-A577-4335-68B219BB8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l-PL" b="1" dirty="0"/>
              <a:t>Opis układów bramek logicznych w języku algebr Boole’a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F5B5346-BF49-8816-7139-A52E94A1DD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Bramka OR</a:t>
            </a:r>
          </a:p>
          <a:p>
            <a:endParaRPr lang="pl-PL" dirty="0"/>
          </a:p>
          <a:p>
            <a:endParaRPr lang="pl-PL" dirty="0"/>
          </a:p>
          <a:p>
            <a:pPr marL="0" indent="0">
              <a:buNone/>
            </a:pPr>
            <a:endParaRPr lang="pl-PL" dirty="0"/>
          </a:p>
          <a:p>
            <a:r>
              <a:rPr lang="pl-PL" dirty="0"/>
              <a:t>Bramka NOR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FCD7310F-58F7-61C0-5A96-290D109923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68" r="14768"/>
          <a:stretch/>
        </p:blipFill>
        <p:spPr>
          <a:xfrm>
            <a:off x="1503035" y="2267790"/>
            <a:ext cx="3132813" cy="139731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ela 7">
                <a:extLst>
                  <a:ext uri="{FF2B5EF4-FFF2-40B4-BE49-F238E27FC236}">
                    <a16:creationId xmlns:a16="http://schemas.microsoft.com/office/drawing/2014/main" id="{E1B0B947-4EC1-65AD-224C-7A0664768D1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69310006"/>
                  </p:ext>
                </p:extLst>
              </p:nvPr>
            </p:nvGraphicFramePr>
            <p:xfrm>
              <a:off x="6359857" y="2050553"/>
              <a:ext cx="4046560" cy="1849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80531">
                      <a:extLst>
                        <a:ext uri="{9D8B030D-6E8A-4147-A177-3AD203B41FA5}">
                          <a16:colId xmlns:a16="http://schemas.microsoft.com/office/drawing/2014/main" val="2637805321"/>
                        </a:ext>
                      </a:extLst>
                    </a:gridCol>
                    <a:gridCol w="1125940">
                      <a:extLst>
                        <a:ext uri="{9D8B030D-6E8A-4147-A177-3AD203B41FA5}">
                          <a16:colId xmlns:a16="http://schemas.microsoft.com/office/drawing/2014/main" val="1767029813"/>
                        </a:ext>
                      </a:extLst>
                    </a:gridCol>
                    <a:gridCol w="1740089">
                      <a:extLst>
                        <a:ext uri="{9D8B030D-6E8A-4147-A177-3AD203B41FA5}">
                          <a16:colId xmlns:a16="http://schemas.microsoft.com/office/drawing/2014/main" val="2095563624"/>
                        </a:ext>
                      </a:extLst>
                    </a:gridCol>
                  </a:tblGrid>
                  <a:tr h="32778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99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99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>
                              <a:solidFill>
                                <a:schemeClr val="tx1"/>
                              </a:solidFill>
                            </a:rPr>
                            <a:t>Y  </a:t>
                          </a:r>
                          <a14:m>
                            <m:oMath xmlns:m="http://schemas.openxmlformats.org/officeDocument/2006/math">
                              <m:r>
                                <a:rPr lang="pl-PL" sz="1800" b="1" i="0" kern="1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Aptos" panose="020B0004020202020204" pitchFamily="34" charset="0"/>
                                </a:rPr>
                                <m:t>=</m:t>
                              </m:r>
                              <m:r>
                                <a:rPr lang="pl-PL" sz="1800" b="1" i="1" kern="1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Aptos" panose="020B0004020202020204" pitchFamily="34" charset="0"/>
                                </a:rPr>
                                <m:t>𝑨</m:t>
                              </m:r>
                              <m:r>
                                <a:rPr lang="pl-PL" sz="1800" b="1" i="1" kern="1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Aptos" panose="020B0004020202020204" pitchFamily="34" charset="0"/>
                                </a:rPr>
                                <m:t>+</m:t>
                              </m:r>
                              <m:r>
                                <a:rPr lang="pl-PL" sz="1800" b="1" i="1" kern="1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Aptos" panose="020B0004020202020204" pitchFamily="34" charset="0"/>
                                </a:rPr>
                                <m:t>𝑩</m:t>
                              </m:r>
                            </m:oMath>
                          </a14:m>
                          <a:endParaRPr lang="pl-PL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99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79043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/>
                            <a:t>0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242378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/>
                            <a:t>1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87309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/>
                            <a:t>1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082151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/>
                            <a:t>1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269193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ela 7">
                <a:extLst>
                  <a:ext uri="{FF2B5EF4-FFF2-40B4-BE49-F238E27FC236}">
                    <a16:creationId xmlns:a16="http://schemas.microsoft.com/office/drawing/2014/main" id="{E1B0B947-4EC1-65AD-224C-7A0664768D1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69310006"/>
                  </p:ext>
                </p:extLst>
              </p:nvPr>
            </p:nvGraphicFramePr>
            <p:xfrm>
              <a:off x="6359857" y="2050553"/>
              <a:ext cx="4046560" cy="1849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80531">
                      <a:extLst>
                        <a:ext uri="{9D8B030D-6E8A-4147-A177-3AD203B41FA5}">
                          <a16:colId xmlns:a16="http://schemas.microsoft.com/office/drawing/2014/main" val="2637805321"/>
                        </a:ext>
                      </a:extLst>
                    </a:gridCol>
                    <a:gridCol w="1125940">
                      <a:extLst>
                        <a:ext uri="{9D8B030D-6E8A-4147-A177-3AD203B41FA5}">
                          <a16:colId xmlns:a16="http://schemas.microsoft.com/office/drawing/2014/main" val="1767029813"/>
                        </a:ext>
                      </a:extLst>
                    </a:gridCol>
                    <a:gridCol w="1740089">
                      <a:extLst>
                        <a:ext uri="{9D8B030D-6E8A-4147-A177-3AD203B41FA5}">
                          <a16:colId xmlns:a16="http://schemas.microsoft.com/office/drawing/2014/main" val="2095563624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99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99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32867" t="-8333" r="-1049" b="-43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79043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/>
                            <a:t>0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242378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/>
                            <a:t>1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87309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/>
                            <a:t>1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082151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/>
                            <a:t>1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26919390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" name="Obraz 9">
            <a:extLst>
              <a:ext uri="{FF2B5EF4-FFF2-40B4-BE49-F238E27FC236}">
                <a16:creationId xmlns:a16="http://schemas.microsoft.com/office/drawing/2014/main" id="{4BEB6184-3169-7C69-0EED-C98106EECF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68" r="14768"/>
          <a:stretch/>
        </p:blipFill>
        <p:spPr>
          <a:xfrm>
            <a:off x="1503035" y="4688681"/>
            <a:ext cx="3132813" cy="139731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ela 12">
                <a:extLst>
                  <a:ext uri="{FF2B5EF4-FFF2-40B4-BE49-F238E27FC236}">
                    <a16:creationId xmlns:a16="http://schemas.microsoft.com/office/drawing/2014/main" id="{A9E2C789-CA5C-A4E3-3852-879C9A771C2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31423322"/>
                  </p:ext>
                </p:extLst>
              </p:nvPr>
            </p:nvGraphicFramePr>
            <p:xfrm>
              <a:off x="6359857" y="4462780"/>
              <a:ext cx="4046560" cy="1849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80531">
                      <a:extLst>
                        <a:ext uri="{9D8B030D-6E8A-4147-A177-3AD203B41FA5}">
                          <a16:colId xmlns:a16="http://schemas.microsoft.com/office/drawing/2014/main" val="1192331598"/>
                        </a:ext>
                      </a:extLst>
                    </a:gridCol>
                    <a:gridCol w="1125940">
                      <a:extLst>
                        <a:ext uri="{9D8B030D-6E8A-4147-A177-3AD203B41FA5}">
                          <a16:colId xmlns:a16="http://schemas.microsoft.com/office/drawing/2014/main" val="3207881633"/>
                        </a:ext>
                      </a:extLst>
                    </a:gridCol>
                    <a:gridCol w="1740089">
                      <a:extLst>
                        <a:ext uri="{9D8B030D-6E8A-4147-A177-3AD203B41FA5}">
                          <a16:colId xmlns:a16="http://schemas.microsoft.com/office/drawing/2014/main" val="677855379"/>
                        </a:ext>
                      </a:extLst>
                    </a:gridCol>
                  </a:tblGrid>
                  <a:tr h="2947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99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99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>
                              <a:solidFill>
                                <a:schemeClr val="tx1"/>
                              </a:solidFill>
                            </a:rPr>
                            <a:t>Y  </a:t>
                          </a:r>
                          <a14:m>
                            <m:oMath xmlns:m="http://schemas.openxmlformats.org/officeDocument/2006/math">
                              <m:r>
                                <a:rPr lang="pl-PL" sz="1800" b="1" i="0" kern="1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Aptos" panose="020B0004020202020204" pitchFamily="34" charset="0"/>
                                </a:rPr>
                                <m:t>=</m:t>
                              </m:r>
                              <m:acc>
                                <m:accPr>
                                  <m:chr m:val="̅"/>
                                  <m:ctrlPr>
                                    <a:rPr lang="pl-PL" sz="1800" b="1" i="1" kern="1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algun Gothic" panose="020B0503020000020004" pitchFamily="34" charset="-127"/>
                                    </a:rPr>
                                  </m:ctrlPr>
                                </m:accPr>
                                <m:e>
                                  <m:r>
                                    <a:rPr lang="pl-PL" sz="1800" b="1" i="1" kern="1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algun Gothic" panose="020B0503020000020004" pitchFamily="34" charset="-127"/>
                                      <a:cs typeface="Aptos" panose="020B0004020202020204" pitchFamily="34" charset="0"/>
                                    </a:rPr>
                                    <m:t>𝑨</m:t>
                                  </m:r>
                                  <m:r>
                                    <a:rPr lang="pl-PL" sz="1800" b="1" i="1" kern="1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algun Gothic" panose="020B0503020000020004" pitchFamily="34" charset="-127"/>
                                      <a:cs typeface="Aptos" panose="020B0004020202020204" pitchFamily="34" charset="0"/>
                                    </a:rPr>
                                    <m:t>+</m:t>
                                  </m:r>
                                  <m:r>
                                    <a:rPr lang="pl-PL" sz="1800" b="1" i="1" kern="1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algun Gothic" panose="020B0503020000020004" pitchFamily="34" charset="-127"/>
                                      <a:cs typeface="Aptos" panose="020B0004020202020204" pitchFamily="34" charset="0"/>
                                    </a:rPr>
                                    <m:t>𝑩</m:t>
                                  </m:r>
                                </m:e>
                              </m:acc>
                            </m:oMath>
                          </a14:m>
                          <a:endParaRPr lang="pl-PL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99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29623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/>
                            <a:t>1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77211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/>
                            <a:t>0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838906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/>
                            <a:t>0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603828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/>
                            <a:t>0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687307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ela 12">
                <a:extLst>
                  <a:ext uri="{FF2B5EF4-FFF2-40B4-BE49-F238E27FC236}">
                    <a16:creationId xmlns:a16="http://schemas.microsoft.com/office/drawing/2014/main" id="{A9E2C789-CA5C-A4E3-3852-879C9A771C2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31423322"/>
                  </p:ext>
                </p:extLst>
              </p:nvPr>
            </p:nvGraphicFramePr>
            <p:xfrm>
              <a:off x="6359857" y="4462780"/>
              <a:ext cx="4046560" cy="1849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80531">
                      <a:extLst>
                        <a:ext uri="{9D8B030D-6E8A-4147-A177-3AD203B41FA5}">
                          <a16:colId xmlns:a16="http://schemas.microsoft.com/office/drawing/2014/main" val="1192331598"/>
                        </a:ext>
                      </a:extLst>
                    </a:gridCol>
                    <a:gridCol w="1125940">
                      <a:extLst>
                        <a:ext uri="{9D8B030D-6E8A-4147-A177-3AD203B41FA5}">
                          <a16:colId xmlns:a16="http://schemas.microsoft.com/office/drawing/2014/main" val="3207881633"/>
                        </a:ext>
                      </a:extLst>
                    </a:gridCol>
                    <a:gridCol w="1740089">
                      <a:extLst>
                        <a:ext uri="{9D8B030D-6E8A-4147-A177-3AD203B41FA5}">
                          <a16:colId xmlns:a16="http://schemas.microsoft.com/office/drawing/2014/main" val="677855379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99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99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32867" t="-8333" r="-1049" b="-43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29623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/>
                            <a:t>1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77211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/>
                            <a:t>0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838906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/>
                            <a:t>0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603828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/>
                            <a:t>0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687307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EE6A92D9-BEF3-C017-1C5E-766E59CD7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BAC0-DDFC-49BC-A164-59258706C6D7}" type="slidenum">
              <a:rPr lang="pl-PL" smtClean="0"/>
              <a:t>16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25656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F06F1-6389-DCD6-A6DC-3756935A0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33E75F5-A63D-1892-1B29-DC7407A97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l-PL" b="1" dirty="0"/>
              <a:t>Opis układów bramek logicznych w języku algebr Boole’a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18D01B4-5682-EBF2-DA55-BA9F96FA5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Bramka XOR</a:t>
            </a:r>
          </a:p>
          <a:p>
            <a:endParaRPr lang="pl-PL" dirty="0"/>
          </a:p>
          <a:p>
            <a:endParaRPr lang="pl-PL" dirty="0"/>
          </a:p>
          <a:p>
            <a:pPr marL="0" indent="0">
              <a:buNone/>
            </a:pPr>
            <a:endParaRPr lang="pl-PL" dirty="0"/>
          </a:p>
          <a:p>
            <a:r>
              <a:rPr lang="pl-PL" dirty="0"/>
              <a:t>Bramka NOT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D02E123D-F94F-D334-B57E-4D82EEBDF0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68" r="14768"/>
          <a:stretch/>
        </p:blipFill>
        <p:spPr>
          <a:xfrm>
            <a:off x="1503035" y="2267790"/>
            <a:ext cx="3132813" cy="139731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ela 7">
                <a:extLst>
                  <a:ext uri="{FF2B5EF4-FFF2-40B4-BE49-F238E27FC236}">
                    <a16:creationId xmlns:a16="http://schemas.microsoft.com/office/drawing/2014/main" id="{5ACFB8E2-5E17-B7BE-FA50-F60E404763B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60238255"/>
                  </p:ext>
                </p:extLst>
              </p:nvPr>
            </p:nvGraphicFramePr>
            <p:xfrm>
              <a:off x="6359857" y="2050553"/>
              <a:ext cx="4046560" cy="1849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80531">
                      <a:extLst>
                        <a:ext uri="{9D8B030D-6E8A-4147-A177-3AD203B41FA5}">
                          <a16:colId xmlns:a16="http://schemas.microsoft.com/office/drawing/2014/main" val="2637805321"/>
                        </a:ext>
                      </a:extLst>
                    </a:gridCol>
                    <a:gridCol w="1125940">
                      <a:extLst>
                        <a:ext uri="{9D8B030D-6E8A-4147-A177-3AD203B41FA5}">
                          <a16:colId xmlns:a16="http://schemas.microsoft.com/office/drawing/2014/main" val="1767029813"/>
                        </a:ext>
                      </a:extLst>
                    </a:gridCol>
                    <a:gridCol w="1740089">
                      <a:extLst>
                        <a:ext uri="{9D8B030D-6E8A-4147-A177-3AD203B41FA5}">
                          <a16:colId xmlns:a16="http://schemas.microsoft.com/office/drawing/2014/main" val="2095563624"/>
                        </a:ext>
                      </a:extLst>
                    </a:gridCol>
                  </a:tblGrid>
                  <a:tr h="32712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99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99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>
                              <a:solidFill>
                                <a:schemeClr val="tx1"/>
                              </a:solidFill>
                            </a:rPr>
                            <a:t>Y </a:t>
                          </a:r>
                          <a14:m>
                            <m:oMath xmlns:m="http://schemas.openxmlformats.org/officeDocument/2006/math">
                              <m:r>
                                <a:rPr lang="pl-PL" sz="1800" b="1" i="0" kern="1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Aptos" panose="020B0004020202020204" pitchFamily="34" charset="0"/>
                                </a:rPr>
                                <m:t>=</m:t>
                              </m:r>
                              <m:r>
                                <a:rPr lang="pl-PL" sz="1800" b="1" i="1" kern="1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Aptos" panose="020B0004020202020204" pitchFamily="34" charset="0"/>
                                </a:rPr>
                                <m:t>𝑨</m:t>
                              </m:r>
                              <m:r>
                                <a:rPr lang="pl-PL" sz="1800" b="1" i="1" kern="1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ptos" panose="020B0004020202020204" pitchFamily="34" charset="0"/>
                                </a:rPr>
                                <m:t>⨁</m:t>
                              </m:r>
                              <m:r>
                                <a:rPr lang="pl-PL" sz="1800" b="1" i="1" kern="1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ptos" panose="020B0004020202020204" pitchFamily="34" charset="0"/>
                                </a:rPr>
                                <m:t>𝑩</m:t>
                              </m:r>
                            </m:oMath>
                          </a14:m>
                          <a:endParaRPr lang="pl-P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99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79043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/>
                            <a:t>0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242378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/>
                            <a:t>1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87309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/>
                            <a:t>1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082151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/>
                            <a:t>0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269193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ela 7">
                <a:extLst>
                  <a:ext uri="{FF2B5EF4-FFF2-40B4-BE49-F238E27FC236}">
                    <a16:creationId xmlns:a16="http://schemas.microsoft.com/office/drawing/2014/main" id="{5ACFB8E2-5E17-B7BE-FA50-F60E404763B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60238255"/>
                  </p:ext>
                </p:extLst>
              </p:nvPr>
            </p:nvGraphicFramePr>
            <p:xfrm>
              <a:off x="6359857" y="2050553"/>
              <a:ext cx="4046560" cy="1849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80531">
                      <a:extLst>
                        <a:ext uri="{9D8B030D-6E8A-4147-A177-3AD203B41FA5}">
                          <a16:colId xmlns:a16="http://schemas.microsoft.com/office/drawing/2014/main" val="2637805321"/>
                        </a:ext>
                      </a:extLst>
                    </a:gridCol>
                    <a:gridCol w="1125940">
                      <a:extLst>
                        <a:ext uri="{9D8B030D-6E8A-4147-A177-3AD203B41FA5}">
                          <a16:colId xmlns:a16="http://schemas.microsoft.com/office/drawing/2014/main" val="1767029813"/>
                        </a:ext>
                      </a:extLst>
                    </a:gridCol>
                    <a:gridCol w="1740089">
                      <a:extLst>
                        <a:ext uri="{9D8B030D-6E8A-4147-A177-3AD203B41FA5}">
                          <a16:colId xmlns:a16="http://schemas.microsoft.com/office/drawing/2014/main" val="2095563624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99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99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32867" t="-8333" r="-1049" b="-43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79043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/>
                            <a:t>0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242378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/>
                            <a:t>1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87309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/>
                            <a:t>1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082151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/>
                            <a:t>0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26919390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" name="Obraz 9">
            <a:extLst>
              <a:ext uri="{FF2B5EF4-FFF2-40B4-BE49-F238E27FC236}">
                <a16:creationId xmlns:a16="http://schemas.microsoft.com/office/drawing/2014/main" id="{8688F28A-241D-F3D0-24B9-0B6CA6027C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68" r="14768"/>
          <a:stretch/>
        </p:blipFill>
        <p:spPr>
          <a:xfrm>
            <a:off x="1503035" y="4688681"/>
            <a:ext cx="3132813" cy="139731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ela 12">
                <a:extLst>
                  <a:ext uri="{FF2B5EF4-FFF2-40B4-BE49-F238E27FC236}">
                    <a16:creationId xmlns:a16="http://schemas.microsoft.com/office/drawing/2014/main" id="{9E2929AD-E8F0-3954-B79D-9DDB277257F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39252530"/>
                  </p:ext>
                </p:extLst>
              </p:nvPr>
            </p:nvGraphicFramePr>
            <p:xfrm>
              <a:off x="6922827" y="4973331"/>
              <a:ext cx="2920620" cy="11074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80531">
                      <a:extLst>
                        <a:ext uri="{9D8B030D-6E8A-4147-A177-3AD203B41FA5}">
                          <a16:colId xmlns:a16="http://schemas.microsoft.com/office/drawing/2014/main" val="1192331598"/>
                        </a:ext>
                      </a:extLst>
                    </a:gridCol>
                    <a:gridCol w="1740089">
                      <a:extLst>
                        <a:ext uri="{9D8B030D-6E8A-4147-A177-3AD203B41FA5}">
                          <a16:colId xmlns:a16="http://schemas.microsoft.com/office/drawing/2014/main" val="677855379"/>
                        </a:ext>
                      </a:extLst>
                    </a:gridCol>
                  </a:tblGrid>
                  <a:tr h="2947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99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>
                              <a:solidFill>
                                <a:schemeClr val="tx1"/>
                              </a:solidFill>
                            </a:rPr>
                            <a:t>Y </a:t>
                          </a:r>
                          <a14:m>
                            <m:oMath xmlns:m="http://schemas.openxmlformats.org/officeDocument/2006/math">
                              <m:r>
                                <a:rPr lang="pl-PL" sz="1800" b="1" i="0" kern="1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Aptos" panose="020B0004020202020204" pitchFamily="34" charset="0"/>
                                </a:rPr>
                                <m:t>= </m:t>
                              </m:r>
                              <m:acc>
                                <m:accPr>
                                  <m:chr m:val="̅"/>
                                  <m:ctrlPr>
                                    <a:rPr lang="pl-PL" sz="1800" b="1" i="1" kern="1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algun Gothic" panose="020B0503020000020004" pitchFamily="34" charset="-127"/>
                                    </a:rPr>
                                  </m:ctrlPr>
                                </m:accPr>
                                <m:e>
                                  <m:r>
                                    <a:rPr lang="pl-PL" sz="1800" b="1" i="1" kern="1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Malgun Gothic" panose="020B0503020000020004" pitchFamily="34" charset="-127"/>
                                    </a:rPr>
                                    <m:t>𝑨</m:t>
                                  </m:r>
                                </m:e>
                              </m:acc>
                            </m:oMath>
                          </a14:m>
                          <a:endParaRPr lang="pl-PL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99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29623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77211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838906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ela 12">
                <a:extLst>
                  <a:ext uri="{FF2B5EF4-FFF2-40B4-BE49-F238E27FC236}">
                    <a16:creationId xmlns:a16="http://schemas.microsoft.com/office/drawing/2014/main" id="{9E2929AD-E8F0-3954-B79D-9DDB277257F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39252530"/>
                  </p:ext>
                </p:extLst>
              </p:nvPr>
            </p:nvGraphicFramePr>
            <p:xfrm>
              <a:off x="6922827" y="4973331"/>
              <a:ext cx="2920620" cy="11074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80531">
                      <a:extLst>
                        <a:ext uri="{9D8B030D-6E8A-4147-A177-3AD203B41FA5}">
                          <a16:colId xmlns:a16="http://schemas.microsoft.com/office/drawing/2014/main" val="1192331598"/>
                        </a:ext>
                      </a:extLst>
                    </a:gridCol>
                    <a:gridCol w="1740089">
                      <a:extLst>
                        <a:ext uri="{9D8B030D-6E8A-4147-A177-3AD203B41FA5}">
                          <a16:colId xmlns:a16="http://schemas.microsoft.com/office/drawing/2014/main" val="677855379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99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68182" t="-8333" r="-1399" b="-23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29623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77211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 b="1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B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l-PL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8389063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BEA31DFD-D5A4-DD58-AAEC-7E4D9CA0E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BAC0-DDFC-49BC-A164-59258706C6D7}" type="slidenum">
              <a:rPr lang="pl-PL" smtClean="0"/>
              <a:t>17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31173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48646-7611-473C-5E71-AA2C362A2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B76FD2B-4FB9-BDC7-9CB2-11237A6AB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l-PL" b="1" dirty="0"/>
              <a:t>Opis układów bramek logicznych w języku algebr Boole’a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34FCA97C-D8E9-00C6-2DEF-E70BA45BC2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61741" y="2005357"/>
            <a:ext cx="5892059" cy="3467395"/>
          </a:xfrm>
        </p:spPr>
      </p:pic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1C94F41-6420-E77B-D9AA-59EB05C57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BAC0-DDFC-49BC-A164-59258706C6D7}" type="slidenum">
              <a:rPr lang="pl-PL" smtClean="0"/>
              <a:t>18</a:t>
            </a:fld>
            <a:endParaRPr lang="pl-PL"/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2FC6E399-89CE-9330-6825-CA0C987AC551}"/>
              </a:ext>
            </a:extLst>
          </p:cNvPr>
          <p:cNvSpPr txBox="1"/>
          <p:nvPr/>
        </p:nvSpPr>
        <p:spPr>
          <a:xfrm>
            <a:off x="5534167" y="5588758"/>
            <a:ext cx="5819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dirty="0"/>
              <a:t>Przykładowy układ bramek logicznych: sumator zupełny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D7966161-CEDE-49A2-5E8D-B97DD0E5DE0C}"/>
                  </a:ext>
                </a:extLst>
              </p:cNvPr>
              <p:cNvSpPr txBox="1"/>
              <p:nvPr/>
            </p:nvSpPr>
            <p:spPr>
              <a:xfrm>
                <a:off x="634620" y="2831113"/>
                <a:ext cx="4394580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8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pl-PL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l-PL" sz="28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l-PL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  <m:r>
                        <a:rPr lang="pl-PL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pl-PL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  <m:sSub>
                        <m:sSubPr>
                          <m:ctrlPr>
                            <a:rPr lang="pl-PL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l-PL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pl-PL" sz="2800" b="0" dirty="0">
                  <a:ea typeface="Cambria Math" panose="02040503050406030204" pitchFamily="18" charset="0"/>
                </a:endParaRPr>
              </a:p>
              <a:p>
                <a:endParaRPr lang="pl-PL" sz="2800" dirty="0">
                  <a:ea typeface="Cambria Math" panose="02040503050406030204" pitchFamily="18" charset="0"/>
                </a:endParaRPr>
              </a:p>
              <a:p>
                <a:endParaRPr lang="pl-PL" sz="28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l-PL" sz="28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pl-PL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l-PL" sz="28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l-PL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pl-PL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pl-PL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l-PL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l-PL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pl-PL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∙(</m:t>
                      </m:r>
                      <m:r>
                        <a:rPr lang="pl-PL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pl-PL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  <m:r>
                        <a:rPr lang="pl-PL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pl-PL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l-PL" sz="2800" dirty="0"/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D7966161-CEDE-49A2-5E8D-B97DD0E5DE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620" y="2831113"/>
                <a:ext cx="4394580" cy="181588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05761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9EC3B-5439-C403-9EE7-E80542414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B2A1AB7-8C4C-A440-9D01-271BBA00F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02631"/>
            <a:ext cx="10515600" cy="2852737"/>
          </a:xfrm>
          <a:noFill/>
          <a:ln cmpd="thickThin">
            <a:noFill/>
            <a:prstDash val="sys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0515600"/>
                      <a:gd name="connsiteY0" fmla="*/ 0 h 2852737"/>
                      <a:gd name="connsiteX1" fmla="*/ 10515600 w 10515600"/>
                      <a:gd name="connsiteY1" fmla="*/ 0 h 2852737"/>
                      <a:gd name="connsiteX2" fmla="*/ 10515600 w 10515600"/>
                      <a:gd name="connsiteY2" fmla="*/ 2852737 h 2852737"/>
                      <a:gd name="connsiteX3" fmla="*/ 0 w 10515600"/>
                      <a:gd name="connsiteY3" fmla="*/ 2852737 h 2852737"/>
                      <a:gd name="connsiteX4" fmla="*/ 0 w 10515600"/>
                      <a:gd name="connsiteY4" fmla="*/ 0 h 285273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515600" h="2852737" extrusionOk="0">
                        <a:moveTo>
                          <a:pt x="0" y="0"/>
                        </a:moveTo>
                        <a:cubicBezTo>
                          <a:pt x="2385074" y="118645"/>
                          <a:pt x="7736396" y="116012"/>
                          <a:pt x="10515600" y="0"/>
                        </a:cubicBezTo>
                        <a:cubicBezTo>
                          <a:pt x="10382718" y="417896"/>
                          <a:pt x="10600551" y="1516192"/>
                          <a:pt x="10515600" y="2852737"/>
                        </a:cubicBezTo>
                        <a:cubicBezTo>
                          <a:pt x="8570514" y="2987337"/>
                          <a:pt x="4733866" y="2695541"/>
                          <a:pt x="0" y="2852737"/>
                        </a:cubicBezTo>
                        <a:cubicBezTo>
                          <a:pt x="-20187" y="2382979"/>
                          <a:pt x="-152480" y="36015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anchor="ctr">
            <a:normAutofit/>
          </a:bodyPr>
          <a:lstStyle/>
          <a:p>
            <a:r>
              <a:rPr lang="pl-PL" b="1" dirty="0"/>
              <a:t>Pytanie 13 </a:t>
            </a:r>
            <a:br>
              <a:rPr lang="pl-PL" b="1" dirty="0"/>
            </a:br>
            <a:r>
              <a:rPr lang="pl-PL" b="1" dirty="0"/>
              <a:t>– Podstawowe metody całkowania numerycznego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44CFA6D9-524A-6AD8-6562-4DA7515F3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BAC0-DDFC-49BC-A164-59258706C6D7}" type="slidenum">
              <a:rPr lang="pl-PL" smtClean="0"/>
              <a:t>19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841072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EA8EC17-E74A-D805-5026-ED06F20A1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l-PL" b="1" dirty="0"/>
              <a:t>Geometryczna interpretacja całki oznaczonej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7F8D8648-29BF-9242-08D0-282383E790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224821"/>
                <a:ext cx="4655024" cy="3196752"/>
              </a:xfrm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pl-PL" dirty="0"/>
                  <a:t>Pole figury wyznaczonej przez punkty a i b jest równe całce oznaczonej na [</a:t>
                </a:r>
                <a:r>
                  <a:rPr lang="pl-PL" dirty="0" err="1"/>
                  <a:t>a,b</a:t>
                </a:r>
                <a:r>
                  <a:rPr lang="pl-PL" dirty="0"/>
                  <a:t>]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pl-PL" b="0" i="1" smtClean="0">
                          <a:latin typeface="Cambria Math" panose="02040503050406030204" pitchFamily="18" charset="0"/>
                        </a:rPr>
                        <m:t>=±</m:t>
                      </m:r>
                      <m:nary>
                        <m:naryPr>
                          <m:ctrlPr>
                            <a:rPr lang="pl-PL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pl-PL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pl-PL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pl-PL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l-PL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pl-PL" b="0" i="1" smtClean="0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pl-PL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endParaRPr lang="pl-PL" dirty="0"/>
              </a:p>
              <a:p>
                <a:pPr marL="0" indent="0">
                  <a:buNone/>
                </a:pPr>
                <a:endParaRPr lang="pl-PL" dirty="0"/>
              </a:p>
              <a:p>
                <a:pPr marL="0" indent="0">
                  <a:buNone/>
                </a:pPr>
                <a:endParaRPr lang="pl-PL" dirty="0"/>
              </a:p>
            </p:txBody>
          </p:sp>
        </mc:Choice>
        <mc:Fallback xmlns="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7F8D8648-29BF-9242-08D0-282383E790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224821"/>
                <a:ext cx="4655024" cy="3196752"/>
              </a:xfrm>
              <a:blipFill>
                <a:blip r:embed="rId3"/>
                <a:stretch>
                  <a:fillRect l="-655" t="-3244" r="-23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1B10FD60-0DB9-6B1C-4CE9-34B1C9284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BAC0-DDFC-49BC-A164-59258706C6D7}" type="slidenum">
              <a:rPr lang="pl-PL" smtClean="0"/>
              <a:t>20</a:t>
            </a:fld>
            <a:endParaRPr lang="pl-PL"/>
          </a:p>
        </p:txBody>
      </p:sp>
      <p:pic>
        <p:nvPicPr>
          <p:cNvPr id="6" name="Obraz 5" descr="Obraz zawierający Grafika, zrzut ekranu, Wielobarwność, linia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8B6D0F6F-6BDC-CE1D-B9D7-72EB2DF2C8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9497" y="2004336"/>
            <a:ext cx="4422205" cy="3637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8833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38F875A-72B1-5020-8001-EBEEA7FFF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8496"/>
            <a:ext cx="10515600" cy="822230"/>
          </a:xfrm>
        </p:spPr>
        <p:txBody>
          <a:bodyPr/>
          <a:lstStyle/>
          <a:p>
            <a:pPr algn="ctr"/>
            <a:r>
              <a:rPr lang="pl-PL" b="1" dirty="0"/>
              <a:t>definicja całki Riemanna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E2F0505A-58F3-E18F-D030-3D67F2CB1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BAC0-DDFC-49BC-A164-59258706C6D7}" type="slidenum">
              <a:rPr lang="pl-PL" smtClean="0"/>
              <a:t>21</a:t>
            </a:fld>
            <a:endParaRPr lang="pl-P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Symbol zastępczy zawartości 13">
                <a:extLst>
                  <a:ext uri="{FF2B5EF4-FFF2-40B4-BE49-F238E27FC236}">
                    <a16:creationId xmlns:a16="http://schemas.microsoft.com/office/drawing/2014/main" id="{9C4651F2-DD33-8B40-9CD8-C5D604599D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anchor="ctr"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pl-PL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pl-PL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pl-PL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pl-PL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l-PL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  <m:r>
                        <a:rPr lang="pl-PL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pl-PL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l-PL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l-PL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l-PL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l-P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pl-PL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l-PL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l-PL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l-PL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pl-PL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pl-PL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pl-PL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pl-PL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pl-P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l-G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el-G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l-PL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func>
                    </m:oMath>
                  </m:oMathPara>
                </a14:m>
                <a:endParaRPr lang="pl-PL" dirty="0"/>
              </a:p>
              <a:p>
                <a:pPr marL="0" indent="0">
                  <a:buNone/>
                </a:pPr>
                <a:endParaRPr lang="pl-PL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l-G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l-P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l-PL" dirty="0"/>
                  <a:t> - szerokość podprzedziałów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pl-P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r>
                      <a:rPr lang="pl-P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∈[</m:t>
                    </m:r>
                    <m:sSub>
                      <m:sSubPr>
                        <m:ctrlPr>
                          <a:rPr lang="pl-P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l-P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pl-P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pl-P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l-P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l-P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pl-P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pl-PL" dirty="0"/>
                  <a:t> </a:t>
                </a:r>
              </a:p>
            </p:txBody>
          </p:sp>
        </mc:Choice>
        <mc:Fallback xmlns="">
          <p:sp>
            <p:nvSpPr>
              <p:cNvPr id="14" name="Symbol zastępczy zawartości 13">
                <a:extLst>
                  <a:ext uri="{FF2B5EF4-FFF2-40B4-BE49-F238E27FC236}">
                    <a16:creationId xmlns:a16="http://schemas.microsoft.com/office/drawing/2014/main" id="{9C4651F2-DD33-8B40-9CD8-C5D604599D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01276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27098-4853-7D70-C6FC-2B0D76065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83ADEF5-6BB7-7FB2-1B14-F60520668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8496"/>
            <a:ext cx="10515600" cy="822230"/>
          </a:xfrm>
        </p:spPr>
        <p:txBody>
          <a:bodyPr/>
          <a:lstStyle/>
          <a:p>
            <a:pPr algn="ctr"/>
            <a:r>
              <a:rPr lang="pl-PL" b="1" dirty="0"/>
              <a:t>definicja całki Riemanna</a:t>
            </a:r>
          </a:p>
        </p:txBody>
      </p:sp>
      <p:pic>
        <p:nvPicPr>
          <p:cNvPr id="6" name="Symbol zastępczy zawartości 5" descr="Obraz zawierający diagram, linia, Wykres, design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A7ED842F-12AF-64D3-6F58-6D55AE62CB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7479" y="1735844"/>
            <a:ext cx="4572347" cy="3943348"/>
          </a:xfrm>
        </p:spPr>
      </p:pic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5C4C13AF-9215-003E-3F98-727B01B5A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BAC0-DDFC-49BC-A164-59258706C6D7}" type="slidenum">
              <a:rPr lang="pl-PL" smtClean="0"/>
              <a:t>22</a:t>
            </a:fld>
            <a:endParaRPr lang="pl-PL"/>
          </a:p>
        </p:txBody>
      </p:sp>
      <p:pic>
        <p:nvPicPr>
          <p:cNvPr id="8" name="Obraz 7" descr="Obraz zawierający linia, diagram, Wykres, Czcionka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FC3FFD75-418B-A491-7A04-93992E613B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1735844"/>
            <a:ext cx="4845025" cy="3943348"/>
          </a:xfrm>
          <a:prstGeom prst="rect">
            <a:avLst/>
          </a:prstGeom>
        </p:spPr>
      </p:pic>
      <p:sp>
        <p:nvSpPr>
          <p:cNvPr id="9" name="pole tekstowe 8">
            <a:extLst>
              <a:ext uri="{FF2B5EF4-FFF2-40B4-BE49-F238E27FC236}">
                <a16:creationId xmlns:a16="http://schemas.microsoft.com/office/drawing/2014/main" id="{9CBD7832-84D9-2221-77EB-D3AF938062D2}"/>
              </a:ext>
            </a:extLst>
          </p:cNvPr>
          <p:cNvSpPr txBox="1"/>
          <p:nvPr/>
        </p:nvSpPr>
        <p:spPr>
          <a:xfrm>
            <a:off x="1207479" y="5833105"/>
            <a:ext cx="4524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b="1" dirty="0"/>
              <a:t>Dolna suma całkowa</a:t>
            </a: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D140CD4F-B4CB-35E1-3AC1-4465A26EF19D}"/>
              </a:ext>
            </a:extLst>
          </p:cNvPr>
          <p:cNvSpPr txBox="1"/>
          <p:nvPr/>
        </p:nvSpPr>
        <p:spPr>
          <a:xfrm>
            <a:off x="6091380" y="5833105"/>
            <a:ext cx="48450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l-PL" b="1" dirty="0"/>
              <a:t>Górna suma całkowa</a:t>
            </a:r>
          </a:p>
        </p:txBody>
      </p:sp>
    </p:spTree>
    <p:extLst>
      <p:ext uri="{BB962C8B-B14F-4D97-AF65-F5344CB8AC3E}">
        <p14:creationId xmlns:p14="http://schemas.microsoft.com/office/powerpoint/2010/main" val="16312422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63D8EE0-3FB7-DA1D-0824-816FD2385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b="1" dirty="0"/>
              <a:t>Metody całkowania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8D0430A-5A34-3933-2DC7-D2E0D5D7BA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7460"/>
            <a:ext cx="10515600" cy="2563079"/>
          </a:xfrm>
        </p:spPr>
        <p:txBody>
          <a:bodyPr>
            <a:normAutofit/>
          </a:bodyPr>
          <a:lstStyle/>
          <a:p>
            <a:r>
              <a:rPr lang="pl-PL" sz="3600" dirty="0"/>
              <a:t>Metoda prostokątów</a:t>
            </a:r>
          </a:p>
          <a:p>
            <a:r>
              <a:rPr lang="pl-PL" sz="3600" dirty="0"/>
              <a:t>Metoda trapezów</a:t>
            </a:r>
          </a:p>
          <a:p>
            <a:r>
              <a:rPr lang="pl-PL" sz="3600" dirty="0"/>
              <a:t>Metoda Simpsona</a:t>
            </a:r>
          </a:p>
          <a:p>
            <a:r>
              <a:rPr lang="pl-PL" sz="3600" dirty="0"/>
              <a:t>Metoda Monte Carlo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7D1ED43C-9993-C46A-D07F-2CAF96590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BAC0-DDFC-49BC-A164-59258706C6D7}" type="slidenum">
              <a:rPr lang="pl-PL" smtClean="0"/>
              <a:t>23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426552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6B584-4427-491C-B4C6-F53A9E198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A0A7EB5-3EFF-B768-6C70-CFFB67942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b="1" dirty="0"/>
              <a:t>Metody całkowania – Metoda prostokątów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C472D9B-5246-B1CB-9980-272A67336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0431" y="2367887"/>
            <a:ext cx="5521657" cy="29547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dirty="0"/>
              <a:t>Dzielimy przedział na n odcinków </a:t>
            </a:r>
            <a:br>
              <a:rPr lang="pl-PL" dirty="0"/>
            </a:br>
            <a:r>
              <a:rPr lang="pl-PL" dirty="0"/>
              <a:t>i liczymy sumę pól prostokątów.</a:t>
            </a:r>
          </a:p>
          <a:p>
            <a:pPr marL="0" indent="0">
              <a:buNone/>
            </a:pPr>
            <a:r>
              <a:rPr lang="pl-PL" dirty="0"/>
              <a:t>3 metody dzielenia prostokątów:</a:t>
            </a:r>
          </a:p>
          <a:p>
            <a:r>
              <a:rPr lang="pl-PL" dirty="0"/>
              <a:t>Metoda lewych prostokątów</a:t>
            </a:r>
          </a:p>
          <a:p>
            <a:r>
              <a:rPr lang="pl-PL" dirty="0"/>
              <a:t>Metoda prawych prostokątów</a:t>
            </a:r>
          </a:p>
          <a:p>
            <a:r>
              <a:rPr lang="pl-PL" dirty="0"/>
              <a:t>Metoda środkowych prostokątów 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7A267C9D-B0AA-F30A-E8EA-578996493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BAC0-DDFC-49BC-A164-59258706C6D7}" type="slidenum">
              <a:rPr lang="pl-PL" smtClean="0"/>
              <a:t>24</a:t>
            </a:fld>
            <a:endParaRPr lang="pl-PL"/>
          </a:p>
        </p:txBody>
      </p:sp>
      <p:pic>
        <p:nvPicPr>
          <p:cNvPr id="6" name="Obraz 5" descr="Obraz zawierający linia, diagram, Prostokąt, design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9E4F8D7D-CDF1-CA73-4919-E8AEF90A3B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1399" y="1469802"/>
            <a:ext cx="4782401" cy="2624526"/>
          </a:xfrm>
          <a:prstGeom prst="rect">
            <a:avLst/>
          </a:prstGeom>
        </p:spPr>
      </p:pic>
      <p:pic>
        <p:nvPicPr>
          <p:cNvPr id="8" name="Obraz 7" descr="Obraz zawierający diagram, linia, Wykres, design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1DC0EE3B-A0DA-7DD2-3E1C-4B6831D9A8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9039" y="4402369"/>
            <a:ext cx="4884761" cy="1714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0289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D9333-BF5E-00F7-64F0-B8BB1D2D7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5C384CD-3E9D-F733-3E19-E66579043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b="1" dirty="0"/>
              <a:t>Metody całkowania – Metoda trapezów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25ABD51-73C8-8E99-105E-C8465B3DE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790966"/>
            <a:ext cx="5166815" cy="12760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dirty="0"/>
              <a:t>Dzielimy przedział na </a:t>
            </a:r>
            <a:br>
              <a:rPr lang="pl-PL" dirty="0"/>
            </a:br>
            <a:r>
              <a:rPr lang="pl-PL" dirty="0"/>
              <a:t>n podprzedziałów i liczymy sumę pól trapezu.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B67F5586-0E00-105B-8E36-7C0097F30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BAC0-DDFC-49BC-A164-59258706C6D7}" type="slidenum">
              <a:rPr lang="pl-PL" smtClean="0"/>
              <a:t>25</a:t>
            </a:fld>
            <a:endParaRPr lang="pl-PL"/>
          </a:p>
        </p:txBody>
      </p:sp>
      <p:pic>
        <p:nvPicPr>
          <p:cNvPr id="10" name="Obraz 9" descr="Obraz zawierający linia, diagram, Wykres, szkic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2C05758B-F42E-A0A9-32CD-A522A3EB05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6987" y="2019364"/>
            <a:ext cx="5098322" cy="2819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9432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7A621-6EF6-37F9-2CC1-E9876EBCC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CC0404F-0CE6-244D-CD18-F4B336A96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b="1" dirty="0"/>
              <a:t>Metody całkowania – Metoda Simpsona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218ECD1B-E8EA-D690-31B2-83B0239D29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15152"/>
                <a:ext cx="6524768" cy="4541198"/>
              </a:xfrm>
            </p:spPr>
            <p:txBody>
              <a:bodyPr anchor="ctr">
                <a:normAutofit fontScale="925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pl-PL" dirty="0"/>
                  <a:t>Dzielimy przedział na parzystą liczbę odcinków.</a:t>
                </a:r>
              </a:p>
              <a:p>
                <a:pPr>
                  <a:lnSpc>
                    <a:spcPct val="120000"/>
                  </a:lnSpc>
                </a:pPr>
                <a:r>
                  <a:rPr lang="pl-PL" dirty="0"/>
                  <a:t>Bierzemy po 3 punkty i wyznaczamy parabolę.</a:t>
                </a:r>
              </a:p>
              <a:p>
                <a:pPr>
                  <a:lnSpc>
                    <a:spcPct val="120000"/>
                  </a:lnSpc>
                </a:pPr>
                <a:r>
                  <a:rPr lang="pl-PL" dirty="0"/>
                  <a:t>Liczymy pole pod parabolą i je sumujemy.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pl-P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pl-PL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l-PL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pl-PL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pl-PL" b="0" i="1" smtClean="0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pl-P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pl-PL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l-PL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l-P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pl-PL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pl-PL" b="0" i="1" smtClean="0">
                          <a:latin typeface="Cambria Math" panose="02040503050406030204" pitchFamily="18" charset="0"/>
                        </a:rPr>
                        <m:t>+4</m:t>
                      </m:r>
                      <m:nary>
                        <m:naryPr>
                          <m:chr m:val="∑"/>
                          <m:ctrlPr>
                            <a:rPr lang="pl-PL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l-PL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f>
                            <m:fPr>
                              <m:ctrlPr>
                                <a:rPr lang="pl-PL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l-PL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pl-PL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pl-PL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pl-PL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pl-PL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l-PL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l-PL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pl-PL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  <m:nary>
                            <m:naryPr>
                              <m:chr m:val="∑"/>
                              <m:ctrlPr>
                                <a:rPr lang="pl-PL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l-PL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l-PL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f>
                                <m:fPr>
                                  <m:ctrlPr>
                                    <a:rPr lang="pl-PL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l-PL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pl-PL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pl-PL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pl-PL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pl-PL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pl-PL" b="0" i="1" smtClean="0">
                                      <a:latin typeface="Cambria Math" panose="02040503050406030204" pitchFamily="18" charset="0"/>
                                    </a:rPr>
                                    <m:t>+2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  <m:r>
                        <a:rPr lang="pl-PL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pl-PL" dirty="0"/>
              </a:p>
            </p:txBody>
          </p:sp>
        </mc:Choice>
        <mc:Fallback xmlns="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218ECD1B-E8EA-D690-31B2-83B0239D29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15152"/>
                <a:ext cx="6524768" cy="4541198"/>
              </a:xfrm>
              <a:blipFill>
                <a:blip r:embed="rId3"/>
                <a:stretch>
                  <a:fillRect l="-14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79FBD752-A8EB-B4D7-9A68-7862AF85D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BAC0-DDFC-49BC-A164-59258706C6D7}" type="slidenum">
              <a:rPr lang="pl-PL" smtClean="0"/>
              <a:t>26</a:t>
            </a:fld>
            <a:endParaRPr lang="pl-PL"/>
          </a:p>
        </p:txBody>
      </p:sp>
      <p:pic>
        <p:nvPicPr>
          <p:cNvPr id="6" name="Obraz 5" descr="Obraz zawierający linia, Grafika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813F6868-F975-F651-57FE-44F5570FA1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005" y="2043752"/>
            <a:ext cx="3307557" cy="2988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772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24292-F1B2-C629-C20F-33D37B6C8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6C577E6-1223-91F8-1E29-A22FF6492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b="1" dirty="0"/>
              <a:t>Metody całkowania – Metoda Monte Carlo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2A176D5-F8FC-494E-13F8-FD3673503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5152"/>
            <a:ext cx="6613478" cy="4046561"/>
          </a:xfrm>
        </p:spPr>
        <p:txBody>
          <a:bodyPr>
            <a:normAutofit/>
          </a:bodyPr>
          <a:lstStyle/>
          <a:p>
            <a:r>
              <a:rPr lang="pl-PL" dirty="0"/>
              <a:t>Tworzymy prostokąt na przedziale.</a:t>
            </a:r>
          </a:p>
          <a:p>
            <a:r>
              <a:rPr lang="pl-PL" dirty="0"/>
              <a:t>„Rzucamy” losowymi punktami z przestrzeni.</a:t>
            </a:r>
          </a:p>
          <a:p>
            <a:r>
              <a:rPr lang="pl-PL" dirty="0"/>
              <a:t>Liczymy ile znajduje się między wykresem, a osią x</a:t>
            </a:r>
          </a:p>
          <a:p>
            <a:r>
              <a:rPr lang="pl-PL" dirty="0"/>
              <a:t>Dzielimy to przez ilość wszystkich punktów</a:t>
            </a:r>
          </a:p>
          <a:p>
            <a:r>
              <a:rPr lang="pl-PL" dirty="0"/>
              <a:t>Mnożymy przez pole prostokąta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5FDDC793-C47B-6963-277F-E07EC368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BAC0-DDFC-49BC-A164-59258706C6D7}" type="slidenum">
              <a:rPr lang="pl-PL" smtClean="0"/>
              <a:t>27</a:t>
            </a:fld>
            <a:endParaRPr lang="pl-PL"/>
          </a:p>
        </p:txBody>
      </p:sp>
      <p:pic>
        <p:nvPicPr>
          <p:cNvPr id="6" name="Obraz 5" descr="Obraz zawierający diagram, linia, Wykres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A1AEEE6B-B988-F4F1-BA16-DDB67A4BC8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9938" y="2222025"/>
            <a:ext cx="3783862" cy="323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307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527EE-4E8F-4486-191E-D598194E9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9E3ECDC-C266-B0E2-04D0-9CB94EA28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b="1" dirty="0"/>
              <a:t>Dokładność obliczeń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D97B28CC-4B08-9EAC-20A0-082D6D044F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147460"/>
                <a:ext cx="10515600" cy="402132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pl-PL" sz="3600" dirty="0"/>
                  <a:t>Metoda prostokątów</a:t>
                </a:r>
              </a:p>
              <a:p>
                <a:pPr lvl="1"/>
                <a:r>
                  <a:rPr lang="pl-PL" sz="3200" dirty="0"/>
                  <a:t>Niska dokładność</a:t>
                </a:r>
              </a:p>
              <a:p>
                <a:pPr lvl="1"/>
                <a:r>
                  <a:rPr lang="pl-PL" sz="3200" dirty="0"/>
                  <a:t>Błąd rzędu </a:t>
                </a:r>
                <a14:m>
                  <m:oMath xmlns:m="http://schemas.openxmlformats.org/officeDocument/2006/math">
                    <m:r>
                      <a:rPr lang="pl-PL" sz="32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pl-PL" sz="3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l-PL" sz="32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pl-PL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l-PL" sz="3200" dirty="0"/>
                  <a:t> </a:t>
                </a:r>
              </a:p>
              <a:p>
                <a:pPr marL="0" indent="0">
                  <a:buNone/>
                </a:pPr>
                <a:r>
                  <a:rPr lang="pl-PL" sz="3600" dirty="0"/>
                  <a:t>Metoda trapezów</a:t>
                </a:r>
              </a:p>
              <a:p>
                <a:pPr lvl="1"/>
                <a:r>
                  <a:rPr lang="pl-PL" sz="3200" dirty="0"/>
                  <a:t>Dokładniejsza od poprzedniej metody </a:t>
                </a:r>
              </a:p>
              <a:p>
                <a:pPr lvl="1"/>
                <a:r>
                  <a:rPr lang="pl-PL" sz="3200" dirty="0"/>
                  <a:t>Błąd rzędu </a:t>
                </a:r>
                <a14:m>
                  <m:oMath xmlns:m="http://schemas.openxmlformats.org/officeDocument/2006/math">
                    <m:r>
                      <a:rPr lang="pl-PL" sz="3200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pl-PL" sz="32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pl-PL" sz="3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l-PL" sz="32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pl-PL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l-PL" sz="3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l-PL" sz="3200" dirty="0"/>
              </a:p>
              <a:p>
                <a:endParaRPr lang="pl-PL" sz="3600" dirty="0"/>
              </a:p>
              <a:p>
                <a:pPr marL="0" indent="0">
                  <a:buNone/>
                </a:pPr>
                <a:endParaRPr lang="pl-PL" sz="3600" dirty="0"/>
              </a:p>
            </p:txBody>
          </p:sp>
        </mc:Choice>
        <mc:Fallback xmlns="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D97B28CC-4B08-9EAC-20A0-082D6D044F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147460"/>
                <a:ext cx="10515600" cy="4021328"/>
              </a:xfrm>
              <a:blipFill>
                <a:blip r:embed="rId3"/>
                <a:stretch>
                  <a:fillRect l="-1797" t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7F970F23-FBE6-D791-540F-62172D60A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BAC0-DDFC-49BC-A164-59258706C6D7}" type="slidenum">
              <a:rPr lang="pl-PL" smtClean="0"/>
              <a:t>28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63690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6D252-5BD7-2380-8E26-76C2A4948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0B4A913-E0EA-E498-8419-DFB6D6823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b="1" dirty="0"/>
              <a:t>Dokładność obliczeń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5F59D9D8-B86A-5E81-6017-A8EE6175CB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147460"/>
                <a:ext cx="10515600" cy="402132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pl-PL" sz="3600" dirty="0"/>
                  <a:t>Metoda Simpsona</a:t>
                </a:r>
              </a:p>
              <a:p>
                <a:pPr lvl="1"/>
                <a:r>
                  <a:rPr lang="pl-PL" sz="3200" dirty="0"/>
                  <a:t>Bardzo dokładna</a:t>
                </a:r>
              </a:p>
              <a:p>
                <a:pPr lvl="1"/>
                <a:r>
                  <a:rPr lang="pl-PL" sz="3200" dirty="0"/>
                  <a:t>Błąd rzędu</a:t>
                </a:r>
                <a14:m>
                  <m:oMath xmlns:m="http://schemas.openxmlformats.org/officeDocument/2006/math">
                    <m:r>
                      <a:rPr lang="pl-PL" sz="3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l-PL" sz="3200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pl-PL" sz="32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pl-PL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l-PL" sz="32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pl-PL" sz="3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pl-PL" sz="3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l-PL" sz="3200" dirty="0"/>
              </a:p>
              <a:p>
                <a:pPr marL="0" indent="0">
                  <a:buNone/>
                </a:pPr>
                <a:r>
                  <a:rPr lang="pl-PL" sz="3600" dirty="0"/>
                  <a:t>Metoda Monte Carlo</a:t>
                </a:r>
              </a:p>
              <a:p>
                <a:pPr lvl="1"/>
                <a:r>
                  <a:rPr lang="pl-PL" sz="3200" dirty="0"/>
                  <a:t>Dokładność zależna od generatora i liczby punktów</a:t>
                </a:r>
              </a:p>
            </p:txBody>
          </p:sp>
        </mc:Choice>
        <mc:Fallback xmlns="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5F59D9D8-B86A-5E81-6017-A8EE6175CB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147460"/>
                <a:ext cx="10515600" cy="4021328"/>
              </a:xfrm>
              <a:blipFill>
                <a:blip r:embed="rId3"/>
                <a:stretch>
                  <a:fillRect l="-1797" t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3A50BEE4-737B-9102-AF73-7ABB9F569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BAC0-DDFC-49BC-A164-59258706C6D7}" type="slidenum">
              <a:rPr lang="pl-PL" smtClean="0"/>
              <a:t>29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06639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F7B78-3DFB-A429-30D6-E71D2022D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7A45C3A-C433-C62F-3F9E-B104F9341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02631"/>
            <a:ext cx="10515600" cy="2852737"/>
          </a:xfrm>
          <a:noFill/>
          <a:ln cmpd="thickThin">
            <a:noFill/>
            <a:prstDash val="sys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0515600"/>
                      <a:gd name="connsiteY0" fmla="*/ 0 h 2852737"/>
                      <a:gd name="connsiteX1" fmla="*/ 10515600 w 10515600"/>
                      <a:gd name="connsiteY1" fmla="*/ 0 h 2852737"/>
                      <a:gd name="connsiteX2" fmla="*/ 10515600 w 10515600"/>
                      <a:gd name="connsiteY2" fmla="*/ 2852737 h 2852737"/>
                      <a:gd name="connsiteX3" fmla="*/ 0 w 10515600"/>
                      <a:gd name="connsiteY3" fmla="*/ 2852737 h 2852737"/>
                      <a:gd name="connsiteX4" fmla="*/ 0 w 10515600"/>
                      <a:gd name="connsiteY4" fmla="*/ 0 h 285273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515600" h="2852737" extrusionOk="0">
                        <a:moveTo>
                          <a:pt x="0" y="0"/>
                        </a:moveTo>
                        <a:cubicBezTo>
                          <a:pt x="2385074" y="118645"/>
                          <a:pt x="7736396" y="116012"/>
                          <a:pt x="10515600" y="0"/>
                        </a:cubicBezTo>
                        <a:cubicBezTo>
                          <a:pt x="10382718" y="417896"/>
                          <a:pt x="10600551" y="1516192"/>
                          <a:pt x="10515600" y="2852737"/>
                        </a:cubicBezTo>
                        <a:cubicBezTo>
                          <a:pt x="8570514" y="2987337"/>
                          <a:pt x="4733866" y="2695541"/>
                          <a:pt x="0" y="2852737"/>
                        </a:cubicBezTo>
                        <a:cubicBezTo>
                          <a:pt x="-20187" y="2382979"/>
                          <a:pt x="-152480" y="36015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anchor="ctr"/>
          <a:lstStyle/>
          <a:p>
            <a:r>
              <a:rPr lang="pl-PL" b="1" dirty="0"/>
              <a:t>Pytanie 25 </a:t>
            </a:r>
            <a:br>
              <a:rPr lang="pl-PL" b="1" dirty="0"/>
            </a:br>
            <a:r>
              <a:rPr lang="pl-PL" b="1" dirty="0"/>
              <a:t>- Technologie w programowaniu grafiki komputerowej 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2FEC3CFC-18F4-F1E7-F838-D3D498C3D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BAC0-DDFC-49BC-A164-59258706C6D7}" type="slidenum">
              <a:rPr lang="pl-PL" smtClean="0"/>
              <a:t>30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903197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E7FC460-A81F-C798-CE09-4644F2507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ctr"/>
            <a:r>
              <a:rPr lang="pl-PL" sz="4400" b="1" dirty="0"/>
              <a:t>Języki programowania grafiki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280C270-ECC1-3789-2827-9E3D681E2B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2511"/>
            <a:ext cx="10515600" cy="3032978"/>
          </a:xfrm>
        </p:spPr>
        <p:txBody>
          <a:bodyPr numCol="2">
            <a:normAutofit fontScale="92500" lnSpcReduction="10000"/>
          </a:bodyPr>
          <a:lstStyle/>
          <a:p>
            <a:r>
              <a:rPr lang="pl-PL" sz="4000" dirty="0"/>
              <a:t>C</a:t>
            </a:r>
          </a:p>
          <a:p>
            <a:r>
              <a:rPr lang="pl-PL" sz="4000" dirty="0"/>
              <a:t>C++</a:t>
            </a:r>
          </a:p>
          <a:p>
            <a:r>
              <a:rPr lang="pl-PL" sz="4000" dirty="0"/>
              <a:t>C#</a:t>
            </a:r>
          </a:p>
          <a:p>
            <a:r>
              <a:rPr lang="pl-PL" sz="4000" dirty="0"/>
              <a:t>GLSL</a:t>
            </a:r>
          </a:p>
          <a:p>
            <a:r>
              <a:rPr lang="pl-PL" sz="4000" dirty="0"/>
              <a:t>HLSL</a:t>
            </a:r>
          </a:p>
          <a:p>
            <a:r>
              <a:rPr lang="pl-PL" sz="4000" dirty="0"/>
              <a:t>Java</a:t>
            </a:r>
          </a:p>
          <a:p>
            <a:r>
              <a:rPr lang="pl-PL" sz="4000" dirty="0"/>
              <a:t>JavaScript</a:t>
            </a:r>
          </a:p>
          <a:p>
            <a:r>
              <a:rPr lang="pl-PL" sz="4000" dirty="0"/>
              <a:t>P5</a:t>
            </a:r>
          </a:p>
          <a:p>
            <a:r>
              <a:rPr lang="pl-PL" sz="4000" dirty="0" err="1"/>
              <a:t>Python</a:t>
            </a:r>
            <a:endParaRPr lang="pl-PL" sz="4000" dirty="0"/>
          </a:p>
          <a:p>
            <a:endParaRPr lang="pl-PL" dirty="0"/>
          </a:p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BEE4C8A0-1132-3683-FA3E-4B3024225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BAC0-DDFC-49BC-A164-59258706C6D7}" type="slidenum">
              <a:rPr lang="pl-PL" smtClean="0"/>
              <a:t>31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130046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CE28601-B2E5-015F-E6A5-26D981A80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b="1" dirty="0"/>
              <a:t>Wykorzystywane platformy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6C62504-06C6-5CA1-6FAF-25679A0784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5812"/>
            <a:ext cx="10515600" cy="2746375"/>
          </a:xfrm>
        </p:spPr>
        <p:txBody>
          <a:bodyPr numCol="2">
            <a:normAutofit/>
          </a:bodyPr>
          <a:lstStyle/>
          <a:p>
            <a:r>
              <a:rPr lang="pl-PL" sz="4000" dirty="0" err="1"/>
              <a:t>Blender</a:t>
            </a:r>
            <a:endParaRPr lang="pl-PL" sz="4000" dirty="0"/>
          </a:p>
          <a:p>
            <a:r>
              <a:rPr lang="pl-PL" sz="4000" dirty="0"/>
              <a:t>Unity</a:t>
            </a:r>
          </a:p>
          <a:p>
            <a:r>
              <a:rPr lang="pl-PL" sz="4000" dirty="0" err="1"/>
              <a:t>Unreal</a:t>
            </a:r>
            <a:r>
              <a:rPr lang="pl-PL" sz="4000" dirty="0"/>
              <a:t> Engine</a:t>
            </a:r>
          </a:p>
          <a:p>
            <a:r>
              <a:rPr lang="pl-PL" sz="4000" dirty="0"/>
              <a:t>Godot Engine</a:t>
            </a:r>
          </a:p>
          <a:p>
            <a:r>
              <a:rPr lang="pl-PL" sz="4000" dirty="0" err="1"/>
              <a:t>Autodesk</a:t>
            </a:r>
            <a:r>
              <a:rPr lang="pl-PL" sz="4000" dirty="0"/>
              <a:t> Maya</a:t>
            </a:r>
          </a:p>
          <a:p>
            <a:r>
              <a:rPr lang="pl-PL" sz="4000" dirty="0" err="1"/>
              <a:t>Krita</a:t>
            </a:r>
            <a:endParaRPr lang="pl-PL" sz="4000" dirty="0"/>
          </a:p>
          <a:p>
            <a:r>
              <a:rPr lang="pl-PL" sz="4000" dirty="0" err="1"/>
              <a:t>Inkscape</a:t>
            </a:r>
            <a:endParaRPr lang="pl-PL" sz="4000" dirty="0"/>
          </a:p>
          <a:p>
            <a:r>
              <a:rPr lang="pl-PL" sz="4000" dirty="0"/>
              <a:t>GIMP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3743D5AA-FCCE-946D-D350-60E7A41B6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BAC0-DDFC-49BC-A164-59258706C6D7}" type="slidenum">
              <a:rPr lang="pl-PL" smtClean="0"/>
              <a:t>32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336193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98E0B-6CD8-E5A6-EAEF-01330FC28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3A7F07C-C6E9-0EF2-35F7-295CA8DD5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b="1" dirty="0"/>
              <a:t>Wykorzystywane technologie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22EF6CC-FA7D-974D-4AC6-713479514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0904"/>
            <a:ext cx="10515600" cy="3536192"/>
          </a:xfrm>
        </p:spPr>
        <p:txBody>
          <a:bodyPr/>
          <a:lstStyle/>
          <a:p>
            <a:r>
              <a:rPr lang="pl-PL" sz="4000" dirty="0"/>
              <a:t>DirectX</a:t>
            </a:r>
          </a:p>
          <a:p>
            <a:r>
              <a:rPr lang="pl-PL" sz="4000" dirty="0" err="1"/>
              <a:t>Vulcan</a:t>
            </a:r>
            <a:endParaRPr lang="pl-PL" sz="4000" dirty="0"/>
          </a:p>
          <a:p>
            <a:r>
              <a:rPr lang="pl-PL" sz="4000" dirty="0" err="1"/>
              <a:t>OpenGl</a:t>
            </a:r>
            <a:endParaRPr lang="pl-PL" sz="4000" dirty="0"/>
          </a:p>
          <a:p>
            <a:r>
              <a:rPr lang="pl-PL" sz="4000" dirty="0" err="1"/>
              <a:t>WebGL</a:t>
            </a:r>
            <a:endParaRPr lang="pl-PL" sz="4000" dirty="0"/>
          </a:p>
          <a:p>
            <a:r>
              <a:rPr lang="pl-PL" sz="4000" dirty="0"/>
              <a:t>Różne silniki graficzne: Unity, </a:t>
            </a:r>
            <a:r>
              <a:rPr lang="pl-PL" sz="4000" dirty="0" err="1"/>
              <a:t>Unreal</a:t>
            </a:r>
            <a:r>
              <a:rPr lang="pl-PL" sz="4000" dirty="0"/>
              <a:t> Engine</a:t>
            </a:r>
          </a:p>
          <a:p>
            <a:endParaRPr lang="pl-PL" dirty="0"/>
          </a:p>
          <a:p>
            <a:endParaRPr lang="pl-PL" dirty="0"/>
          </a:p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196EDCBE-BB0C-7162-0DF8-346C225C2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BAC0-DDFC-49BC-A164-59258706C6D7}" type="slidenum">
              <a:rPr lang="pl-PL" smtClean="0"/>
              <a:t>33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088345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2F4B7-17DE-C144-13A0-8F572978B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9213848-9ADD-22F0-E6DA-89338F7E3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b="1" dirty="0"/>
              <a:t>Wykorzystywane biblioteki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96799A7-61F5-5B64-0849-C8B59DA313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pl-PL" sz="4000" dirty="0"/>
              <a:t>Three.js</a:t>
            </a:r>
          </a:p>
          <a:p>
            <a:r>
              <a:rPr lang="pl-PL" sz="4000" dirty="0"/>
              <a:t>GLUT/ </a:t>
            </a:r>
            <a:r>
              <a:rPr lang="pl-PL" sz="4000" dirty="0" err="1"/>
              <a:t>freeglut</a:t>
            </a:r>
            <a:endParaRPr lang="pl-PL" sz="4000" dirty="0"/>
          </a:p>
          <a:p>
            <a:r>
              <a:rPr lang="pl-PL" sz="4000" dirty="0"/>
              <a:t>GLFW</a:t>
            </a:r>
          </a:p>
          <a:p>
            <a:r>
              <a:rPr lang="pl-PL" sz="4000" dirty="0"/>
              <a:t>SDL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5283B9E2-8BB9-D578-259A-B28EE74DB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BAC0-DDFC-49BC-A164-59258706C6D7}" type="slidenum">
              <a:rPr lang="pl-PL" smtClean="0"/>
              <a:t>34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74873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1386913-41B4-7A70-E1CC-F51A1A3F8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b="1" dirty="0"/>
              <a:t>Shadery i ich dostępność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84D2F8C-9BFB-8FDC-4BD2-77CB1BE48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78152" cy="4351338"/>
          </a:xfrm>
        </p:spPr>
        <p:txBody>
          <a:bodyPr/>
          <a:lstStyle/>
          <a:p>
            <a:pPr marL="0" indent="0">
              <a:buNone/>
            </a:pPr>
            <a:r>
              <a:rPr lang="pl-PL" b="1" dirty="0" err="1">
                <a:solidFill>
                  <a:srgbClr val="00B050"/>
                </a:solidFill>
              </a:rPr>
              <a:t>Shader</a:t>
            </a:r>
            <a:r>
              <a:rPr lang="pl-PL" dirty="0"/>
              <a:t> – program manipulujący grafiką, która zostanie wyświetlona. </a:t>
            </a:r>
          </a:p>
          <a:p>
            <a:pPr marL="0" indent="0">
              <a:buNone/>
            </a:pPr>
            <a:r>
              <a:rPr lang="pl-PL" b="1" dirty="0" err="1">
                <a:solidFill>
                  <a:srgbClr val="00B050"/>
                </a:solidFill>
              </a:rPr>
              <a:t>Shader</a:t>
            </a:r>
            <a:r>
              <a:rPr lang="pl-PL" b="1" dirty="0">
                <a:solidFill>
                  <a:srgbClr val="00B050"/>
                </a:solidFill>
              </a:rPr>
              <a:t> wierzchołków </a:t>
            </a:r>
            <a:r>
              <a:rPr lang="pl-PL" dirty="0"/>
              <a:t>– program karty graficznej, który przetwarza każdy wierzchołek i jego atrybuty w kolejności ich występowania w wektorze wierzchołków.	</a:t>
            </a:r>
          </a:p>
          <a:p>
            <a:pPr marL="0" indent="0">
              <a:buNone/>
            </a:pPr>
            <a:r>
              <a:rPr lang="pl-PL" b="1" dirty="0" err="1">
                <a:solidFill>
                  <a:srgbClr val="00B050"/>
                </a:solidFill>
              </a:rPr>
              <a:t>Shader</a:t>
            </a:r>
            <a:r>
              <a:rPr lang="pl-PL" b="1" dirty="0">
                <a:solidFill>
                  <a:srgbClr val="00B050"/>
                </a:solidFill>
              </a:rPr>
              <a:t> fragmentów </a:t>
            </a:r>
            <a:r>
              <a:rPr lang="pl-PL" dirty="0"/>
              <a:t>– określa kolor docelowego </a:t>
            </a:r>
            <a:r>
              <a:rPr lang="pl-PL" dirty="0" err="1"/>
              <a:t>piksla</a:t>
            </a:r>
            <a:r>
              <a:rPr lang="pl-PL" dirty="0"/>
              <a:t> do </a:t>
            </a:r>
            <a:r>
              <a:rPr lang="pl-PL" dirty="0" err="1"/>
              <a:t>wyrenderowania</a:t>
            </a:r>
            <a:r>
              <a:rPr lang="pl-PL" dirty="0"/>
              <a:t>.</a:t>
            </a:r>
          </a:p>
          <a:p>
            <a:pPr marL="0" indent="0">
              <a:buNone/>
            </a:pPr>
            <a:endParaRPr lang="pl-PL" dirty="0"/>
          </a:p>
          <a:p>
            <a:pPr marL="0" indent="0">
              <a:buNone/>
            </a:pPr>
            <a:r>
              <a:rPr lang="pl-PL" dirty="0"/>
              <a:t>Shadery występują w różnych środowiskach i narzędziach.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4D9F7E64-F263-A699-F989-8E5479844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BAC0-DDFC-49BC-A164-59258706C6D7}" type="slidenum">
              <a:rPr lang="pl-PL" smtClean="0"/>
              <a:t>35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03792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2FD0E2A-C334-F2AF-599A-0D2634C56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b="1" dirty="0"/>
              <a:t>Potok graficzny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7336C76-6DCC-FC52-6C6D-3B41861F0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392" y="2559844"/>
            <a:ext cx="4443484" cy="1738312"/>
          </a:xfrm>
        </p:spPr>
        <p:txBody>
          <a:bodyPr/>
          <a:lstStyle/>
          <a:p>
            <a:pPr marL="0" indent="0">
              <a:buNone/>
            </a:pPr>
            <a:r>
              <a:rPr lang="pl-PL" dirty="0"/>
              <a:t>Sekwencja przetwarzania obrazu, że wyjście jednej operacji jest wejściem drugiej.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72CD4987-4158-EDDE-6629-A9F1E5F20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BAC0-DDFC-49BC-A164-59258706C6D7}" type="slidenum">
              <a:rPr lang="pl-PL" smtClean="0"/>
              <a:t>36</a:t>
            </a:fld>
            <a:endParaRPr lang="pl-PL"/>
          </a:p>
        </p:txBody>
      </p:sp>
      <p:pic>
        <p:nvPicPr>
          <p:cNvPr id="6" name="Obraz 5" descr="Obraz zawierający zrzut ekranu, diagram, design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79160FF6-2C46-2D2A-EE31-37B542468F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4876" y="2114539"/>
            <a:ext cx="6128924" cy="3503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7060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6D5CD5D-2372-DCE2-E2D3-D6BA7185E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0622"/>
            <a:ext cx="10515600" cy="1032601"/>
          </a:xfrm>
        </p:spPr>
        <p:txBody>
          <a:bodyPr/>
          <a:lstStyle/>
          <a:p>
            <a:pPr algn="ctr"/>
            <a:r>
              <a:rPr lang="pl-PL" b="1" dirty="0"/>
              <a:t>Bibliografia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8DBDDA8-606D-CF8D-6842-D8717647C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7726"/>
            <a:ext cx="10515600" cy="5105432"/>
          </a:xfrm>
        </p:spPr>
        <p:txBody>
          <a:bodyPr>
            <a:normAutofit fontScale="92500" lnSpcReduction="10000"/>
          </a:bodyPr>
          <a:lstStyle/>
          <a:p>
            <a:r>
              <a:rPr lang="pl-PL" sz="2000" dirty="0">
                <a:solidFill>
                  <a:schemeClr val="accent2">
                    <a:lumMod val="5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pl:dydaktyka:logic:logika-boole-synthesis-9.pdf</a:t>
            </a:r>
            <a:endParaRPr lang="pl-PL" sz="2000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pl-PL" sz="2000" dirty="0">
                <a:solidFill>
                  <a:schemeClr val="accent2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https://www.math.uchicago.edu/~kach/mathematics/slides28apr2007.pdf</a:t>
            </a:r>
            <a:endParaRPr lang="pl-PL" sz="2000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pl-PL" sz="2000" dirty="0">
                <a:solidFill>
                  <a:schemeClr val="accent2">
                    <a:lumMod val="5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https://pl.wikipedia.org/wiki/Algebra_Boole%E2%80%99a</a:t>
            </a:r>
            <a:endParaRPr lang="pl-PL" sz="2000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pl-PL" sz="2000" dirty="0">
                <a:solidFill>
                  <a:schemeClr val="accent2">
                    <a:lumMod val="50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https://esezam.okno.pw.edu.pl/mod/book/view.php?id=38&amp;chapterid=770</a:t>
            </a:r>
            <a:endParaRPr lang="pl-PL" sz="2000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pl-PL" sz="2000" dirty="0">
                <a:solidFill>
                  <a:schemeClr val="accent2">
                    <a:lumMod val="50000"/>
                  </a:schemeClr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https://cs.pwr.edu.pl/kobylanski/dydaktyka/resources/ti_wyk2.pdf</a:t>
            </a:r>
            <a:endParaRPr lang="pl-PL" sz="2000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pl-PL" sz="2000" dirty="0">
                <a:solidFill>
                  <a:schemeClr val="accent2">
                    <a:lumMod val="50000"/>
                  </a:schemeClr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https://www.math.us.edu.pl/pgladki/teaching/2010-2011/log_w02.pdf</a:t>
            </a:r>
            <a:endParaRPr lang="pl-PL" sz="2000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pl-PL" sz="2000" dirty="0">
                <a:solidFill>
                  <a:schemeClr val="accent2">
                    <a:lumMod val="50000"/>
                  </a:schemeClr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https://link.springer.com/content/pdf/10.1007/978-0-387-68436-9_15</a:t>
            </a:r>
            <a:endParaRPr lang="pl-PL" sz="2000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pl-PL" sz="2000" dirty="0">
                <a:solidFill>
                  <a:schemeClr val="accent2">
                    <a:lumMod val="50000"/>
                  </a:schemeClr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https://math.libretexts.org/Courses/SUNY_Schenectady_County_Community_College/Discrete_Structures/12%3A_Boolean_Algebra/12.04%3A_Atoms_of_a_Boolean_Algebra</a:t>
            </a:r>
            <a:endParaRPr lang="pl-PL" sz="2000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pl-PL" sz="2000" dirty="0">
                <a:solidFill>
                  <a:schemeClr val="accent2">
                    <a:lumMod val="50000"/>
                  </a:schemeClr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https://botland.com.pl/blog/bramki-logiczne-jak-to-dziala/</a:t>
            </a:r>
            <a:r>
              <a:rPr lang="pl-PL" sz="20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pl-PL" sz="2000" dirty="0"/>
              <a:t>(obrazki bramek)</a:t>
            </a:r>
          </a:p>
          <a:p>
            <a:r>
              <a:rPr lang="pl-PL" sz="2000" dirty="0">
                <a:solidFill>
                  <a:schemeClr val="accent2">
                    <a:lumMod val="50000"/>
                  </a:schemeClr>
                </a:solidFill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https://el.us.edu.pl/ekonofizyka/index.php/Ca%C5%82ka_oznaczona_i_nieoznaczona</a:t>
            </a:r>
            <a:r>
              <a:rPr lang="pl-PL" sz="20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pl-PL" sz="2000" dirty="0"/>
              <a:t>(+obrazek całki oznaczonej)</a:t>
            </a:r>
          </a:p>
          <a:p>
            <a:r>
              <a:rPr lang="pl-PL" sz="2000" dirty="0">
                <a:solidFill>
                  <a:schemeClr val="accent2">
                    <a:lumMod val="50000"/>
                  </a:schemeClr>
                </a:solidFill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http://katmat.wilsig.tu.koszalin.pl/attachments/article/268/Ca%C5%82ka%20oznaczona%202%20-%20interpretacja%20geometryczna.pdf</a:t>
            </a:r>
            <a:endParaRPr lang="pl-PL" sz="2000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pl-PL" sz="2000" dirty="0">
                <a:solidFill>
                  <a:schemeClr val="accent2">
                    <a:lumMod val="50000"/>
                  </a:schemeClr>
                </a:solidFill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https://mat.ug.edu.pl/~matpz/powtorka12.pdf</a:t>
            </a:r>
            <a:r>
              <a:rPr lang="pl-PL" sz="20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pl-PL" sz="2000" dirty="0"/>
              <a:t>(+ obrazki wykresów)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E835277F-30B9-3567-FDC8-A4FED6C37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BAC0-DDFC-49BC-A164-59258706C6D7}" type="slidenum">
              <a:rPr lang="pl-PL" smtClean="0"/>
              <a:t>37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53892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01747-CFD5-47CD-6AFF-0D0763F71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07E807D-3CC4-FE60-D1B3-2BF665C8A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0622"/>
            <a:ext cx="10515600" cy="1032601"/>
          </a:xfrm>
        </p:spPr>
        <p:txBody>
          <a:bodyPr/>
          <a:lstStyle/>
          <a:p>
            <a:pPr algn="ctr"/>
            <a:r>
              <a:rPr lang="pl-PL" b="1" dirty="0"/>
              <a:t>Bibliografia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800417E-63A1-B470-BD7B-2E3134CEB9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7726"/>
            <a:ext cx="10515600" cy="4779237"/>
          </a:xfrm>
        </p:spPr>
        <p:txBody>
          <a:bodyPr>
            <a:normAutofit lnSpcReduction="10000"/>
          </a:bodyPr>
          <a:lstStyle/>
          <a:p>
            <a:r>
              <a:rPr lang="pl-PL" sz="2000" dirty="0">
                <a:solidFill>
                  <a:schemeClr val="accent2">
                    <a:lumMod val="5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https://robert-jakubowski.v.prz.edu.pl/download/M9cTFhUWQSCXcSG3BAQyZ0SCNna1dXbnh4dFRKK2dua0tuIHRRdRJMOkooYUgyZyFx,MsO2AoECkoAXsEZC8FIi4gbz5_YgYefDU1Ox5wPmlmfVxsJg/calkowanie_numeryczne_wyklad.pdf</a:t>
            </a:r>
            <a:r>
              <a:rPr lang="pl-PL" sz="20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pl-PL" sz="2000" dirty="0"/>
              <a:t>(+ obrazki metoda prostokątów, trapezów)</a:t>
            </a:r>
          </a:p>
          <a:p>
            <a:r>
              <a:rPr lang="pl-PL" sz="2000" dirty="0">
                <a:solidFill>
                  <a:schemeClr val="accent2">
                    <a:lumMod val="50000"/>
                  </a:schemeClr>
                </a:solidFill>
              </a:rPr>
              <a:t>https://slideplayer.pl/slide/3731886/</a:t>
            </a:r>
          </a:p>
          <a:p>
            <a:r>
              <a:rPr lang="pl-PL" sz="2000" dirty="0">
                <a:solidFill>
                  <a:schemeClr val="accent2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https://commons.wikimedia.org/wiki/File:Simpsons_method_illustration.svg#/media/Plik:Simpsons_method_illustration.svg</a:t>
            </a:r>
            <a:r>
              <a:rPr lang="pl-PL" sz="20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pl-PL" sz="2000" dirty="0"/>
              <a:t>(obrazek metody Simpsona)</a:t>
            </a:r>
          </a:p>
          <a:p>
            <a:r>
              <a:rPr lang="pl-PL" sz="2000" dirty="0">
                <a:solidFill>
                  <a:schemeClr val="accent2">
                    <a:lumMod val="5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https://www.algorytm.org/procedury-numeryczne/calkowanie-numeryczne-metoda-monte-carlo-i.html</a:t>
            </a:r>
            <a:r>
              <a:rPr lang="pl-PL" sz="20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pl-PL" sz="2000" dirty="0"/>
              <a:t>(obrazek metody MC)</a:t>
            </a:r>
          </a:p>
          <a:p>
            <a:r>
              <a:rPr lang="pl-PL" sz="2000" dirty="0">
                <a:solidFill>
                  <a:schemeClr val="accent2">
                    <a:lumMod val="50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https://polytechnic.purdue.edu/departments/computer-graphics-technology/about/what-computer-graphics-technology</a:t>
            </a:r>
            <a:endParaRPr lang="pl-PL" sz="2000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pl-PL" sz="2000" dirty="0">
                <a:solidFill>
                  <a:schemeClr val="accent2">
                    <a:lumMod val="50000"/>
                  </a:schemeClr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https://manual.gamemaker.io/monthly/pl/The_Asset_Editors/Shaders.htm</a:t>
            </a:r>
            <a:endParaRPr lang="pl-PL" sz="2000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pl-PL" sz="2000" dirty="0">
                <a:solidFill>
                  <a:schemeClr val="accent2">
                    <a:lumMod val="50000"/>
                  </a:schemeClr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https://home.agh.edu.pl/~glowacki/docs/matwykl/GrafKomp/OpenGL-SFML-Wielokaty.pdf</a:t>
            </a:r>
            <a:endParaRPr lang="pl-PL" sz="2000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pl-PL" sz="2000" dirty="0">
                <a:solidFill>
                  <a:schemeClr val="accent2">
                    <a:lumMod val="50000"/>
                  </a:schemeClr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https://daru-daru.tistory.com/82</a:t>
            </a:r>
            <a:r>
              <a:rPr lang="pl-PL" sz="20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pl-PL" sz="2000" dirty="0"/>
              <a:t>(obrazek potoku)</a:t>
            </a:r>
          </a:p>
          <a:p>
            <a:r>
              <a:rPr lang="pl-PL" sz="2000" dirty="0">
                <a:solidFill>
                  <a:schemeClr val="accent2">
                    <a:lumMod val="50000"/>
                  </a:schemeClr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https://www.ire.pw.edu.pl/~trubel/grk/files/GRK_06.pdf</a:t>
            </a:r>
            <a:endParaRPr lang="pl-PL" sz="2000" dirty="0">
              <a:solidFill>
                <a:schemeClr val="accent2">
                  <a:lumMod val="50000"/>
                </a:schemeClr>
              </a:solidFill>
            </a:endParaRPr>
          </a:p>
          <a:p>
            <a:endParaRPr lang="pl-PL" sz="20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4F3582C6-DAF9-C55D-BBD4-6ECEFCC9C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BAC0-DDFC-49BC-A164-59258706C6D7}" type="slidenum">
              <a:rPr lang="pl-PL" smtClean="0"/>
              <a:t>38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158259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6A73AEF-2F2A-C684-DDB5-5706221B7F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16507"/>
            <a:ext cx="10515600" cy="546045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pl-PL" sz="4400" b="1" dirty="0"/>
          </a:p>
          <a:p>
            <a:pPr marL="0" indent="0" algn="ctr">
              <a:buNone/>
            </a:pPr>
            <a:endParaRPr lang="pl-PL" sz="4400" b="1" dirty="0"/>
          </a:p>
          <a:p>
            <a:pPr marL="0" indent="0" algn="ctr">
              <a:buNone/>
            </a:pPr>
            <a:endParaRPr lang="pl-PL" sz="4400" b="1" dirty="0"/>
          </a:p>
          <a:p>
            <a:pPr marL="0" indent="0" algn="ctr">
              <a:buNone/>
            </a:pPr>
            <a:r>
              <a:rPr lang="pl-PL" sz="4400" b="1" dirty="0"/>
              <a:t>Dziękuję za uwagę!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F80F03EF-3DBF-81B6-437A-DC95B6519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BAC0-DDFC-49BC-A164-59258706C6D7}" type="slidenum">
              <a:rPr lang="pl-PL" smtClean="0"/>
              <a:t>39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95852953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36BD6BD5557EF4CA6526425B8C6A1DB" ma:contentTypeVersion="0" ma:contentTypeDescription="Utwórz nowy dokument." ma:contentTypeScope="" ma:versionID="ac058522be3059da0962d7d3c815b71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bfd4dfa73aff86833de96de8900c00d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EE969ED-ED00-4F9A-8838-BCF795E22F2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63C85C6-F4FA-4844-A264-AF2BF84B519E}">
  <ds:schemaRefs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terms/"/>
    <ds:schemaRef ds:uri="http://schemas.microsoft.com/office/infopath/2007/PartnerControls"/>
    <ds:schemaRef ds:uri="97689d16-2b7d-469e-9ffe-4deea7e2f738"/>
    <ds:schemaRef ds:uri="eb4fa5d5-4883-4a9c-bf7f-dcc1f2af8195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C55DA91-A7AD-4914-BF92-9B980A7C907A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11305</TotalTime>
  <Words>2116</Words>
  <Application>Microsoft Office PowerPoint</Application>
  <PresentationFormat>Panoramiczny</PresentationFormat>
  <Paragraphs>427</Paragraphs>
  <Slides>39</Slides>
  <Notes>25</Notes>
  <HiddenSlides>0</HiddenSlides>
  <MMClips>0</MMClips>
  <ScaleCrop>false</ScaleCrop>
  <HeadingPairs>
    <vt:vector size="6" baseType="variant">
      <vt:variant>
        <vt:lpstr>Używane czcionki</vt:lpstr>
      </vt:variant>
      <vt:variant>
        <vt:i4>6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39</vt:i4>
      </vt:variant>
    </vt:vector>
  </HeadingPairs>
  <TitlesOfParts>
    <vt:vector size="46" baseType="lpstr">
      <vt:lpstr>Malgun Gothic</vt:lpstr>
      <vt:lpstr>Aptos</vt:lpstr>
      <vt:lpstr>Aptos Display</vt:lpstr>
      <vt:lpstr>Arial</vt:lpstr>
      <vt:lpstr>Cambria Math</vt:lpstr>
      <vt:lpstr>Wingdings</vt:lpstr>
      <vt:lpstr>Motyw pakietu Office</vt:lpstr>
      <vt:lpstr>Opracowanie pytań do egzaminu inżynierskiego  –  temat 1, 13, 25</vt:lpstr>
      <vt:lpstr>Spis treści</vt:lpstr>
      <vt:lpstr>Pytanie 1  - Algebra Boole’a, ich własności i zastosowania </vt:lpstr>
      <vt:lpstr>Definicja</vt:lpstr>
      <vt:lpstr>Definicja</vt:lpstr>
      <vt:lpstr>Aksjomaty i własności</vt:lpstr>
      <vt:lpstr>Aksjomaty i własności</vt:lpstr>
      <vt:lpstr>Aksjomaty i własności</vt:lpstr>
      <vt:lpstr>Przykłady</vt:lpstr>
      <vt:lpstr>Przykłady</vt:lpstr>
      <vt:lpstr>Przykłady</vt:lpstr>
      <vt:lpstr>Relacja mniejszości</vt:lpstr>
      <vt:lpstr>Atom</vt:lpstr>
      <vt:lpstr>Twierdzenie o izomorfizmie skończonych algebr Boole’a</vt:lpstr>
      <vt:lpstr>Opis układów bramek logicznych w języku algebr Boole’a</vt:lpstr>
      <vt:lpstr>Opis układów bramek logicznych w języku algebr Boole’a</vt:lpstr>
      <vt:lpstr>Opis układów bramek logicznych w języku algebr Boole’a</vt:lpstr>
      <vt:lpstr>Opis układów bramek logicznych w języku algebr Boole’a</vt:lpstr>
      <vt:lpstr>Pytanie 13  – Podstawowe metody całkowania numerycznego</vt:lpstr>
      <vt:lpstr>Geometryczna interpretacja całki oznaczonej</vt:lpstr>
      <vt:lpstr>definicja całki Riemanna</vt:lpstr>
      <vt:lpstr>definicja całki Riemanna</vt:lpstr>
      <vt:lpstr>Metody całkowania</vt:lpstr>
      <vt:lpstr>Metody całkowania – Metoda prostokątów</vt:lpstr>
      <vt:lpstr>Metody całkowania – Metoda trapezów</vt:lpstr>
      <vt:lpstr>Metody całkowania – Metoda Simpsona</vt:lpstr>
      <vt:lpstr>Metody całkowania – Metoda Monte Carlo</vt:lpstr>
      <vt:lpstr>Dokładność obliczeń</vt:lpstr>
      <vt:lpstr>Dokładność obliczeń</vt:lpstr>
      <vt:lpstr>Pytanie 25  - Technologie w programowaniu grafiki komputerowej </vt:lpstr>
      <vt:lpstr>Języki programowania grafiki</vt:lpstr>
      <vt:lpstr>Wykorzystywane platformy</vt:lpstr>
      <vt:lpstr>Wykorzystywane technologie</vt:lpstr>
      <vt:lpstr>Wykorzystywane biblioteki</vt:lpstr>
      <vt:lpstr>Shadery i ich dostępność</vt:lpstr>
      <vt:lpstr>Potok graficzny</vt:lpstr>
      <vt:lpstr>Bibliografia</vt:lpstr>
      <vt:lpstr>Bibliografia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Opracowanie pytań do egzaminu inżynierskiego  –  temat 1, 13, 25</dc:title>
  <dc:creator>Patrycja Bąk2</dc:creator>
  <cp:lastModifiedBy>Patrycja Bąk2</cp:lastModifiedBy>
  <cp:revision>2</cp:revision>
  <dcterms:created xsi:type="dcterms:W3CDTF">2025-03-08T22:14:39Z</dcterms:created>
  <dcterms:modified xsi:type="dcterms:W3CDTF">2025-05-13T14:43:36Z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0x010100536BD6BD5557EF4CA6526425B8C6A1DB</vt:lpwstr>
  </property>
</Properties>
</file>